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2522014b9c4716" /><Relationship Type="http://schemas.openxmlformats.org/officeDocument/2006/relationships/extended-properties" Target="/docProps/app.xml" Id="R745b2efb7d924614" /><Relationship Type="http://schemas.openxmlformats.org/officeDocument/2006/relationships/officeDocument" Target="/ppt/presentation.xml" Id="R370881b324484c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1cd60a563f4587"/>
  </p:sldMasterIdLst>
  <p:notesMasterIdLst>
    <p:notesMasterId xmlns:r="http://schemas.openxmlformats.org/officeDocument/2006/relationships" r:id="R32821c874e254204"/>
  </p:notesMasterIdLst>
  <p:sldIdLst>
    <p:sldId xmlns:r="http://schemas.openxmlformats.org/officeDocument/2006/relationships" id="256" r:id="Rbc43fbae831f41bb"/>
    <p:sldId xmlns:r="http://schemas.openxmlformats.org/officeDocument/2006/relationships" id="257" r:id="Rdd97094dc69f4550"/>
    <p:sldId xmlns:r="http://schemas.openxmlformats.org/officeDocument/2006/relationships" id="258" r:id="R740707836dfe4fe4"/>
    <p:sldId xmlns:r="http://schemas.openxmlformats.org/officeDocument/2006/relationships" id="259" r:id="Rd01ec595f73b41cb"/>
    <p:sldId xmlns:r="http://schemas.openxmlformats.org/officeDocument/2006/relationships" id="260" r:id="R07005e49ad0a40d9"/>
    <p:sldId xmlns:r="http://schemas.openxmlformats.org/officeDocument/2006/relationships" id="261" r:id="Raea6280fd9e847b3"/>
    <p:sldId xmlns:r="http://schemas.openxmlformats.org/officeDocument/2006/relationships" id="262" r:id="R9eb0f39e0c884a33"/>
    <p:sldId xmlns:r="http://schemas.openxmlformats.org/officeDocument/2006/relationships" id="263" r:id="Rd96ac2c02ff94454"/>
    <p:sldId xmlns:r="http://schemas.openxmlformats.org/officeDocument/2006/relationships" id="264" r:id="R5d4480fd8c654d84"/>
    <p:sldId xmlns:r="http://schemas.openxmlformats.org/officeDocument/2006/relationships" id="265" r:id="Rc6f0aace6cc843b3"/>
    <p:sldId xmlns:r="http://schemas.openxmlformats.org/officeDocument/2006/relationships" id="266" r:id="R220abe4555ef4ec7"/>
    <p:sldId xmlns:r="http://schemas.openxmlformats.org/officeDocument/2006/relationships" id="267" r:id="R84ca579a1d8b4070"/>
    <p:sldId xmlns:r="http://schemas.openxmlformats.org/officeDocument/2006/relationships" id="268" r:id="Raa95ae6d103f4111"/>
    <p:sldId xmlns:r="http://schemas.openxmlformats.org/officeDocument/2006/relationships" id="269" r:id="R15a99b24151b42cf"/>
    <p:sldId xmlns:r="http://schemas.openxmlformats.org/officeDocument/2006/relationships" id="270" r:id="R4aac1a0654ef4c02"/>
    <p:sldId xmlns:r="http://schemas.openxmlformats.org/officeDocument/2006/relationships" id="271" r:id="R993242bc4dd94e9e"/>
    <p:sldId xmlns:r="http://schemas.openxmlformats.org/officeDocument/2006/relationships" id="272" r:id="R286155484a6248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ade1b7bb52479f" /><Relationship Type="http://schemas.openxmlformats.org/officeDocument/2006/relationships/slideMaster" Target="/ppt/slideMasters/slideMaster1.xml" Id="R801cd60a563f4587" /><Relationship Type="http://schemas.openxmlformats.org/officeDocument/2006/relationships/notesMaster" Target="/ppt/notesMasters/notesMaster1.xml" Id="R32821c874e254204" /><Relationship Type="http://schemas.openxmlformats.org/officeDocument/2006/relationships/presProps" Target="/ppt/presProps.xml" Id="Rd677a462be604de7" /><Relationship Type="http://schemas.openxmlformats.org/officeDocument/2006/relationships/tableStyles" Target="/ppt/tableStyles.xml" Id="R8da0fb3848c648c5" /><Relationship Type="http://schemas.openxmlformats.org/officeDocument/2006/relationships/slide" Target="/ppt/slides/slide1.xml" Id="Rbc43fbae831f41bb" /><Relationship Type="http://schemas.openxmlformats.org/officeDocument/2006/relationships/slide" Target="/ppt/slides/slide2.xml" Id="Rdd97094dc69f4550" /><Relationship Type="http://schemas.openxmlformats.org/officeDocument/2006/relationships/slide" Target="/ppt/slides/slide3.xml" Id="R740707836dfe4fe4" /><Relationship Type="http://schemas.openxmlformats.org/officeDocument/2006/relationships/slide" Target="/ppt/slides/slide4.xml" Id="Rd01ec595f73b41cb" /><Relationship Type="http://schemas.openxmlformats.org/officeDocument/2006/relationships/slide" Target="/ppt/slides/slide5.xml" Id="R07005e49ad0a40d9" /><Relationship Type="http://schemas.openxmlformats.org/officeDocument/2006/relationships/slide" Target="/ppt/slides/slide6.xml" Id="Raea6280fd9e847b3" /><Relationship Type="http://schemas.openxmlformats.org/officeDocument/2006/relationships/slide" Target="/ppt/slides/slide7.xml" Id="R9eb0f39e0c884a33" /><Relationship Type="http://schemas.openxmlformats.org/officeDocument/2006/relationships/slide" Target="/ppt/slides/slide8.xml" Id="Rd96ac2c02ff94454" /><Relationship Type="http://schemas.openxmlformats.org/officeDocument/2006/relationships/slide" Target="/ppt/slides/slide9.xml" Id="R5d4480fd8c654d84" /><Relationship Type="http://schemas.openxmlformats.org/officeDocument/2006/relationships/slide" Target="/ppt/slides/slide10.xml" Id="Rc6f0aace6cc843b3" /><Relationship Type="http://schemas.openxmlformats.org/officeDocument/2006/relationships/slide" Target="/ppt/slides/slide11.xml" Id="R220abe4555ef4ec7" /><Relationship Type="http://schemas.openxmlformats.org/officeDocument/2006/relationships/slide" Target="/ppt/slides/slide12.xml" Id="R84ca579a1d8b4070" /><Relationship Type="http://schemas.openxmlformats.org/officeDocument/2006/relationships/slide" Target="/ppt/slides/slide13.xml" Id="Raa95ae6d103f4111" /><Relationship Type="http://schemas.openxmlformats.org/officeDocument/2006/relationships/slide" Target="/ppt/slides/slide14.xml" Id="R15a99b24151b42cf" /><Relationship Type="http://schemas.openxmlformats.org/officeDocument/2006/relationships/slide" Target="/ppt/slides/slide15.xml" Id="R4aac1a0654ef4c02" /><Relationship Type="http://schemas.openxmlformats.org/officeDocument/2006/relationships/slide" Target="/ppt/slides/slide16.xml" Id="R993242bc4dd94e9e" /><Relationship Type="http://schemas.openxmlformats.org/officeDocument/2006/relationships/slide" Target="/ppt/slides/slide17.xml" Id="R286155484a6248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a5b27313f545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bf016658a84cf3" /><Relationship Type="http://schemas.openxmlformats.org/officeDocument/2006/relationships/notesMaster" Target="/ppt/notesMasters/notesMaster1.xml" Id="R14d4df1ed5174e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871e0c67854f7c" /><Relationship Type="http://schemas.openxmlformats.org/officeDocument/2006/relationships/notesMaster" Target="/ppt/notesMasters/notesMaster1.xml" Id="R0838c6194ba449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9ed1b7d7a24c27" /><Relationship Type="http://schemas.openxmlformats.org/officeDocument/2006/relationships/notesMaster" Target="/ppt/notesMasters/notesMaster1.xml" Id="Rabb59e76a78a4d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d97a7af2d34889" /><Relationship Type="http://schemas.openxmlformats.org/officeDocument/2006/relationships/notesMaster" Target="/ppt/notesMasters/notesMaster1.xml" Id="R790fac5b89cd4c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eca161be974ccc" /><Relationship Type="http://schemas.openxmlformats.org/officeDocument/2006/relationships/notesMaster" Target="/ppt/notesMasters/notesMaster1.xml" Id="R34ced14ef7b440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3078048833464b" /><Relationship Type="http://schemas.openxmlformats.org/officeDocument/2006/relationships/notesMaster" Target="/ppt/notesMasters/notesMaster1.xml" Id="R73032a6531d040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1726c0eee64b09" /><Relationship Type="http://schemas.openxmlformats.org/officeDocument/2006/relationships/notesMaster" Target="/ppt/notesMasters/notesMaster1.xml" Id="Rafc26bf3df534e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73202c44dc42f4" /><Relationship Type="http://schemas.openxmlformats.org/officeDocument/2006/relationships/notesMaster" Target="/ppt/notesMasters/notesMaster1.xml" Id="R7d2bc22328174e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f7a20ec7cc4381" /><Relationship Type="http://schemas.openxmlformats.org/officeDocument/2006/relationships/notesMaster" Target="/ppt/notesMasters/notesMaster1.xml" Id="Rbcc2daab4f194e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962a7654944fa0" /><Relationship Type="http://schemas.openxmlformats.org/officeDocument/2006/relationships/notesMaster" Target="/ppt/notesMasters/notesMaster1.xml" Id="R549830f90cc74b7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6e7638b7074737" /><Relationship Type="http://schemas.openxmlformats.org/officeDocument/2006/relationships/notesMaster" Target="/ppt/notesMasters/notesMaster1.xml" Id="Rdbe868e49c2240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1de72388ba4cb1" /><Relationship Type="http://schemas.openxmlformats.org/officeDocument/2006/relationships/notesMaster" Target="/ppt/notesMasters/notesMaster1.xml" Id="R625b81730b054fd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94ba8c2355640db" /><Relationship Type="http://schemas.openxmlformats.org/officeDocument/2006/relationships/notesMaster" Target="/ppt/notesMasters/notesMaster1.xml" Id="R4b2fad654e794ff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9d2c21d327d4d57" /><Relationship Type="http://schemas.openxmlformats.org/officeDocument/2006/relationships/notesMaster" Target="/ppt/notesMasters/notesMaster1.xml" Id="R7ec9cd4d8ebf4e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a325bb8ea2944f6" /><Relationship Type="http://schemas.openxmlformats.org/officeDocument/2006/relationships/notesMaster" Target="/ppt/notesMasters/notesMaster1.xml" Id="Re728a5eb92314ee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cdfb3275105417e" /><Relationship Type="http://schemas.openxmlformats.org/officeDocument/2006/relationships/notesMaster" Target="/ppt/notesMasters/notesMaster1.xml" Id="R7c1dfc052501414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4e7f0f02d034079" /><Relationship Type="http://schemas.openxmlformats.org/officeDocument/2006/relationships/notesMaster" Target="/ppt/notesMasters/notesMaster1.xml" Id="R8de5be4e63614c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 src/api</a:t>
            </a:r>
          </a:p>
          <a:p xmlns:a="http://schemas.openxmlformats.org/drawingml/2006/main">
            <a:r>
              <a:t>来源 src/services</a:t>
            </a:r>
          </a:p>
          <a:p xmlns:a="http://schemas.openxmlformats.org/drawingml/2006/main">
            <a:r>
              <a:t>来源 src/agent</a:t>
            </a:r>
          </a:p>
          <a:p xmlns:a="http://schemas.openxmlformats.org/drawingml/2006/main">
            <a:r>
              <a:t>来源 src/retrieval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 D:\codex workshop\personal page\RAG Agent ass\-RAG-Agent-\reports\requirements\delivery-implementation-manifest.json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 D:\codex workshop\personal page\RAG Agent ass\-RAG-Agent-\reports\experiments\retrieval\m3\test\vector\results.json</a:t>
            </a:r>
          </a:p>
          <a:p xmlns:a="http://schemas.openxmlformats.org/drawingml/2006/main">
            <a:r>
              <a:t>来源 D:\codex workshop\personal page\RAG Agent ass\-RAG-Agent-\reports\experiments\retrieval\m3\test\hybrid\results.json</a:t>
            </a:r>
          </a:p>
          <a:p xmlns:a="http://schemas.openxmlformats.org/drawingml/2006/main">
            <a:r>
              <a:t>来源 D:\codex workshop\personal page\RAG Agent ass\-RAG-Agent-\reports\experiments\retrieval\m3\test\hybrid_rerank\results.json</a:t>
            </a:r>
          </a:p>
          <a:p xmlns:a="http://schemas.openxmlformats.org/drawingml/2006/main">
            <a:r>
              <a:t>图表数据保留四位小数，来源JSON保留未舍入指标。人工题集共识与答案质量评分未完成。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 D:\codex workshop\personal page\RAG Agent ass\-RAG-Agent-\reports\experiments\generation\parameters\results.json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 D:\codex workshop\personal page\RAG Agent ass\-RAG-Agent-\reports\experiments\generation\baseline\results.json</a:t>
            </a:r>
          </a:p>
          <a:p xmlns:a="http://schemas.openxmlformats.org/drawingml/2006/main">
            <a:r>
              <a:t>来源 D:\codex workshop\personal page\RAG Agent ass\-RAG-Agent-\reports\experiments\generation\parameters\results.json</a:t>
            </a:r>
          </a:p>
          <a:p xmlns:a="http://schemas.openxmlformats.org/drawingml/2006/main">
            <a:r>
              <a:t>来源 D:\codex workshop\personal page\RAG Agent ass\-RAG-Agent-\reports\experiments\generation\prompt\results.json</a:t>
            </a:r>
          </a:p>
          <a:p xmlns:a="http://schemas.openxmlformats.org/drawingml/2006/main">
            <a:r>
              <a:t>来源 D:\codex workshop\personal page\RAG Agent ass\-RAG-Agent-\reports\experiments\generation\agent\results.json</a:t>
            </a:r>
          </a:p>
          <a:p xmlns:a="http://schemas.openxmlformats.org/drawingml/2006/main">
            <a:r>
              <a:t>来源 D:\codex workshop\personal page\RAG Agent ass\-RAG-Agent-\reports\experiments\generation\cache\results.json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 D:\codex workshop\personal page\RAG Agent ass\-RAG-Agent-\reports\experiments\online-functionality\results.json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 reports/testing/full-suite-20261010.xml</a:t>
            </a:r>
          </a:p>
          <a:p xmlns:a="http://schemas.openxmlformats.org/drawingml/2006/main">
            <a:r>
              <a:t>来源 reports/testing/ui-final-critical-20261010.json</a:t>
            </a:r>
          </a:p>
          <a:p xmlns:a="http://schemas.openxmlformats.org/drawingml/2006/main">
            <a:r>
              <a:t>来源 reports/testing/agent-generation-final-20261010.json</a:t>
            </a:r>
          </a:p>
          <a:p xmlns:a="http://schemas.openxmlformats.org/drawingml/2006/main">
            <a:r>
              <a:t>来源 reports/ui/workflow-tests-20261010.json</a:t>
            </a:r>
          </a:p>
          <a:p xmlns:a="http://schemas.openxmlformats.org/drawingml/2006/main">
            <a:r>
              <a:t>来源 reports/ui/browser-standard-20261010.json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 D:\codex workshop\personal page\RAG Agent ass\-RAG-Agent-\docs\screenshots\新版论文库.jpg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 D:\codex workshop\personal page\RAG Agent ass\-RAG-Agent-\docs\screenshots\新版科研问答.jpg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 D:\codex workshop\personal page\RAG Agent ass\-RAG-Agent-\docs\screenshots\真实论文原页.jpg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 D:\codex workshop\personal page\RAG Agent ass\-RAG-Agent-\docs\screenshots\新版论文对比.jpg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 D:\codex workshop\personal page\RAG Agent ass\-RAG-Agent-\docs\screenshots\真实检索实验.jpg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完整状态、前后请求和限制见独立Bad Case报告。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4af9feb373422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6970a6a6e04a3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4bd4456678492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9bce1541ed4c6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0ba8e1d1c04bf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bda10cbdf848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747AAE-5092-424E-B7FA-3892745F30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5DADE5C-D5A7-4B69-AA9B-4B25C9515A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2FFBB18-A870-4DB3-B923-10EEC35C2F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B5B6C3-F625-4340-A3B0-C987236E30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3E50601-028F-4F2D-9C0C-D5A327C39A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AC7387B-6720-4590-8784-752DEDD729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EDF0A1D-3F2A-4523-B8DB-D1A4316C83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39643F3-E576-4931-B63E-F33E3C70E58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9C1982-C9AA-4DFB-9C6C-50EFCA8B96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780015-DBA8-452C-AF9E-0BF1C38D85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b3d32eded54734" /><Relationship Type="http://schemas.openxmlformats.org/officeDocument/2006/relationships/slideLayout" Target="/ppt/slideLayouts/slideLayout1.xml" Id="R5967368897bc4274" /><Relationship Type="http://schemas.openxmlformats.org/officeDocument/2006/relationships/slideLayout" Target="/ppt/slideLayouts/slideLayout2.xml" Id="R8f91d006454a486d" /><Relationship Type="http://schemas.openxmlformats.org/officeDocument/2006/relationships/slideLayout" Target="/ppt/slideLayouts/slideLayout3.xml" Id="R4aa98e2422a74cf1" /><Relationship Type="http://schemas.openxmlformats.org/officeDocument/2006/relationships/slideLayout" Target="/ppt/slideLayouts/slideLayout4.xml" Id="R8ae2dd9d23db459f" /><Relationship Type="http://schemas.openxmlformats.org/officeDocument/2006/relationships/slideLayout" Target="/ppt/slideLayouts/slideLayout5.xml" Id="R83a48b0450564661" /><Relationship Type="http://schemas.openxmlformats.org/officeDocument/2006/relationships/slideLayout" Target="/ppt/slideLayouts/slideLayout6.xml" Id="Rd2da3fc9af4f41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67368897bc4274"/>
    <p:sldLayoutId xmlns:r="http://schemas.openxmlformats.org/officeDocument/2006/relationships" id="2147483650" r:id="R8f91d006454a486d"/>
    <p:sldLayoutId xmlns:r="http://schemas.openxmlformats.org/officeDocument/2006/relationships" id="2147483651" r:id="R4aa98e2422a74cf1"/>
    <p:sldLayoutId xmlns:r="http://schemas.openxmlformats.org/officeDocument/2006/relationships" id="2147483652" r:id="R8ae2dd9d23db459f"/>
    <p:sldLayoutId xmlns:r="http://schemas.openxmlformats.org/officeDocument/2006/relationships" id="2147483653" r:id="R83a48b0450564661"/>
    <p:sldLayoutId xmlns:r="http://schemas.openxmlformats.org/officeDocument/2006/relationships" id="2147483654" r:id="Rd2da3fc9af4f41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3e658e27534107" /><Relationship Type="http://schemas.openxmlformats.org/officeDocument/2006/relationships/notesSlide" Target="/ppt/notesSlides/notesSlide1.xml" Id="R12b3fea7f67a45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63d063ac3f4467" /><Relationship Type="http://schemas.openxmlformats.org/officeDocument/2006/relationships/notesSlide" Target="/ppt/notesSlides/notesSlide2.xml" Id="R99185a8fa77c42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ad3152ef9d405a" /><Relationship Type="http://schemas.openxmlformats.org/officeDocument/2006/relationships/notesSlide" Target="/ppt/notesSlides/notesSlide3.xml" Id="R3f949c2b0e2f47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8ef05a74774e4e" /><Relationship Type="http://schemas.openxmlformats.org/officeDocument/2006/relationships/notesSlide" Target="/ppt/notesSlides/notesSlide4.xml" Id="Rb4c15e81db0448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b48be95375460c" /><Relationship Type="http://schemas.openxmlformats.org/officeDocument/2006/relationships/chart" Target="/ppt/slides/charts/chart1.xml" Id="R6feb0c77d8064698" /><Relationship Type="http://schemas.openxmlformats.org/officeDocument/2006/relationships/notesSlide" Target="/ppt/notesSlides/notesSlide5.xml" Id="R605f610048cf42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e186e930374abf" /><Relationship Type="http://schemas.openxmlformats.org/officeDocument/2006/relationships/notesSlide" Target="/ppt/notesSlides/notesSlide6.xml" Id="Rc2f5de30d69f40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9a6b72848d45a8" /><Relationship Type="http://schemas.openxmlformats.org/officeDocument/2006/relationships/notesSlide" Target="/ppt/notesSlides/notesSlide7.xml" Id="R49634559a51745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04923130c54c04" /><Relationship Type="http://schemas.openxmlformats.org/officeDocument/2006/relationships/notesSlide" Target="/ppt/notesSlides/notesSlide8.xml" Id="R90a0cae0569145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33c65544a94237" /><Relationship Type="http://schemas.openxmlformats.org/officeDocument/2006/relationships/notesSlide" Target="/ppt/notesSlides/notesSlide9.xml" Id="Rd0341f160d3344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8f725ef7064283" /><Relationship Type="http://schemas.openxmlformats.org/officeDocument/2006/relationships/notesSlide" Target="/ppt/notesSlides/notesSlide10.xml" Id="R2272114ed01c4a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e1ce5b174a4ee1" /><Relationship Type="http://schemas.openxmlformats.org/officeDocument/2006/relationships/image" Target="/ppt/media/image.jpeg" Id="R48fca96b6efa4ddd" /><Relationship Type="http://schemas.openxmlformats.org/officeDocument/2006/relationships/notesSlide" Target="/ppt/notesSlides/notesSlide11.xml" Id="R130b277ba4414e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01efce815b44ce" /><Relationship Type="http://schemas.openxmlformats.org/officeDocument/2006/relationships/image" Target="/ppt/media/image2.jpeg" Id="R3c7cac80459f48f0" /><Relationship Type="http://schemas.openxmlformats.org/officeDocument/2006/relationships/notesSlide" Target="/ppt/notesSlides/notesSlide12.xml" Id="R1c02a2ca322548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fba6c74fb8409f" /><Relationship Type="http://schemas.openxmlformats.org/officeDocument/2006/relationships/image" Target="/ppt/media/image3.jpeg" Id="R20f4060920f346e8" /><Relationship Type="http://schemas.openxmlformats.org/officeDocument/2006/relationships/notesSlide" Target="/ppt/notesSlides/notesSlide13.xml" Id="Re8ba249a3f2a4f2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2f2d14918c42e1" /><Relationship Type="http://schemas.openxmlformats.org/officeDocument/2006/relationships/image" Target="/ppt/media/image4.jpeg" Id="R59db3465643940ef" /><Relationship Type="http://schemas.openxmlformats.org/officeDocument/2006/relationships/notesSlide" Target="/ppt/notesSlides/notesSlide14.xml" Id="R17ad96b3138a43d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a8e456948246f6" /><Relationship Type="http://schemas.openxmlformats.org/officeDocument/2006/relationships/image" Target="/ppt/media/image5.jpeg" Id="Rf99b6fe0cb15434f" /><Relationship Type="http://schemas.openxmlformats.org/officeDocument/2006/relationships/notesSlide" Target="/ppt/notesSlides/notesSlide15.xml" Id="R19f7066a91dc451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f0b1faac5e4d9f" /><Relationship Type="http://schemas.openxmlformats.org/officeDocument/2006/relationships/notesSlide" Target="/ppt/notesSlides/notesSlide16.xml" Id="R937ec564851941a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798c250a9d48e1" /><Relationship Type="http://schemas.openxmlformats.org/officeDocument/2006/relationships/notesSlide" Target="/ppt/notesSlides/notesSlide17.xml" Id="R73dacb19b400458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Hit@5</c:v>
          </c:tx>
          <c:spPr>
            <a:solidFill xmlns:a="http://schemas.openxmlformats.org/drawingml/2006/main">
              <a:srgbClr val="287C85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纯向量</c:v>
                </c:pt>
                <c:pt idx="1">
                  <c:v>混合检索</c:v>
                </c:pt>
                <c:pt idx="2">
                  <c:v>混合与重排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0.4167</c:v>
                </c:pt>
                <c:pt idx="1">
                  <c:v>0.4333</c:v>
                </c:pt>
                <c:pt idx="2">
                  <c:v>0.6167</c:v>
                </c:pt>
              </c:numCache>
            </c:numRef>
          </c:val>
        </c:ser>
        <c:ser>
          <c:idx val="1"/>
          <c:order val="1"/>
          <c:tx>
            <c:v>MRR</c:v>
          </c:tx>
          <c:spPr>
            <a:solidFill xmlns:a="http://schemas.openxmlformats.org/drawingml/2006/main">
              <a:srgbClr val="4E71A8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纯向量</c:v>
                </c:pt>
                <c:pt idx="1">
                  <c:v>混合检索</c:v>
                </c:pt>
                <c:pt idx="2">
                  <c:v>混合与重排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0.2992</c:v>
                </c:pt>
                <c:pt idx="1">
                  <c:v>0.3538</c:v>
                </c:pt>
                <c:pt idx="2">
                  <c:v>0.4313</c:v>
                </c:pt>
              </c:numCache>
            </c:numRef>
          </c:val>
        </c:ser>
        <c:ser>
          <c:idx val="2"/>
          <c:order val="2"/>
          <c:tx>
            <c:v>Recall@5</c:v>
          </c:tx>
          <c:spPr>
            <a:solidFill xmlns:a="http://schemas.openxmlformats.org/drawingml/2006/main">
              <a:srgbClr val="759478"/>
            </a:solidFill>
          </c:spPr>
          <c:invertIfNegative val="0"/>
          <c:cat>
            <c:strRef>
              <c:f>'Chart Data'!$E$2:$E$4</c:f>
              <c:strCache>
                <c:ptCount val="3"/>
                <c:pt idx="0">
                  <c:v>纯向量</c:v>
                </c:pt>
                <c:pt idx="1">
                  <c:v>混合检索</c:v>
                </c:pt>
                <c:pt idx="2">
                  <c:v>混合与重排</c:v>
                </c:pt>
              </c:strCache>
            </c:strRef>
          </c:cat>
          <c:val>
            <c:numRef>
              <c:f>'Chart Data'!$F$2:$F$4</c:f>
              <c:numCache>
                <c:formatCode>0.0</c:formatCode>
                <c:ptCount val="3"/>
                <c:pt idx="0">
                  <c:v>0.325</c:v>
                </c:pt>
                <c:pt idx="1">
                  <c:v>0.3583</c:v>
                </c:pt>
                <c:pt idx="2">
                  <c:v>0.475</c:v>
                </c:pt>
              </c:numCache>
            </c:numRef>
          </c:val>
        </c:ser>
        <c:dLbls>
          <c:numFmt formatCode="0.0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9EDA1-8AF9-4F98-B11D-34D30333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智能科研助理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B8063-8865-4733-A539-C6614D86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0325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南京农业大学课程实践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2CD79-2669-4474-953A-9BA7A2C5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C07A9-A996-4205-A0D8-0B2458E6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382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4200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基于 RAG 与 Agent 的</a:t>
            </a:r>
          </a:p>
          <a:p xmlns:a="http://schemas.openxmlformats.org/drawingml/2006/main">
            <a:pPr algn="l">
              <a:defRPr sz="4200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论文知识库问答系统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C02E2-D765-44F0-BA33-891E09D4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0">
                <a:solidFill>
                  <a:srgbClr val="287C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8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7C85"/>
                </a:solidFill>
                <a:latin typeface="Microsoft YaHei"/>
                <a:ea typeface="Microsoft YaHei"/>
                <a:cs typeface="Microsoft YaHei"/>
              </a:rPr>
              <a:t>生产实习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C5399-7AEB-4256-8CFF-021C7C49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赵志国  林骋  林弟伟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093FD-64B8-490F-8942-25D7D149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提交截止 2026-10-10</a:t>
            </a:r>
          </a:p>
        </p:txBody>
      </p:sp>
    </p:spTree>
    <p:extLst>
      <p:ext uri="{BB962C8B-B14F-4D97-AF65-F5344CB8AC3E}">
        <p14:creationId xmlns:p14="http://schemas.microsoft.com/office/powerpoint/2010/main" val="2307343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0A1411-AE98-4492-9CD6-CBB7A8F0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科研阅读与证据核对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5AB00-AF9C-443A-95B7-242BF71D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71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通用产品支持不同领域 课程评测固定具体研究方向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DDC55-3B4C-41D8-A66C-F2DE9BE4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0325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南京农业大学课程实践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7C05E-FBFA-4301-AA92-9C47A3CA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E84C2-AE93-4A04-80A1-12AE2577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资料导入和论文知识库管理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1127A-11A6-4FD1-9EF7-2D1F58DC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带引用问答与 PDF 原页证据定位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4BDE3-0B64-4C30-B556-EBA3D83E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论文比较与多工具执行轨迹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C1CCE-AF1C-47CD-8BEE-97D3EE3F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真实实验记录和可复现导出</a:t>
            </a:r>
          </a:p>
        </p:txBody>
      </p:sp>
    </p:spTree>
    <p:extLst>
      <p:ext uri="{BB962C8B-B14F-4D97-AF65-F5344CB8AC3E}">
        <p14:creationId xmlns:p14="http://schemas.microsoft.com/office/powerpoint/2010/main" val="7299379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FA75FA-BBC9-4965-8D18-0E1584E0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系统架构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86659-365C-4D8C-967F-755A5AA8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71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展示 服务 调度 检索与持久化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FF847-09E9-4696-AD00-68A2A526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0325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南京农业大学课程实践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9EAA3-81CA-4E9F-8AD5-211154D6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A2D13-13A3-4D88-ACAE-C21F4B88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866900"/>
            <a:ext cx="847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1430">
            <a:solidFill>
              <a:srgbClr val="A5BEC5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Streamlit 展示层   论文库 问答 对比 实验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54189-3B92-4B73-B98A-9BE03493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86025"/>
            <a:ext cx="2857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87C8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339B6-2B77-485B-A28C-E1B090BE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57475"/>
            <a:ext cx="847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1430">
            <a:solidFill>
              <a:srgbClr val="A5BEC5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FastAPI 服务层   REST 接口 SSE 事件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8116E-81B2-47C7-ABC9-54A34DD3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76600"/>
            <a:ext cx="2857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87C8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D7D82-C0EC-4CEF-8FE4-673B505A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48050"/>
            <a:ext cx="847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1430">
            <a:solidFill>
              <a:srgbClr val="A5BEC5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Agent 与 RAG   多工具调度 会话记忆 引用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CB14A-401A-43F2-BDF5-A4224C41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67175"/>
            <a:ext cx="2857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87C8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59496-2FF3-488E-9328-C60C5CBB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38625"/>
            <a:ext cx="847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1430">
            <a:solidFill>
              <a:srgbClr val="A5BEC5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检索层   Embedding BM25 RRF 重排序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00333-1A42-439C-B016-96CA1124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57750"/>
            <a:ext cx="2857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87C8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D42B26-A82A-416B-9C69-D0C5D7D9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029200"/>
            <a:ext cx="847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1430">
            <a:solidFill>
              <a:srgbClr val="A5BEC5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持久化   原件 SQLite 向量索引 日志与实验</a:t>
            </a:r>
          </a:p>
        </p:txBody>
      </p:sp>
    </p:spTree>
    <p:extLst>
      <p:ext uri="{BB962C8B-B14F-4D97-AF65-F5344CB8AC3E}">
        <p14:creationId xmlns:p14="http://schemas.microsoft.com/office/powerpoint/2010/main" val="14739030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71568-BBF9-449B-BC38-7DD419DC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模块实现与验证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FC805-0A52-43BA-93CE-4A2026A3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71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状态来自明确的实现验证清单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E964B-4918-4499-AE18-15A0020F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0325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南京农业大学课程实践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B041E-0C12-47BE-8D86-B2220CAC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2E3B7F-FD8D-4E1A-973B-A51E8875913B}"/>
              </a:ext>
            </a:extLst>
          </p:cNvPr>
          <p:cNvGraphicFramePr/>
          <p:nvPr/>
        </p:nvGraphicFramePr>
        <p:xfrm>
          <a:off xmlns:a="http://schemas.openxmlformats.org/drawingml/2006/main" x="714375" y="1933575"/>
          <a:ext xmlns:a="http://schemas.openxmlformats.org/drawingml/2006/main" cx="1076325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19750"/>
                <a:gridCol w="5143500"/>
              </a:tblGrid>
              <a:tr h="552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91440" marR="91440" marT="45720" marB="45720">
                    <a:solidFill>
                      <a:srgbClr val="203C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已记录状态</a:t>
                      </a:r>
                    </a:p>
                  </a:txBody>
                  <a:tcPr marL="91440" marR="91440" marT="45720" marB="45720">
                    <a:solidFill>
                      <a:srgbClr val="203C50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文档处理与检索代码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已实现并验证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RAG生成代码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已实现并验证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Agent决策代码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已实现并验证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系统集成与界面代码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已实现并验证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评测与项目交付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部分实现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14938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DF931-249A-4FDF-B96C-E49761F5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检索实验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D895E-813C-44F8-ADBC-5C1B77FB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71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Hit@5 MRR Recall@5 来自同一语料与题目集合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0C61C-A67F-425A-9361-66F0AF8B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0325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南京农业大学课程实践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A86B9-8C88-4610-B027-2D8BD041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48C641E-8C7D-42E4-9962-AB42D4BA47B3}"/>
              </a:ext>
            </a:extLst>
          </p:cNvPr>
          <p:cNvGraphicFramePr/>
          <p:nvPr/>
        </p:nvGraphicFramePr>
        <p:xfrm>
          <a:off xmlns:a="http://schemas.openxmlformats.org/drawingml/2006/main" x="904875" y="1971675"/>
          <a:ext xmlns:a="http://schemas.openxmlformats.org/drawingml/2006/main" cx="10382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eb0c77d806469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EF601-6687-46EC-95A4-7AC298EA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8293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每个实验题数 60  60  60</a:t>
            </a:r>
          </a:p>
        </p:txBody>
      </p:sp>
    </p:spTree>
    <p:extLst>
      <p:ext uri="{BB962C8B-B14F-4D97-AF65-F5344CB8AC3E}">
        <p14:creationId xmlns:p14="http://schemas.microsoft.com/office/powerpoint/2010/main" val="12246385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9C728-B646-4559-8858-AEE8398B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分块策略实验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DB819-33B5-4492-B346-A5BF9F49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71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完整矩阵与原始记录见独立分块报告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39E19-555C-4CE4-BD38-FF8F2EE9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0325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南京农业大学课程实践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5346A-EC6F-4344-8FBC-CA1F1393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F292F-1C1F-4BBD-943C-A6035ED23F59}"/>
              </a:ext>
            </a:extLst>
          </p:cNvPr>
          <p:cNvGraphicFramePr/>
          <p:nvPr/>
        </p:nvGraphicFramePr>
        <p:xfrm>
          <a:off xmlns:a="http://schemas.openxmlformats.org/drawingml/2006/main" x="714375" y="1933575"/>
          <a:ext xmlns:a="http://schemas.openxmlformats.org/drawingml/2006/main" cx="1076325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4572000"/>
                <a:gridCol w="2476500"/>
              </a:tblGrid>
              <a:tr h="552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</a:t>
                      </a:r>
                    </a:p>
                  </a:txBody>
                  <a:tcPr marL="91440" marR="91440" marT="45720" marB="45720">
                    <a:solidFill>
                      <a:srgbClr val="203C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分块策略与长度</a:t>
                      </a:r>
                    </a:p>
                  </a:txBody>
                  <a:tcPr marL="91440" marR="91440" marT="45720" marB="45720">
                    <a:solidFill>
                      <a:srgbClr val="203C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Hit@5</a:t>
                      </a:r>
                    </a:p>
                  </a:txBody>
                  <a:tcPr marL="91440" marR="91440" marT="45720" marB="45720">
                    <a:solidFill>
                      <a:srgbClr val="203C50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M3e分块 固定256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fixed 256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0.3500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M3e分块 固定512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fixed 512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0.4000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M3e分块 固定1024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fixed 1024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M3e分块 递归512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recursive 512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0.4000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M3e分块 句段边界512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semantic 512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0.4500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80123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B5123-37DB-4B37-B381-5EDF4FC8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生成参数与证据约束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9133B-D2D6-4528-B5FC-6B084BD8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71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同4题开发集 五组单因素对比 人工质量评分单独填写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F696F-AE96-4A94-8965-A8EC782A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0325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南京农业大学课程实践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5AC6F-29FF-40A2-B023-09845942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7AEC0-9439-4609-94E8-71ED5468A08D}"/>
              </a:ext>
            </a:extLst>
          </p:cNvPr>
          <p:cNvGraphicFramePr/>
          <p:nvPr/>
        </p:nvGraphicFramePr>
        <p:xfrm>
          <a:off xmlns:a="http://schemas.openxmlformats.org/drawingml/2006/main" x="714375" y="1933575"/>
          <a:ext xmlns:a="http://schemas.openxmlformats.org/drawingml/2006/main" cx="1076325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3048000"/>
                <a:gridCol w="3429000"/>
              </a:tblGrid>
              <a:tr h="552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</a:t>
                      </a:r>
                    </a:p>
                  </a:txBody>
                  <a:tcPr marL="91440" marR="91440" marT="45720" marB="45720">
                    <a:solidFill>
                      <a:srgbClr val="203C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  p  k</a:t>
                      </a:r>
                    </a:p>
                  </a:txBody>
                  <a:tcPr marL="91440" marR="91440" marT="45720" marB="45720">
                    <a:solidFill>
                      <a:srgbClr val="203C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生成阶段平均ms</a:t>
                      </a:r>
                    </a:p>
                  </a:txBody>
                  <a:tcPr marL="91440" marR="91440" marT="45720" marB="45720">
                    <a:solidFill>
                      <a:srgbClr val="203C50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baseline_current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0.1  0.9  40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3255.4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temperature_0.0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0  0.9  40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2502.7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temperature_0.5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0.5  0.9  40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1415.3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top_p_0.7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0.1  0.7  40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1705.1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top_k_20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0.1  0.9  20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1885.3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00408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44CE8-26A0-4870-9254-2229817B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Agent 与回答质量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E93CF-D30E-4CDC-897C-014426B9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71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执行成功与证据覆盖分别统计 答案质量仍需人工评分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67C68-9E6A-4A30-A769-070F466E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0325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南京农业大学课程实践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D1A81-0380-42CB-82C9-FA6D4490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A7632-37DB-4091-A7AA-885D1B9D0AF3}"/>
              </a:ext>
            </a:extLst>
          </p:cNvPr>
          <p:cNvGraphicFramePr/>
          <p:nvPr/>
        </p:nvGraphicFramePr>
        <p:xfrm>
          <a:off xmlns:a="http://schemas.openxmlformats.org/drawingml/2006/main" x="714375" y="1933575"/>
          <a:ext xmlns:a="http://schemas.openxmlformats.org/drawingml/2006/main" cx="1076325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86500"/>
                <a:gridCol w="4476750"/>
              </a:tblGrid>
              <a:tr h="552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203C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实际测量</a:t>
                      </a:r>
                    </a:p>
                  </a:txBody>
                  <a:tcPr marL="91440" marR="91440" marT="45720" marB="45720">
                    <a:solidFill>
                      <a:srgbClr val="203C50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60题生成协议完成率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含来源编号的答案数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 / 60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无效来源编号请求数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5个路由样例匹配率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100.0%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已完成人工评分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/ 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41D30-FB5E-485E-8762-13B11F9B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7721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协议与编号规则通过不代表答案正确 5个样例不推断全题准确率</a:t>
            </a:r>
          </a:p>
        </p:txBody>
      </p:sp>
    </p:spTree>
    <p:extLst>
      <p:ext uri="{BB962C8B-B14F-4D97-AF65-F5344CB8AC3E}">
        <p14:creationId xmlns:p14="http://schemas.microsoft.com/office/powerpoint/2010/main" val="15270440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5C7B3-755E-435D-9DC8-E957DC0B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真实线上功能样本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6CC7B-CBEF-4522-8BBD-222BA6FC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71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问题与配置有变化 此表用于记录实际运行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9FF6F-F4FE-4960-A096-9F09DD39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0325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南京农业大学课程实践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722EA-4C18-4999-B3E2-A3EDE122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9D7E1-3B4D-4788-B997-E6C32A0C9D20}"/>
              </a:ext>
            </a:extLst>
          </p:cNvPr>
          <p:cNvGraphicFramePr/>
          <p:nvPr/>
        </p:nvGraphicFramePr>
        <p:xfrm>
          <a:off xmlns:a="http://schemas.openxmlformats.org/drawingml/2006/main" x="714375" y="1933575"/>
          <a:ext xmlns:a="http://schemas.openxmlformats.org/drawingml/2006/main" cx="1076325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477000"/>
                <a:gridCol w="4286250"/>
              </a:tblGrid>
              <a:tr h="552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203C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记录值</a:t>
                      </a:r>
                    </a:p>
                  </a:txBody>
                  <a:tcPr marL="91440" marR="91440" marT="45720" marB="45720">
                    <a:solidFill>
                      <a:srgbClr val="203C50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请求样本数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平均端到端耗时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52.09 秒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输入Token总计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43908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输出Token总计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4634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平均Agent步骤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C5118-D25D-4734-A46F-1F0E36B1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772150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包含历史降级样本 统一任务基准与人工语义评分另列</a:t>
            </a:r>
          </a:p>
        </p:txBody>
      </p:sp>
    </p:spTree>
    <p:extLst>
      <p:ext uri="{BB962C8B-B14F-4D97-AF65-F5344CB8AC3E}">
        <p14:creationId xmlns:p14="http://schemas.microsoft.com/office/powerpoint/2010/main" val="19243428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C7BE1-329F-405B-A1C4-339917B5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代码与运行验证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CB4CB-A890-4E78-8260-F537AEBF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71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自动验证证明对应行为 人工论文质量单独验收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53266-88B1-460C-8D1F-DFD41D53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0325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南京农业大学课程实践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DEFF6-01CE-46F1-9DCC-E60E4305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2D3FA-6C78-450C-AAAE-69CC1694AC30}"/>
              </a:ext>
            </a:extLst>
          </p:cNvPr>
          <p:cNvGraphicFramePr/>
          <p:nvPr/>
        </p:nvGraphicFramePr>
        <p:xfrm>
          <a:off xmlns:a="http://schemas.openxmlformats.org/drawingml/2006/main" x="714375" y="1933575"/>
          <a:ext xmlns:a="http://schemas.openxmlformats.org/drawingml/2006/main" cx="1076325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477000"/>
                <a:gridCol w="4286250"/>
              </a:tblGrid>
              <a:tr h="552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验证项目</a:t>
                      </a:r>
                    </a:p>
                  </a:txBody>
                  <a:tcPr marL="91440" marR="91440" marT="45720" marB="45720">
                    <a:solidFill>
                      <a:srgbClr val="203C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实际结果</a:t>
                      </a:r>
                    </a:p>
                  </a:txBody>
                  <a:tcPr marL="91440" marR="91440" marT="45720" marB="45720">
                    <a:solidFill>
                      <a:srgbClr val="203C50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全套代码基线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161项通过 0失败 0错误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界面与修改路径回归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100项通过 与基线有覆盖重叠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Agent与生成修改回归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84项通过 与修改路径回归重叠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页面与HTTP工作流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真实HTTP后端AppTest通过 功能演示模式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标准模式浏览器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真实7B回答 原页 比较与下载已运行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43686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A1019-B52B-4D27-9566-72C72407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论文库与就绪状态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8E830-DBDF-46AF-97B1-B165FE3F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71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2026-10-10历史截图，显示359片段；当前重建索引为342片段。可查找论文、下载原件、加入问答范围及重建索引。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6B616-D541-474C-B4C3-B8300F20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0325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南京农业大学课程实践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4BD5D-B203-4A04-9C4A-CF079CB4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F70B0-5AF1-4A5F-8313-4E034AB628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ca96b6efa4ddd"/>
          <a:stretch xmlns:a="http://schemas.openxmlformats.org/drawingml/2006/main"/>
        </p:blipFill>
        <p:spPr>
          <a:xfrm xmlns:a="http://schemas.openxmlformats.org/drawingml/2006/main">
            <a:off x="2305579" y="1847850"/>
            <a:ext cx="7552267" cy="424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9661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0AA1D-F104-4DA1-B134-5615753A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科研问答与引用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190B4-6342-44CC-8D1E-7260F16A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71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上方显示实际中文回答与输入输出Token；中部来源编号映射论文物理页；下方展开执行过程并继续提问。该图为单次标准模式功能运行。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DC0A3-9EA7-41C8-9830-14851293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0325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南京农业大学课程实践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0E818-896B-4154-AB4A-6456E37E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2C33B-94DB-49DB-B2F7-C0A21406D6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cac80459f48f0"/>
          <a:stretch xmlns:a="http://schemas.openxmlformats.org/drawingml/2006/main"/>
        </p:blipFill>
        <p:spPr>
          <a:xfrm xmlns:a="http://schemas.openxmlformats.org/drawingml/2006/main">
            <a:off x="2305579" y="1847850"/>
            <a:ext cx="7552267" cy="424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545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4EAD6-1FB1-42C8-8F1F-AEBC7809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PDF原页证据核对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A0852-399B-446E-A855-B737AA1B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71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浏览器原文预览展示Swin论文物理第4页架构与正文，便于核对检索片段和论证出处。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43046-F751-437B-B788-3C502521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0325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南京农业大学课程实践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26576-128C-47C2-A1A1-69CE7510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FD178-0238-4888-A679-F35A1D353B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f4060920f346e8"/>
          <a:stretch xmlns:a="http://schemas.openxmlformats.org/drawingml/2006/main"/>
        </p:blipFill>
        <p:spPr>
          <a:xfrm xmlns:a="http://schemas.openxmlformats.org/drawingml/2006/main">
            <a:off x="2305579" y="1847850"/>
            <a:ext cx="7552267" cy="424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5848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CFFC9-DC72-4985-A4FB-228CE284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双论文证据比较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03EE5-531B-48A0-8BD5-9D44E237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71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保存的结果可以再次查看、下载Markdown和JSON。表格分别列出两篇论文的证据，条件未核齐时明确保留限制。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0CF8A-CB5E-49DB-B05F-622DBA4B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0325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南京农业大学课程实践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2762C-5FB8-4BCF-AB0E-72C85485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C77C0-43C3-44E0-A6A6-6FA019A82B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db3465643940ef"/>
          <a:stretch xmlns:a="http://schemas.openxmlformats.org/drawingml/2006/main"/>
        </p:blipFill>
        <p:spPr>
          <a:xfrm xmlns:a="http://schemas.openxmlformats.org/drawingml/2006/main">
            <a:off x="2305579" y="1847850"/>
            <a:ext cx="7552267" cy="424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2100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EA26C-9D0C-469E-867E-25E51939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实验记录与三档比较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73718-A7CB-4AB0-BC14-A2D69295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71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上方列出纯向量、混合、混合重排的真实运行；下方按相同题集比较。这张截图是4题功能验收，正式60题指标见系统评测报告。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882B2-5584-4D9A-9269-BFB3D307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0325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南京农业大学课程实践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94518-7F2B-4255-B7D4-3774773C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99BB4-490C-4096-B5EC-FE742C232B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b6fe0cb15434f"/>
          <a:stretch xmlns:a="http://schemas.openxmlformats.org/drawingml/2006/main"/>
        </p:blipFill>
        <p:spPr>
          <a:xfrm xmlns:a="http://schemas.openxmlformats.org/drawingml/2006/main">
            <a:off x="2305579" y="1847850"/>
            <a:ext cx="7552267" cy="424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1364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DB458-1FC7-4020-9F50-2C9BF7D4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失败案例与实际改进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3F2F4-23AD-487E-9DBC-62ECF671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71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检索 生成 引用 Agent 四类记录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35893-050B-4D50-A13E-7DE365CB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0325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南京农业大学课程实践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7B6B0-C0E7-4DD1-BC29-C863A029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976EE-6CE9-4214-86E1-52A3C9E67A52}"/>
              </a:ext>
            </a:extLst>
          </p:cNvPr>
          <p:cNvGraphicFramePr/>
          <p:nvPr/>
        </p:nvGraphicFramePr>
        <p:xfrm>
          <a:off xmlns:a="http://schemas.openxmlformats.org/drawingml/2006/main" x="714375" y="1933575"/>
          <a:ext xmlns:a="http://schemas.openxmlformats.org/drawingml/2006/main" cx="1076325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2381250"/>
                <a:gridCol w="4572000"/>
              </a:tblGrid>
              <a:tr h="552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</a:t>
                      </a:r>
                    </a:p>
                  </a:txBody>
                  <a:tcPr marL="91440" marR="91440" marT="45720" marB="45720">
                    <a:solidFill>
                      <a:srgbClr val="203C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类型</a:t>
                      </a:r>
                    </a:p>
                  </a:txBody>
                  <a:tcPr marL="91440" marR="91440" marT="45720" marB="45720">
                    <a:solidFill>
                      <a:srgbClr val="203C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改进状态</a:t>
                      </a:r>
                    </a:p>
                  </a:txBody>
                  <a:tcPr marL="91440" marR="91440" marT="45720" marB="45720">
                    <a:solidFill>
                      <a:srgbClr val="203C50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BC-RETRIEVAL-01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检索失败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已实施同题开发集参数迭代，不夸大效果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BC-GENERATION-01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生成错误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代码已修复 线上样例有记录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BC-CITATION-01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引用错误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代码已修复 验证有记录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BC-AGENT-01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Agent决策错误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代码已修复 验证有记录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BC-WINDOW-01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检索失败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已修复并真实模型验证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407760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B1F3C-EB04-4397-A1A5-2133D382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交付与待完成事项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3779D-34B6-4CA8-8619-AFFFAAB4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71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源码 可编辑报告 演示文稿 原始实验与复现记录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D789D-4AD5-4126-A0DA-3D98218F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0325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南京农业大学课程实践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1B1BA-E608-4A2F-BDA7-8D6AE063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1F3B5-7B1F-4B3C-942F-56CF76C5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真实测量记录 23 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9F7E1-5F3F-4866-9840-8E91BDE7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功能演示实验 0 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9A88C-F88A-4266-9406-B2BF0B68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54A"/>
                </a:solidFill>
                <a:latin typeface="Microsoft YaHei"/>
                <a:ea typeface="Microsoft YaHei"/>
                <a:cs typeface="Microsoft YaHei"/>
              </a:rPr>
              <a:t>待填写信息 3 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FE369-AA05-4D23-B4E8-2B706A54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10572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484"/>
                </a:solidFill>
                <a:latin typeface="Microsoft YaHei"/>
                <a:ea typeface="Microsoft YaHei"/>
                <a:cs typeface="Microsoft YaHei"/>
              </a:rPr>
              <a:t>人工质量评分按用户选择待填写；题集证据待学生确认；Docker容器未在本机实跑。所有模型/解析数据均来自实际执行，旧359实验快照与新生产索引分开。</a:t>
            </a:r>
          </a:p>
        </p:txBody>
      </p:sp>
    </p:spTree>
    <p:extLst>
      <p:ext uri="{BB962C8B-B14F-4D97-AF65-F5344CB8AC3E}">
        <p14:creationId xmlns:p14="http://schemas.microsoft.com/office/powerpoint/2010/main" val="6600125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2026-10-11T07:21:53.4250000Z</dcterms:created>
  <dcterms:modified xsi:type="dcterms:W3CDTF">2026-10-11T07:21:53.4250000Z</dcterms:modified>
</coreProperties>
</file>