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0d6eadb57e408b" /><Relationship Type="http://schemas.openxmlformats.org/officeDocument/2006/relationships/extended-properties" Target="/docProps/app.xml" Id="R72b1ee1a92a74479" /><Relationship Type="http://schemas.openxmlformats.org/officeDocument/2006/relationships/officeDocument" Target="/ppt/presentation.xml" Id="R6b955809d5f4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8cbfeac0147fa"/>
  </p:sldMasterIdLst>
  <p:notesMasterIdLst>
    <p:notesMasterId xmlns:r="http://schemas.openxmlformats.org/officeDocument/2006/relationships" r:id="Rede5a35eb61747cd"/>
  </p:notesMasterIdLst>
  <p:sldIdLst>
    <p:sldId xmlns:r="http://schemas.openxmlformats.org/officeDocument/2006/relationships" id="256" r:id="Rcc81a96be3884b40"/>
    <p:sldId xmlns:r="http://schemas.openxmlformats.org/officeDocument/2006/relationships" id="257" r:id="R41d98133f1ca4aab"/>
    <p:sldId xmlns:r="http://schemas.openxmlformats.org/officeDocument/2006/relationships" id="258" r:id="R8a91f7c198114b71"/>
    <p:sldId xmlns:r="http://schemas.openxmlformats.org/officeDocument/2006/relationships" id="259" r:id="Rbacf6a2687724cc9"/>
    <p:sldId xmlns:r="http://schemas.openxmlformats.org/officeDocument/2006/relationships" id="260" r:id="R2367bfaa423442ba"/>
    <p:sldId xmlns:r="http://schemas.openxmlformats.org/officeDocument/2006/relationships" id="261" r:id="Re2fbe6a8f8644936"/>
    <p:sldId xmlns:r="http://schemas.openxmlformats.org/officeDocument/2006/relationships" id="262" r:id="R84453a701c6f43a2"/>
    <p:sldId xmlns:r="http://schemas.openxmlformats.org/officeDocument/2006/relationships" id="263" r:id="R6131e8c464c44437"/>
    <p:sldId xmlns:r="http://schemas.openxmlformats.org/officeDocument/2006/relationships" id="264" r:id="R8cc3b5825a8540cb"/>
    <p:sldId xmlns:r="http://schemas.openxmlformats.org/officeDocument/2006/relationships" id="265" r:id="R46e947a5f5f84324"/>
    <p:sldId xmlns:r="http://schemas.openxmlformats.org/officeDocument/2006/relationships" id="266" r:id="R0dca927fd72d46cf"/>
    <p:sldId xmlns:r="http://schemas.openxmlformats.org/officeDocument/2006/relationships" id="267" r:id="R2750823d38d24cc3"/>
    <p:sldId xmlns:r="http://schemas.openxmlformats.org/officeDocument/2006/relationships" id="268" r:id="Rf757b5bc051540b9"/>
    <p:sldId xmlns:r="http://schemas.openxmlformats.org/officeDocument/2006/relationships" id="269" r:id="R77aee77af0ff4d06"/>
    <p:sldId xmlns:r="http://schemas.openxmlformats.org/officeDocument/2006/relationships" id="270" r:id="R8b4a8c35f7cc438e"/>
    <p:sldId xmlns:r="http://schemas.openxmlformats.org/officeDocument/2006/relationships" id="271" r:id="R4bdae9aeb0b342d0"/>
    <p:sldId xmlns:r="http://schemas.openxmlformats.org/officeDocument/2006/relationships" id="272" r:id="Rf30bccd8112d44a7"/>
    <p:sldId xmlns:r="http://schemas.openxmlformats.org/officeDocument/2006/relationships" id="273" r:id="Rc54ecfd488a74853"/>
    <p:sldId xmlns:r="http://schemas.openxmlformats.org/officeDocument/2006/relationships" id="274" r:id="Rea24d153c6884753"/>
    <p:sldId xmlns:r="http://schemas.openxmlformats.org/officeDocument/2006/relationships" id="275" r:id="Raeed7e8b54c046aa"/>
    <p:sldId xmlns:r="http://schemas.openxmlformats.org/officeDocument/2006/relationships" id="276" r:id="R9a592d06e70a4081"/>
    <p:sldId xmlns:r="http://schemas.openxmlformats.org/officeDocument/2006/relationships" id="277" r:id="Re269fcc572b643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1eacbcdc64904" /><Relationship Type="http://schemas.openxmlformats.org/officeDocument/2006/relationships/slideMaster" Target="/ppt/slideMasters/slideMaster1.xml" Id="R1ca8cbfeac0147fa" /><Relationship Type="http://schemas.openxmlformats.org/officeDocument/2006/relationships/notesMaster" Target="/ppt/notesMasters/notesMaster1.xml" Id="Rede5a35eb61747cd" /><Relationship Type="http://schemas.openxmlformats.org/officeDocument/2006/relationships/presProps" Target="/ppt/presProps.xml" Id="R42d6af6aa48841cf" /><Relationship Type="http://schemas.openxmlformats.org/officeDocument/2006/relationships/tableStyles" Target="/ppt/tableStyles.xml" Id="Ra6ac6f4e637d4f87" /><Relationship Type="http://schemas.openxmlformats.org/officeDocument/2006/relationships/slide" Target="/ppt/slides/slide1.xml" Id="Rcc81a96be3884b40" /><Relationship Type="http://schemas.openxmlformats.org/officeDocument/2006/relationships/slide" Target="/ppt/slides/slide2.xml" Id="R41d98133f1ca4aab" /><Relationship Type="http://schemas.openxmlformats.org/officeDocument/2006/relationships/slide" Target="/ppt/slides/slide3.xml" Id="R8a91f7c198114b71" /><Relationship Type="http://schemas.openxmlformats.org/officeDocument/2006/relationships/slide" Target="/ppt/slides/slide4.xml" Id="Rbacf6a2687724cc9" /><Relationship Type="http://schemas.openxmlformats.org/officeDocument/2006/relationships/slide" Target="/ppt/slides/slide5.xml" Id="R2367bfaa423442ba" /><Relationship Type="http://schemas.openxmlformats.org/officeDocument/2006/relationships/slide" Target="/ppt/slides/slide6.xml" Id="Re2fbe6a8f8644936" /><Relationship Type="http://schemas.openxmlformats.org/officeDocument/2006/relationships/slide" Target="/ppt/slides/slide7.xml" Id="R84453a701c6f43a2" /><Relationship Type="http://schemas.openxmlformats.org/officeDocument/2006/relationships/slide" Target="/ppt/slides/slide8.xml" Id="R6131e8c464c44437" /><Relationship Type="http://schemas.openxmlformats.org/officeDocument/2006/relationships/slide" Target="/ppt/slides/slide9.xml" Id="R8cc3b5825a8540cb" /><Relationship Type="http://schemas.openxmlformats.org/officeDocument/2006/relationships/slide" Target="/ppt/slides/slide10.xml" Id="R46e947a5f5f84324" /><Relationship Type="http://schemas.openxmlformats.org/officeDocument/2006/relationships/slide" Target="/ppt/slides/slide11.xml" Id="R0dca927fd72d46cf" /><Relationship Type="http://schemas.openxmlformats.org/officeDocument/2006/relationships/slide" Target="/ppt/slides/slide12.xml" Id="R2750823d38d24cc3" /><Relationship Type="http://schemas.openxmlformats.org/officeDocument/2006/relationships/slide" Target="/ppt/slides/slide13.xml" Id="Rf757b5bc051540b9" /><Relationship Type="http://schemas.openxmlformats.org/officeDocument/2006/relationships/slide" Target="/ppt/slides/slide14.xml" Id="R77aee77af0ff4d06" /><Relationship Type="http://schemas.openxmlformats.org/officeDocument/2006/relationships/slide" Target="/ppt/slides/slide15.xml" Id="R8b4a8c35f7cc438e" /><Relationship Type="http://schemas.openxmlformats.org/officeDocument/2006/relationships/slide" Target="/ppt/slides/slide16.xml" Id="R4bdae9aeb0b342d0" /><Relationship Type="http://schemas.openxmlformats.org/officeDocument/2006/relationships/slide" Target="/ppt/slides/slide17.xml" Id="Rf30bccd8112d44a7" /><Relationship Type="http://schemas.openxmlformats.org/officeDocument/2006/relationships/slide" Target="/ppt/slides/slide18.xml" Id="Rc54ecfd488a74853" /><Relationship Type="http://schemas.openxmlformats.org/officeDocument/2006/relationships/slide" Target="/ppt/slides/slide19.xml" Id="Rea24d153c6884753" /><Relationship Type="http://schemas.openxmlformats.org/officeDocument/2006/relationships/slide" Target="/ppt/slides/slide20.xml" Id="Raeed7e8b54c046aa" /><Relationship Type="http://schemas.openxmlformats.org/officeDocument/2006/relationships/slide" Target="/ppt/slides/slide21.xml" Id="R9a592d06e70a4081" /><Relationship Type="http://schemas.openxmlformats.org/officeDocument/2006/relationships/slide" Target="/ppt/slides/slide22.xml" Id="Re269fcc572b6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e6a5982ac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3e3853f79e4591" /><Relationship Type="http://schemas.openxmlformats.org/officeDocument/2006/relationships/notesMaster" Target="/ppt/notesMasters/notesMaster1.xml" Id="Rfdd701854eff49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42ca0ee314d75" /><Relationship Type="http://schemas.openxmlformats.org/officeDocument/2006/relationships/notesMaster" Target="/ppt/notesMasters/notesMaster1.xml" Id="R62204d25d65c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902a534a594b2a" /><Relationship Type="http://schemas.openxmlformats.org/officeDocument/2006/relationships/notesMaster" Target="/ppt/notesMasters/notesMaster1.xml" Id="R13f5b27ec045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46da6598f45e7" /><Relationship Type="http://schemas.openxmlformats.org/officeDocument/2006/relationships/notesMaster" Target="/ppt/notesMasters/notesMaster1.xml" Id="R2dce31a6283e4c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554b87e644af6" /><Relationship Type="http://schemas.openxmlformats.org/officeDocument/2006/relationships/notesMaster" Target="/ppt/notesMasters/notesMaster1.xml" Id="Rde850fd55a82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fbcb3cbd84d07" /><Relationship Type="http://schemas.openxmlformats.org/officeDocument/2006/relationships/notesMaster" Target="/ppt/notesMasters/notesMaster1.xml" Id="Re1c489abc91943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71849f5588448b" /><Relationship Type="http://schemas.openxmlformats.org/officeDocument/2006/relationships/notesMaster" Target="/ppt/notesMasters/notesMaster1.xml" Id="Rdb038599f47042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b0a4877d3a40b3" /><Relationship Type="http://schemas.openxmlformats.org/officeDocument/2006/relationships/notesMaster" Target="/ppt/notesMasters/notesMaster1.xml" Id="R8617aae7b671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abd017a967463c" /><Relationship Type="http://schemas.openxmlformats.org/officeDocument/2006/relationships/notesMaster" Target="/ppt/notesMasters/notesMaster1.xml" Id="R09bea9491d4c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ccda55b9b44964" /><Relationship Type="http://schemas.openxmlformats.org/officeDocument/2006/relationships/notesMaster" Target="/ppt/notesMasters/notesMaster1.xml" Id="R17b0b2feda0f4f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fc521dfd054b23" /><Relationship Type="http://schemas.openxmlformats.org/officeDocument/2006/relationships/notesMaster" Target="/ppt/notesMasters/notesMaster1.xml" Id="R97a36c3b453b4e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2af50cff2a4e20" /><Relationship Type="http://schemas.openxmlformats.org/officeDocument/2006/relationships/notesMaster" Target="/ppt/notesMasters/notesMaster1.xml" Id="Rac216f2a86a64c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b9ad380fd64c7a" /><Relationship Type="http://schemas.openxmlformats.org/officeDocument/2006/relationships/notesMaster" Target="/ppt/notesMasters/notesMaster1.xml" Id="R69acf41c12d14e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2f0a787d934c58" /><Relationship Type="http://schemas.openxmlformats.org/officeDocument/2006/relationships/notesMaster" Target="/ppt/notesMasters/notesMaster1.xml" Id="Rdf0ee3518e114a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f230cecfb34446" /><Relationship Type="http://schemas.openxmlformats.org/officeDocument/2006/relationships/notesMaster" Target="/ppt/notesMasters/notesMaster1.xml" Id="R3868bd45a8e642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ff69b33835466c" /><Relationship Type="http://schemas.openxmlformats.org/officeDocument/2006/relationships/notesMaster" Target="/ppt/notesMasters/notesMaster1.xml" Id="R6a5a17c8a43543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4123a366c8471c" /><Relationship Type="http://schemas.openxmlformats.org/officeDocument/2006/relationships/notesMaster" Target="/ppt/notesMasters/notesMaster1.xml" Id="Rab4d01168c194f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0c19d7e1e54589" /><Relationship Type="http://schemas.openxmlformats.org/officeDocument/2006/relationships/notesMaster" Target="/ppt/notesMasters/notesMaster1.xml" Id="Ra498b59ea12c48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d2f0b892a24d3d" /><Relationship Type="http://schemas.openxmlformats.org/officeDocument/2006/relationships/notesMaster" Target="/ppt/notesMasters/notesMaster1.xml" Id="Ra49ca24219b443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158599f834486e" /><Relationship Type="http://schemas.openxmlformats.org/officeDocument/2006/relationships/notesMaster" Target="/ppt/notesMasters/notesMaster1.xml" Id="R770c4b21bd6645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66233bff79437b" /><Relationship Type="http://schemas.openxmlformats.org/officeDocument/2006/relationships/notesMaster" Target="/ppt/notesMasters/notesMaster1.xml" Id="Rea400d725d2541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74054a3480411f" /><Relationship Type="http://schemas.openxmlformats.org/officeDocument/2006/relationships/notesMaster" Target="/ppt/notesMasters/notesMaster1.xml" Id="Rce5a0c487a9f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课设题目是智能科研助理。系统面向论文知识库，组合检索增强生成与工具调用，支持论文导入、证据问答、跨论文比较和执行记录回放。接下来围绕实现方法、实际实验结果和仍需改进的地方进行汇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artifacts/course-report/main.tex；用户提供的成员姓名、班级、学号与贡献比例。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汇报约10–12分钟。主体18页，备答4页。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解决的是论文阅读过程中反复定位证据和核查回答的问题。这里的问题只是应用场景示例。系统需要先找到相关论文证据，再根据证据回答，最后允许使用者回到原始物理页核对。计算和论文比较等操作则由专门工具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README.md 项目能力；src/frontend；src/agent；artifacts/course-report/main.tex 项目概述。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系统面向通用论文知识库，视觉Transformer用于本次可控评测，不表示课程强制限定领域。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库是工作流起点。文档导入后异步解析，界面显示状态并允许失败重试。用户可以维护元信息、下载原件和查看片段。这里展示真实历史界面，截图中的359片段只代表当时快照，后面会区分当前生产索引和正式评测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artifacts/course-report/figures/original-ui/新版论文库.jpg；src/frontend/sections_library.py。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当前生产索引342片段，正式历史检索评测359片段，独立本地验收29片段，三者分别记录。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分成交互、服务、控制逻辑与知识处理。Streamlit通过FastAPI调用系统，SSE返回流式结果。核心是手写路由和Agent控制器，以及来源传播和混合检索链路。图中用模块位置概括职责，横向连接表示主要数据或调用联系，完整实现细节可以在代码和报告中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src/frontend；src/api；src/services/application.py；src/agent/react_loop.py；src/retrieval；artifacts/course-report/figures/fig01_architecture.pdf。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本地模型标签research-qwen:7b。Embedding为BGE-M3，重排模型为bge-reranker-base，图中未展开所有内部依赖。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解析器均在同一组10篇PDF上运行。PyPDF2累计耗时较短，但119个锚点中恢复114个。我们保留多方案对照，不把字符数量或速度当作全部解析质量。切分支持固定、递归和句段边界。超长编码使用原始token-ID分窗，避免decode后重新编码造成长度膨胀，同时保留完整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artifacts/course-report/data/report-data.json tables.parsers / parser_records / chunking；src/retrieval/token_windows.py。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分块大小采用项目定义的轻量文本计数单位，不直接等同模型供应商token。句段边界切分不称为向量聚类语义分块。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se和BM25分别利用语义和关键词信息，手写RRF根据名次融合，不直接相加不同尺度的分数。重排模型再联合判断问题与候选片段。生成阶段约束回答使用给定来源，服务端将来源编号映射到原文位置，并检查未知引用与不受支持的数字。这些检查提高可核查性，但不能证明每个论断语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src/retrieval/hybrid.py；src/retrieval/reranker.py；src/generation/rag_pipeline.py；artifacts/course-report/main.tex 检索与引用设计。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公式对参与融合的各检索列表求和。不同检索模式可在界面中选择。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并非对所有问题都多轮规划。计算、时间、元信息和已明确范围的任务可以快捷路由，复杂任务才进入动作与观察循环。八种工具均有参数结构和校验，执行受最大步数、超时和重试次数约束。实际五类路由探针均匹配，但小样本路由正确不等于开放任务总体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src/agent/registry.py；src/agent/router.py；src/agent/react_loop.py；src/agent/tools/local.py；report-data.json tables.agent。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示例仅说明工具用途，不将课程背景中的80% Token节省写成本项目结果。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两类真实界面。问答侧保存回答、引用和执行过程，证据侧可以选择文档、查看物理页并预览原始PDF。来源存在与论断被充分支持是两件事，我们把原页回查作为必要的人机协同环节。现场演示时，可选一条现有回答，打开来源，再回到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artifacts/course-report/figures/original-ui/新版科研问答.jpg；artifacts/course-report/figures/original-ui/新版原文证据.jpg；src/frontend/sections_chat.py。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截图保留实际页面内容，物理页与印刷页码可能不同。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语料固定为10篇视觉Transformer论文，共169个物理页。80道题按事实、比较、综合和推理划分，20道开发题用于配置选择，60道测试题用于冻结结果。后面的正式检索表基于359片段历史索引，而当前生产索引是342片段，不能把它们混为同一次完整复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tables.dataset / corpus / experimental_scopes；reports/datasets/dataset_manifest.json。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主题用于可控实验。尚未完成跨专题泛化评价与最新版统一60题端到端复测。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同一60道测试题和359片段索引下，重排模式Hit@5达到61.67%，比向量检索提高20个百分点，MRR和Recall@5也提高。但平均CPU排序时间约16.71秒，向量和混合分别约3.20和8.27毫秒。我们因此保留可选择的模式，而不声称重排在所有交互场景都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tables.retrieval_test / retrieval_records；reports/experiments/retrieval。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MRR为保存候选深度下的倒数排名均值，不标为MRR@5。耗时不含共享查询编码和生成，不能与本地34.15秒总时延直接相减。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避免只看总体均值，我们将同一道题在不同方法下的结果配对，再对题号进行一万次重采样。重排相对向量的Hit@5平均增益为20个百分点，对应95%区间约10到31.67个百分点。混合相对向量的区间包含零，说明这个小幅均值变化受题目构成影响。这里描述不确定性，不据此作多重显著性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artifacts/course-report/data/advanced-statistics.json paired_bootstrap；build_advanced_figures.py derive_statistics。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左图与右表均明确使用百分点。60题全部同题配对。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条基线回答接受同一套1到5分AI辅助评审。流畅性均分4.58，而完整性和引用支撑约为2.98和3.03，差距说明语言通顺不能替代事实和证据。逐题统计中，有13条回答虽然流畅性至少4分，正确性却不超过2分。评分没有独立人工复核，因此我们将其作为探索性质量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tables.baseline_ai_quality / baseline_ai_scores；advanced-statistics.json ai_quality。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使用有序量表的均值作描述性汇总，不推断独立人工一致性或评分因果关系。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词实验保持冻结检索上下文相同，每个条件只有四道题。引用支撑均分从2.50提高到3.50，但四题变化分别为加4、加1、不变和减1，正确性均值都为4.25。因此我们认为约束改善了部分引用行为，而不能宣布总体回答能力稳定提高。参数温度为零的条件仍出现事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tables.prompt_ai_quality / quality_conditions；advanced-statistics.json prompt_pairs。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参数比较只覆盖四题单次、未固定采样种子，不能宣称稳定最优。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扩展设计是条件约束的论文比较。论文中的准确率经常对应不同数据集、任务或训练条件，直接并列数字容易误导。我们使用结构化输出并逐列检查来源与数值，条件不足时给出比较边界。输出结构可用并不等于语义已经正确，仍需要来源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src/agent/tools/local.py compare_papers；artifacts/course-report/figures/original-ui/新版论文对比.jpg；report-data.json tables.bad_cases BC-GENERATION-01。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历史线上前后样例的关注点存在变化，仅作诊断证据，不作为受控因果性能比较。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一个具体Bad Case来自Swin回答。模型把来源S1写为第4页，但服务器保存的S1来自物理页2。我们将页码映射从模型自由生成改为服务器根据原文元数据维护，合并来源也逐一展开检查。回归测试证明已知错误能够校正，但论断是否被来源充分支持仍是语义问题，需要人工或更严格的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tables.bad_cases BC-CITATION-01；reports/testing/ui-final-critical-20261010.xml；src/generation。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之前展示的原文截图只是功能例，不冒充本案例的受控修复前后截图。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是2026年10月15日真实本地验收，使用独立CvT论文工作区和真实本地模型，demo为false。33类独立检查全部通过，覆盖上传、索引、SSE生成、原件哈希、物理页预览和记录保存。该次问答端到端34.15秒，输入3537、输出395个Token。仍有五条质量核查提示，因此流程通过不代表答案语义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local_runtime；reports/deployment/local-20261015/runtime-record.json；artifacts/course-report/figures/ui05_local.jpg。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120是含轮询的通过日志条数，不作为120项独立功能。按用户要求采用本地验收，Docker与重启验收未执行。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扩展设计是版本感知的结果保存。仅保存一个分数不足以复现，我们还保留语料、索引、模型和配置指纹，以及运行耗时与工具轨迹。当前交付包含代码、报告、图表和实际验收记录。最近GitHub云端回归185项通过、4项跳过。独立人工复核、最新索引的统一端到端复测和跨专题评测仍需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production_index / source_hashes；artifacts/course-report/data/document-checks.json；https://github.com/JueBeiYi/-RAG-Agent-/actions/runs/39044437479；README.md。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报告总计26图含21学术图与5界面图。CI测试通过不替代真实模型质量评价，未宣称所有课程验收证据均齐备。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主要成果是把论文导入、混合检索、证据生成、工具协作和原文回查接成可运行的系统，并保留实验和运行证据。实测结果说明重排能够改善前五条证据覆盖，也显示CPU时延、完整性和引用支撑仍有限制。下一步优先开展独立人工复核和统一新版复测。以上是我们的汇报，请各位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artifacts/course-report/main.tex 总结与展望；report-data.json；当前项目README。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集上固定1024的Hit@5为0.50，而不同方案的其他指标并不一致。保持相同342个递归片段时，m3e的Hit@5较高，BGE-large-zh的MRR略高。这些都是20题开发集的小样本结果，不能宣称某模型通用领先。当前生产使用BGE-M3，其配置选择不等于本表中的公平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tables.chunking / embeddings；reports/experiments/retrieval。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切分大小是项目文本计数单位，标为512不代表provider token精确等长。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实验包含温度、top-p和生成采样top-k的变化。表中质量是四题的AI辅助均分，而不是准确率。基线与采样top-k为20的均值相同，但逐题错误构成不同。由于单次、小样本且没有固定采样种子，不能依据这些均分宣布稳定最优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tables.quality_conditions / quality_records；reports/experiments/generation/quality-comparison。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生成参数top-k和检索返回Top-K具有不同含义。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本地标准运行采用Ollama中的research-qwen:7b，对应Qwen2.5-7B-Instruct的Q4_K_M量化版本。Embedding和重排在CPU执行，生成使用本机已准备环境。成员姓名、学号和贡献比例按提供信息填写，具体职责细分还需成员确认。若老师追问工具效率：十个配对本地工具探针单线程24.125毫秒、双线程21.161毫秒，排除LLM和检索；缓存仅有一个完全重复查询探针，不推断总体命中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local_runtime / environment_snapshot / tables.parallel / tables.cache；artifacts/course-report/main.tex 团队及运行环境；docs/模型与API配置.md。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现有硬件为Windows11，RTX4060 Laptop用于本地模型环境，不将编码或重排的CPU实测值解释为GPU实测性能。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个常见问题是我们自行实现了什么。项目代码负责来源位置传播、手写RRF、原token-ID分窗、工具注册和参数校验、有界路由、引用规则、缓存指纹与准入以及条件约束比较。PDF解析器、BM25、向量库和基础模型由成熟依赖提供。另一问是Docker：本次按用户要求采用127.0.0.1本地实际验收，不将配置文件存在写成容器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src/agent；src/retrieval；src/generation；artifacts/course-report/main.tex；report-data.json。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五类路由探针仅为功能样本，AI均分不是独立人工盲评，单专题不证明跨领域泛化。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904fa24da4b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b65e8664e42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ca52427454b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2844ee5b44e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bb8c0bb3749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fd3631b7f4a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A146E-7DFA-4AA0-82C8-E6CDA14E6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2972D9-B067-423C-8931-A415603101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A90841-6096-4CE8-9C58-692BE0A78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4AAD56-68EC-4468-ACC6-58E11CCF2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C7C946-2A02-4B15-8251-13F4BDEAFA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99C623-9DD9-4047-857C-A3A2EA994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3524CE-C44F-4FA6-B060-AE717DF09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A90B4F-12B9-4A23-8119-807AEB23D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95213F-EE84-4D5B-BE57-07F7D9C97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7B2A90-49CE-46A6-8F22-DCDDA0C6A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bae1cd14984766" /><Relationship Type="http://schemas.openxmlformats.org/officeDocument/2006/relationships/slideLayout" Target="/ppt/slideLayouts/slideLayout1.xml" Id="Rb2166fc95e9b400c" /><Relationship Type="http://schemas.openxmlformats.org/officeDocument/2006/relationships/slideLayout" Target="/ppt/slideLayouts/slideLayout2.xml" Id="R999747e80fb14cda" /><Relationship Type="http://schemas.openxmlformats.org/officeDocument/2006/relationships/slideLayout" Target="/ppt/slideLayouts/slideLayout3.xml" Id="Rbd54484a500b4015" /><Relationship Type="http://schemas.openxmlformats.org/officeDocument/2006/relationships/slideLayout" Target="/ppt/slideLayouts/slideLayout4.xml" Id="R87d53755c1bb40b9" /><Relationship Type="http://schemas.openxmlformats.org/officeDocument/2006/relationships/slideLayout" Target="/ppt/slideLayouts/slideLayout5.xml" Id="Rc23d0af4bd3d40bd" /><Relationship Type="http://schemas.openxmlformats.org/officeDocument/2006/relationships/slideLayout" Target="/ppt/slideLayouts/slideLayout6.xml" Id="Ra0cb8a91271f4f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66fc95e9b400c"/>
    <p:sldLayoutId xmlns:r="http://schemas.openxmlformats.org/officeDocument/2006/relationships" id="2147483650" r:id="R999747e80fb14cda"/>
    <p:sldLayoutId xmlns:r="http://schemas.openxmlformats.org/officeDocument/2006/relationships" id="2147483651" r:id="Rbd54484a500b4015"/>
    <p:sldLayoutId xmlns:r="http://schemas.openxmlformats.org/officeDocument/2006/relationships" id="2147483652" r:id="R87d53755c1bb40b9"/>
    <p:sldLayoutId xmlns:r="http://schemas.openxmlformats.org/officeDocument/2006/relationships" id="2147483653" r:id="Rc23d0af4bd3d40bd"/>
    <p:sldLayoutId xmlns:r="http://schemas.openxmlformats.org/officeDocument/2006/relationships" id="2147483654" r:id="Ra0cb8a91271f4f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cc61ed57d43b4" /><Relationship Type="http://schemas.openxmlformats.org/officeDocument/2006/relationships/notesSlide" Target="/ppt/notesSlides/notesSlide1.xml" Id="R6640f1742d1b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2ee4fcf6e4e6c" /><Relationship Type="http://schemas.openxmlformats.org/officeDocument/2006/relationships/notesSlide" Target="/ppt/notesSlides/notesSlide2.xml" Id="R98b02712691346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5c951039a4bcd" /><Relationship Type="http://schemas.openxmlformats.org/officeDocument/2006/relationships/image" Target="/ppt/media/image.jpeg" Id="R605f1b7c5b0042ad" /><Relationship Type="http://schemas.openxmlformats.org/officeDocument/2006/relationships/notesSlide" Target="/ppt/notesSlides/notesSlide3.xml" Id="R4a64cc1e8199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96d6849f24112" /><Relationship Type="http://schemas.openxmlformats.org/officeDocument/2006/relationships/notesSlide" Target="/ppt/notesSlides/notesSlide4.xml" Id="R54811e704d2e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698f6307b463d" /><Relationship Type="http://schemas.openxmlformats.org/officeDocument/2006/relationships/notesSlide" Target="/ppt/notesSlides/notesSlide5.xml" Id="R72d9448baf68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a3c5882874a23" /><Relationship Type="http://schemas.openxmlformats.org/officeDocument/2006/relationships/notesSlide" Target="/ppt/notesSlides/notesSlide6.xml" Id="Rbfcf98d3eb0c45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88a0ec8c642ee" /><Relationship Type="http://schemas.openxmlformats.org/officeDocument/2006/relationships/notesSlide" Target="/ppt/notesSlides/notesSlide7.xml" Id="R3e669b5800cf46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9b294c2804992" /><Relationship Type="http://schemas.openxmlformats.org/officeDocument/2006/relationships/image" Target="/ppt/media/image2.jpeg" Id="R406f523806ca4cbd" /><Relationship Type="http://schemas.openxmlformats.org/officeDocument/2006/relationships/image" Target="/ppt/media/image3.jpeg" Id="Rb20e312a2dec400b" /><Relationship Type="http://schemas.openxmlformats.org/officeDocument/2006/relationships/notesSlide" Target="/ppt/notesSlides/notesSlide8.xml" Id="Rfcc17a03da4441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ed36fe1b44174" /><Relationship Type="http://schemas.openxmlformats.org/officeDocument/2006/relationships/chart" Target="/ppt/slides/charts/chart1.xml" Id="Rffa17435064043ea" /><Relationship Type="http://schemas.openxmlformats.org/officeDocument/2006/relationships/notesSlide" Target="/ppt/notesSlides/notesSlide9.xml" Id="R70f5371604fc4d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e854e11c942eb" /><Relationship Type="http://schemas.openxmlformats.org/officeDocument/2006/relationships/chart" Target="/ppt/slides/charts/chart2.xml" Id="R025a2c2c0631475f" /><Relationship Type="http://schemas.openxmlformats.org/officeDocument/2006/relationships/notesSlide" Target="/ppt/notesSlides/notesSlide10.xml" Id="R7d82744e89df4b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c911b3ee64104" /><Relationship Type="http://schemas.openxmlformats.org/officeDocument/2006/relationships/chart" Target="/ppt/slides/charts/chart3.xml" Id="R55e98459e6084a26" /><Relationship Type="http://schemas.openxmlformats.org/officeDocument/2006/relationships/notesSlide" Target="/ppt/notesSlides/notesSlide11.xml" Id="Rd11d976cde9e43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46f52f04240c6" /><Relationship Type="http://schemas.openxmlformats.org/officeDocument/2006/relationships/chart" Target="/ppt/slides/charts/chart4.xml" Id="R67cab714e92e48a8" /><Relationship Type="http://schemas.openxmlformats.org/officeDocument/2006/relationships/notesSlide" Target="/ppt/notesSlides/notesSlide12.xml" Id="Re1073c307cf848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0eab805674edc" /><Relationship Type="http://schemas.openxmlformats.org/officeDocument/2006/relationships/chart" Target="/ppt/slides/charts/chart5.xml" Id="Raaca32ba2d1e40e8" /><Relationship Type="http://schemas.openxmlformats.org/officeDocument/2006/relationships/notesSlide" Target="/ppt/notesSlides/notesSlide13.xml" Id="R83a0258a45e846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f83f3897146da" /><Relationship Type="http://schemas.openxmlformats.org/officeDocument/2006/relationships/image" Target="/ppt/media/image4.jpeg" Id="R76b66aadb4b04a13" /><Relationship Type="http://schemas.openxmlformats.org/officeDocument/2006/relationships/notesSlide" Target="/ppt/notesSlides/notesSlide14.xml" Id="Rb8baa93c5ca14b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70b817afc45f6" /><Relationship Type="http://schemas.openxmlformats.org/officeDocument/2006/relationships/notesSlide" Target="/ppt/notesSlides/notesSlide15.xml" Id="Rbcd9713ed9864a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43b9ef3e840f7" /><Relationship Type="http://schemas.openxmlformats.org/officeDocument/2006/relationships/image" Target="/ppt/media/image5.jpeg" Id="Rfab727fc7e2b4037" /><Relationship Type="http://schemas.openxmlformats.org/officeDocument/2006/relationships/notesSlide" Target="/ppt/notesSlides/notesSlide16.xml" Id="R5e40e54c655f4e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04a5be78942df" /><Relationship Type="http://schemas.openxmlformats.org/officeDocument/2006/relationships/notesSlide" Target="/ppt/notesSlides/notesSlide17.xml" Id="R1b50e8bf39394d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b1ea10f50495f" /><Relationship Type="http://schemas.openxmlformats.org/officeDocument/2006/relationships/notesSlide" Target="/ppt/notesSlides/notesSlide18.xml" Id="R32be37d07f8140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c9bb05bc040fc" /><Relationship Type="http://schemas.openxmlformats.org/officeDocument/2006/relationships/chart" Target="/ppt/slides/charts/chart6.xml" Id="Rf4caf541c559472e" /><Relationship Type="http://schemas.openxmlformats.org/officeDocument/2006/relationships/notesSlide" Target="/ppt/notesSlides/notesSlide19.xml" Id="Rceafbc70b0264f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d93a04cad44061" /><Relationship Type="http://schemas.openxmlformats.org/officeDocument/2006/relationships/notesSlide" Target="/ppt/notesSlides/notesSlide20.xml" Id="Raf616051d31c4f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691b0d32b43a1" /><Relationship Type="http://schemas.openxmlformats.org/officeDocument/2006/relationships/notesSlide" Target="/ppt/notesSlides/notesSlide21.xml" Id="R094ea8f81dc147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dbfe42f1a44b0" /><Relationship Type="http://schemas.openxmlformats.org/officeDocument/2006/relationships/notesSlide" Target="/ppt/notesSlides/notesSlide22.xml" Id="Rd85c804e318046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开发集</c:v>
          </c:tx>
          <c:spPr>
            <a:solidFill xmlns:a="http://schemas.openxmlformats.org/drawingml/2006/main">
              <a:srgbClr val="C7923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事实</c:v>
                </c:pt>
                <c:pt idx="1">
                  <c:v>比较</c:v>
                </c:pt>
                <c:pt idx="2">
                  <c:v>综合</c:v>
                </c:pt>
                <c:pt idx="3">
                  <c:v>推理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v>测试集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事实</c:v>
                </c:pt>
                <c:pt idx="1">
                  <c:v>比较</c:v>
                </c:pt>
                <c:pt idx="2">
                  <c:v>综合</c:v>
                </c:pt>
                <c:pt idx="3">
                  <c:v>推理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22</c:v>
                </c:pt>
                <c:pt idx="1">
                  <c:v>16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73F5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向量</c:v>
          </c:tx>
          <c:spPr>
            <a:solidFill xmlns:a="http://schemas.openxmlformats.org/drawingml/2006/main">
              <a:srgbClr val="193A5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Hit@5</c:v>
                </c:pt>
                <c:pt idx="1">
                  <c:v>MRR</c:v>
                </c:pt>
                <c:pt idx="2">
                  <c:v>Recall@5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0.416666666667</c:v>
                </c:pt>
                <c:pt idx="1">
                  <c:v>0.299195464122</c:v>
                </c:pt>
                <c:pt idx="2">
                  <c:v>0.325</c:v>
                </c:pt>
              </c:numCache>
            </c:numRef>
          </c:val>
        </c:ser>
        <c:ser>
          <c:idx val="1"/>
          <c:order val="1"/>
          <c:tx>
            <c:v>混合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Hit@5</c:v>
                </c:pt>
                <c:pt idx="1">
                  <c:v>MRR</c:v>
                </c:pt>
                <c:pt idx="2">
                  <c:v>Recall@5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0.433333333333</c:v>
                </c:pt>
                <c:pt idx="1">
                  <c:v>0.353826095931</c:v>
                </c:pt>
                <c:pt idx="2">
                  <c:v>0.358333333333</c:v>
                </c:pt>
              </c:numCache>
            </c:numRef>
          </c:val>
        </c:ser>
        <c:ser>
          <c:idx val="2"/>
          <c:order val="2"/>
          <c:tx>
            <c:v>混合+重排</c:v>
          </c:tx>
          <c:spPr>
            <a:solidFill xmlns:a="http://schemas.openxmlformats.org/drawingml/2006/main">
              <a:srgbClr val="C7923A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Hit@5</c:v>
                </c:pt>
                <c:pt idx="1">
                  <c:v>MRR</c:v>
                </c:pt>
                <c:pt idx="2">
                  <c:v>Recall@5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0.616666666667</c:v>
                </c:pt>
                <c:pt idx="1">
                  <c:v>0.431346954702</c:v>
                </c:pt>
                <c:pt idx="2">
                  <c:v>0.475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73F5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73F5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Hit@5差值（百分点）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混合−向量</c:v>
                </c:pt>
                <c:pt idx="1">
                  <c:v>重排−混合</c:v>
                </c:pt>
                <c:pt idx="2">
                  <c:v>重排−向量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1.66666666667</c:v>
                </c:pt>
                <c:pt idx="1">
                  <c:v>18.3333333333</c:v>
                </c:pt>
                <c:pt idx="2">
                  <c:v>20</c:v>
                </c:pt>
              </c:numCache>
            </c:numRef>
          </c:val>
        </c:ser>
        <c:dLbls>
          <c:numFmt formatCode="+0.0;-0.0;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73F5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AI辅助均分</c:v>
          </c:tx>
          <c:spPr>
            <a:solidFill xmlns:a="http://schemas.openxmlformats.org/drawingml/2006/main">
              <a:srgbClr val="5688A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5688A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88A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688A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792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正确性</c:v>
                </c:pt>
                <c:pt idx="1">
                  <c:v>完整性</c:v>
                </c:pt>
                <c:pt idx="2">
                  <c:v>引用支撑</c:v>
                </c:pt>
                <c:pt idx="3">
                  <c:v>流畅性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3.5</c:v>
                </c:pt>
                <c:pt idx="1">
                  <c:v>2.98333333333</c:v>
                </c:pt>
                <c:pt idx="2">
                  <c:v>3.03333333333</c:v>
                </c:pt>
                <c:pt idx="3">
                  <c:v>4.58333333333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273F5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简化Prompt</c:v>
          </c:tx>
          <c:spPr>
            <a:solidFill xmlns:a="http://schemas.openxmlformats.org/drawingml/2006/main">
              <a:srgbClr val="C7923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正确性</c:v>
                </c:pt>
                <c:pt idx="1">
                  <c:v>完整性</c:v>
                </c:pt>
                <c:pt idx="2">
                  <c:v>引用支撑</c:v>
                </c:pt>
                <c:pt idx="3">
                  <c:v>流畅性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4.25</c:v>
                </c:pt>
                <c:pt idx="1">
                  <c:v>3.75</c:v>
                </c:pt>
                <c:pt idx="2">
                  <c:v>2.5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v>证据约束Prompt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正确性</c:v>
                </c:pt>
                <c:pt idx="1">
                  <c:v>完整性</c:v>
                </c:pt>
                <c:pt idx="2">
                  <c:v>引用支撑</c:v>
                </c:pt>
                <c:pt idx="3">
                  <c:v>流畅性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4.25</c:v>
                </c:pt>
                <c:pt idx="1">
                  <c:v>4</c:v>
                </c:pt>
                <c:pt idx="2">
                  <c:v>3.5</c:v>
                </c:pt>
                <c:pt idx="3">
                  <c:v>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73F5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.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73F5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Hit@5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固定256</c:v>
                </c:pt>
                <c:pt idx="1">
                  <c:v>固定512</c:v>
                </c:pt>
                <c:pt idx="2">
                  <c:v>固定1024</c:v>
                </c:pt>
                <c:pt idx="3">
                  <c:v>递归512</c:v>
                </c:pt>
                <c:pt idx="4">
                  <c:v>句段512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0.35</c:v>
                </c:pt>
                <c:pt idx="1">
                  <c:v>0.4</c:v>
                </c:pt>
                <c:pt idx="2">
                  <c:v>0.5</c:v>
                </c:pt>
                <c:pt idx="3">
                  <c:v>0.4</c:v>
                </c:pt>
                <c:pt idx="4">
                  <c:v>0.45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273F5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47F039FC-3B0B-4098-A838-C2B7E807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FD21F51-C4ED-4291-BE80-04F63B25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南京农业大学  智慧农业学院（人工智能学院）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08BA6F6-25BB-465E-AEC8-055F25A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智能科研助理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3C22455-954C-4B6F-83BB-222B248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基于 RAG + Agent 的论文知识库问答系统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2C6E780-6248-4865-9D81-5BF70285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课程设计答辩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C7A443B-1D25-44C9-84D9-1E4659F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赵志国   林骋   林弟伟</a:t>
            </a:r>
          </a:p>
        </p:txBody>
      </p:sp>
    </p:spTree>
    <p:extLst>
      <p:ext uri="{BB962C8B-B14F-4D97-AF65-F5344CB8AC3E}">
        <p14:creationId xmlns:p14="http://schemas.microsoft.com/office/powerpoint/2010/main" val="1413625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">
            <a:extLst xmlns:a="http://schemas.openxmlformats.org/drawingml/2006/main">
              <a:ext uri="{FF2B5EF4-FFF2-40B4-BE49-F238E27FC236}">
                <a16:creationId xmlns:a16="http://schemas.microsoft.com/office/drawing/2014/main" id="{A44033E4-2B2A-46FB-A8AA-CF8D6BF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项目问题与目标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F23D91F4-CE4D-4D77-AE83-8AA17E2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科研问答需要同时给出回答、来源和可回查的执行记录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92AA9AF3-95BB-4A02-8CF5-25D9210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8D1B7EB5-2D86-4670-A43D-D7B618EB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“ViT 与 CvT 的结构设计有哪些差异？”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3933060F-12BE-445F-8F26-39540DB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488445CE-63EC-4C67-B942-9B84930E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2C6E0282-EEC0-45CD-A562-C1F88C9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跨论文查找相关段落，保留文档和物理页位置。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41482879-14C3-4E02-94BB-12328E9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1F428ACF-0044-4145-933E-3D917F2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证据约束生成</a:t>
            </a:r>
          </a:p>
        </p:txBody>
      </p:sp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24C837A1-850A-4559-8819-55F540D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根据检索结果组织回答，并检查来源编号与数字。</a:t>
            </a:r>
          </a:p>
        </p:txBody>
      </p:sp>
      <p:sp>
        <p:nvSpPr>
          <p:cNvPr id="11" name="text-17">
            <a:extLst xmlns:a="http://schemas.openxmlformats.org/drawingml/2006/main">
              <a:ext uri="{FF2B5EF4-FFF2-40B4-BE49-F238E27FC236}">
                <a16:creationId xmlns:a16="http://schemas.microsoft.com/office/drawing/2014/main" id="{B6590727-533B-4A2A-83E8-F683C3E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E1224569-0A4D-4D7D-90F9-9F67ACA6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工具协作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D9EB1769-C201-4DED-91E8-FDA453DD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计算、论文信息和条件约束比较分别调用对应工具。</a:t>
            </a:r>
          </a:p>
        </p:txBody>
      </p:sp>
    </p:spTree>
    <p:extLst>
      <p:ext uri="{BB962C8B-B14F-4D97-AF65-F5344CB8AC3E}">
        <p14:creationId xmlns:p14="http://schemas.microsoft.com/office/powerpoint/2010/main" val="1953321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038E9D89-3BA7-472F-8BAD-A41314F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论文库与用户工作流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97F0B30F-A7E4-4C4B-9B2A-D37CF061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导入文档后，系统持续记录处理状态，并保留原件与索引信息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49395D16-1F31-446C-A171-7F4289B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实际项目界面，2026-10-10历史记录。页面数字属于截图当时的索引快照。</a:t>
            </a:r>
          </a:p>
        </p:txBody>
      </p:sp>
      <p:sp>
        <p:nvSpPr>
          <p:cNvPr id="4" name="text-23">
            <a:extLst xmlns:a="http://schemas.openxmlformats.org/drawingml/2006/main">
              <a:ext uri="{FF2B5EF4-FFF2-40B4-BE49-F238E27FC236}">
                <a16:creationId xmlns:a16="http://schemas.microsoft.com/office/drawing/2014/main" id="{AB263FDF-7FE6-4322-8C71-4A5520F2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A71B0-3938-4698-BF7B-9BE792C8A9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f1b7c5b0042ad"/>
          <a:stretch xmlns:a="http://schemas.openxmlformats.org/drawingml/2006/main"/>
        </p:blipFill>
        <p:spPr>
          <a:xfrm xmlns:a="http://schemas.openxmlformats.org/drawingml/2006/main">
            <a:off x="3679825" y="1809750"/>
            <a:ext cx="782320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text-24">
            <a:extLst xmlns:a="http://schemas.openxmlformats.org/drawingml/2006/main">
              <a:ext uri="{FF2B5EF4-FFF2-40B4-BE49-F238E27FC236}">
                <a16:creationId xmlns:a16="http://schemas.microsoft.com/office/drawing/2014/main" id="{0BE58867-ECFB-404D-AFEF-438BA6B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多格式导入</a:t>
            </a:r>
          </a:p>
        </p:txBody>
      </p:sp>
      <p:sp>
        <p:nvSpPr>
          <p:cNvPr id="7" name="text-25">
            <a:extLst xmlns:a="http://schemas.openxmlformats.org/drawingml/2006/main">
              <a:ext uri="{FF2B5EF4-FFF2-40B4-BE49-F238E27FC236}">
                <a16:creationId xmlns:a16="http://schemas.microsoft.com/office/drawing/2014/main" id="{0A8EC2F4-C8EB-4FA3-9844-2A1A15A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PDF、DOCX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TXT、Markdown</a:t>
            </a:r>
          </a:p>
        </p:txBody>
      </p:sp>
      <p:sp>
        <p:nvSpPr>
          <p:cNvPr id="8" name="text-26">
            <a:extLst xmlns:a="http://schemas.openxmlformats.org/drawingml/2006/main">
              <a:ext uri="{FF2B5EF4-FFF2-40B4-BE49-F238E27FC236}">
                <a16:creationId xmlns:a16="http://schemas.microsoft.com/office/drawing/2014/main" id="{95B8BA0E-CCAC-4763-8895-68670E31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状态与恢复</a:t>
            </a:r>
          </a:p>
        </p:txBody>
      </p:sp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62F34E08-8B19-405D-A517-7837E63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批量导入与进度跟踪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处理失败可以重试</a:t>
            </a:r>
          </a:p>
        </p:txBody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B0C0245C-C356-41F4-99F0-588B1A1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原件与元信息</a:t>
            </a:r>
          </a:p>
        </p:txBody>
      </p:sp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0489C9FE-222F-415C-8061-B824D93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论文信息编辑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原件下载与片段预览</a:t>
            </a:r>
          </a:p>
        </p:txBody>
      </p:sp>
    </p:spTree>
    <p:extLst>
      <p:ext uri="{BB962C8B-B14F-4D97-AF65-F5344CB8AC3E}">
        <p14:creationId xmlns:p14="http://schemas.microsoft.com/office/powerpoint/2010/main" val="1341531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6CF6EA-13A7-429F-8C52-0FCA176332D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2800350"/>
            <a:ext cx="3838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70808C"/>
            </a:solidFill>
            <a:tailEnd type="triangle" w="med" len="med"/>
          </a:ln>
        </p:spPr>
      </p:cxnSp>
      <p:sp>
        <p:nvSpPr>
          <p:cNvPr id="41" name="text-30">
            <a:extLst xmlns:a="http://schemas.openxmlformats.org/drawingml/2006/main">
              <a:ext uri="{FF2B5EF4-FFF2-40B4-BE49-F238E27FC236}">
                <a16:creationId xmlns:a16="http://schemas.microsoft.com/office/drawing/2014/main" id="{959D49D0-781E-46B0-BF53-9140EC4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4E9A0214-A885-43B6-925A-4DB45952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前端与服务分离，核心路由、证据处理和运行记录由项目代码控制</a:t>
            </a:r>
          </a:p>
        </p:txBody>
      </p:sp>
      <p:sp>
        <p:nvSpPr>
          <p:cNvPr id="3" name="text-32">
            <a:extLst xmlns:a="http://schemas.openxmlformats.org/drawingml/2006/main">
              <a:ext uri="{FF2B5EF4-FFF2-40B4-BE49-F238E27FC236}">
                <a16:creationId xmlns:a16="http://schemas.microsoft.com/office/drawing/2014/main" id="{D1AF3ED9-A6F5-45E4-95F5-5D8F6FA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核心依赖关系示意。基础模型、解析器与向量库由成熟依赖提供。</a:t>
            </a:r>
          </a:p>
        </p:txBody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411F53B9-B62B-4276-8062-F1CE4338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diagram-node-34">
            <a:extLst xmlns:a="http://schemas.openxmlformats.org/drawingml/2006/main">
              <a:ext uri="{FF2B5EF4-FFF2-40B4-BE49-F238E27FC236}">
                <a16:creationId xmlns:a16="http://schemas.microsoft.com/office/drawing/2014/main" id="{244B985D-503B-474E-B32A-9A3E057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5AD8E6A1-6C53-4798-ADF2-FA6CB8D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Streamlit 交互</a:t>
            </a:r>
          </a:p>
        </p:txBody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DBDC30AF-DAA3-4F3E-A01A-EE88B1A9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论文库、问答、比较、记录</a:t>
            </a:r>
          </a:p>
        </p:txBody>
      </p:sp>
      <p:sp>
        <p:nvSpPr>
          <p:cNvPr id="8" name="diagram-node-37">
            <a:extLst xmlns:a="http://schemas.openxmlformats.org/drawingml/2006/main">
              <a:ext uri="{FF2B5EF4-FFF2-40B4-BE49-F238E27FC236}">
                <a16:creationId xmlns:a16="http://schemas.microsoft.com/office/drawing/2014/main" id="{36055564-DBA1-4850-BDBF-46E5EE07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D1765CAD-70B4-4EE9-88A1-7220637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FastAPI 服务</a:t>
            </a:r>
          </a:p>
        </p:txBody>
      </p:sp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3120821E-F931-4C51-BB7F-6165BAA1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REST 接口与 SSE 流式响应</a:t>
            </a:r>
          </a:p>
        </p:txBody>
      </p:sp>
      <p:sp>
        <p:nvSpPr>
          <p:cNvPr id="11" name="diagram-node-40">
            <a:extLst xmlns:a="http://schemas.openxmlformats.org/drawingml/2006/main">
              <a:ext uri="{FF2B5EF4-FFF2-40B4-BE49-F238E27FC236}">
                <a16:creationId xmlns:a16="http://schemas.microsoft.com/office/drawing/2014/main" id="{B2FB8D70-7F27-4C97-9F6A-8E061D2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2C3B054B-F263-4593-B218-DC9EC92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运行观测</a:t>
            </a:r>
          </a:p>
        </p:txBody>
      </p:sp>
      <p:sp>
        <p:nvSpPr>
          <p:cNvPr id="13" name="text-42">
            <a:extLst xmlns:a="http://schemas.openxmlformats.org/drawingml/2006/main">
              <a:ext uri="{FF2B5EF4-FFF2-40B4-BE49-F238E27FC236}">
                <a16:creationId xmlns:a16="http://schemas.microsoft.com/office/drawing/2014/main" id="{25BFB28D-C29D-40CE-8053-4071DF9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会话、用量与工具轨迹</a:t>
            </a:r>
          </a:p>
        </p:txBody>
      </p:sp>
      <p:sp>
        <p:nvSpPr>
          <p:cNvPr id="14" name="diagram-node-43">
            <a:extLst xmlns:a="http://schemas.openxmlformats.org/drawingml/2006/main">
              <a:ext uri="{FF2B5EF4-FFF2-40B4-BE49-F238E27FC236}">
                <a16:creationId xmlns:a16="http://schemas.microsoft.com/office/drawing/2014/main" id="{8520D12B-FB6A-4AE1-8F63-10B96C4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5" name="text-44">
            <a:extLst xmlns:a="http://schemas.openxmlformats.org/drawingml/2006/main">
              <a:ext uri="{FF2B5EF4-FFF2-40B4-BE49-F238E27FC236}">
                <a16:creationId xmlns:a16="http://schemas.microsoft.com/office/drawing/2014/main" id="{98B49A59-8935-4690-B246-D089AA2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Agent 控制器</a:t>
            </a:r>
          </a:p>
        </p:txBody>
      </p:sp>
      <p:sp>
        <p:nvSpPr>
          <p:cNvPr id="16" name="text-45">
            <a:extLst xmlns:a="http://schemas.openxmlformats.org/drawingml/2006/main">
              <a:ext uri="{FF2B5EF4-FFF2-40B4-BE49-F238E27FC236}">
                <a16:creationId xmlns:a16="http://schemas.microsoft.com/office/drawing/2014/main" id="{65FA8799-278F-4B43-AAA7-89F4572E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路由、工具、记忆、有界重试</a:t>
            </a:r>
          </a:p>
        </p:txBody>
      </p:sp>
      <p:sp>
        <p:nvSpPr>
          <p:cNvPr id="17" name="diagram-node-46">
            <a:extLst xmlns:a="http://schemas.openxmlformats.org/drawingml/2006/main">
              <a:ext uri="{FF2B5EF4-FFF2-40B4-BE49-F238E27FC236}">
                <a16:creationId xmlns:a16="http://schemas.microsoft.com/office/drawing/2014/main" id="{AC4B2B4D-2C69-456F-BCAC-28AA07D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8" name="text-47">
            <a:extLst xmlns:a="http://schemas.openxmlformats.org/drawingml/2006/main">
              <a:ext uri="{FF2B5EF4-FFF2-40B4-BE49-F238E27FC236}">
                <a16:creationId xmlns:a16="http://schemas.microsoft.com/office/drawing/2014/main" id="{0D581643-CF5B-41BE-B366-64260AB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RAG 与检索</a:t>
            </a:r>
          </a:p>
        </p:txBody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49D37DAF-D9A2-4F99-9518-047979AE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Dense、BM25、RRF、重排</a:t>
            </a:r>
          </a:p>
        </p:txBody>
      </p:sp>
      <p:sp>
        <p:nvSpPr>
          <p:cNvPr id="20" name="diagram-node-49">
            <a:extLst xmlns:a="http://schemas.openxmlformats.org/drawingml/2006/main">
              <a:ext uri="{FF2B5EF4-FFF2-40B4-BE49-F238E27FC236}">
                <a16:creationId xmlns:a16="http://schemas.microsoft.com/office/drawing/2014/main" id="{5CC67B33-6AAB-44F3-8CBD-A97E46F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1" name="text-50">
            <a:extLst xmlns:a="http://schemas.openxmlformats.org/drawingml/2006/main">
              <a:ext uri="{FF2B5EF4-FFF2-40B4-BE49-F238E27FC236}">
                <a16:creationId xmlns:a16="http://schemas.microsoft.com/office/drawing/2014/main" id="{9FA6673A-0101-404A-96F9-8BE890E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rPr>
              <a:t>Ollama 本地模型</a:t>
            </a:r>
          </a:p>
        </p:txBody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4494B2B8-AFCA-48AA-8E79-8C97EA8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Qwen2.5-7B-Instruct</a:t>
            </a:r>
          </a:p>
        </p:txBody>
      </p:sp>
      <p:sp>
        <p:nvSpPr>
          <p:cNvPr id="23" name="diagram-node-52">
            <a:extLst xmlns:a="http://schemas.openxmlformats.org/drawingml/2006/main">
              <a:ext uri="{FF2B5EF4-FFF2-40B4-BE49-F238E27FC236}">
                <a16:creationId xmlns:a16="http://schemas.microsoft.com/office/drawing/2014/main" id="{4E24C8E6-3D25-4949-80B6-3DE8EC0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C2EE0A7F-00A3-4D78-B16A-5CF270C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文档处理</a:t>
            </a:r>
          </a:p>
        </p:txBody>
      </p:sp>
      <p:sp>
        <p:nvSpPr>
          <p:cNvPr id="25" name="text-54">
            <a:extLst xmlns:a="http://schemas.openxmlformats.org/drawingml/2006/main">
              <a:ext uri="{FF2B5EF4-FFF2-40B4-BE49-F238E27FC236}">
                <a16:creationId xmlns:a16="http://schemas.microsoft.com/office/drawing/2014/main" id="{BE165722-55D5-4B52-BCDE-DBAC4C48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解析、分块、原文位置传播</a:t>
            </a:r>
          </a:p>
        </p:txBody>
      </p:sp>
      <p:sp>
        <p:nvSpPr>
          <p:cNvPr id="26" name="diagram-node-55">
            <a:extLst xmlns:a="http://schemas.openxmlformats.org/drawingml/2006/main">
              <a:ext uri="{FF2B5EF4-FFF2-40B4-BE49-F238E27FC236}">
                <a16:creationId xmlns:a16="http://schemas.microsoft.com/office/drawing/2014/main" id="{F2A7E495-4A91-4F44-BD09-22D397C4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7" name="text-56">
            <a:extLst xmlns:a="http://schemas.openxmlformats.org/drawingml/2006/main">
              <a:ext uri="{FF2B5EF4-FFF2-40B4-BE49-F238E27FC236}">
                <a16:creationId xmlns:a16="http://schemas.microsoft.com/office/drawing/2014/main" id="{CE7FC732-28DA-4D10-8DAC-B5A5A59C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索引与模型</a:t>
            </a:r>
          </a:p>
        </p:txBody>
      </p:sp>
      <p:sp>
        <p:nvSpPr>
          <p:cNvPr id="28" name="text-57">
            <a:extLst xmlns:a="http://schemas.openxmlformats.org/drawingml/2006/main">
              <a:ext uri="{FF2B5EF4-FFF2-40B4-BE49-F238E27FC236}">
                <a16:creationId xmlns:a16="http://schemas.microsoft.com/office/drawing/2014/main" id="{1E3FA26E-5A9A-45EF-97D6-73ED7A3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Chroma / FAISS、BGE-M3</a:t>
            </a:r>
          </a:p>
        </p:txBody>
      </p:sp>
      <p:sp>
        <p:nvSpPr>
          <p:cNvPr id="29" name="diagram-node-58">
            <a:extLst xmlns:a="http://schemas.openxmlformats.org/drawingml/2006/main">
              <a:ext uri="{FF2B5EF4-FFF2-40B4-BE49-F238E27FC236}">
                <a16:creationId xmlns:a16="http://schemas.microsoft.com/office/drawing/2014/main" id="{92463A90-04CA-4953-BE27-A5C9C61B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30" name="text-59">
            <a:extLst xmlns:a="http://schemas.openxmlformats.org/drawingml/2006/main">
              <a:ext uri="{FF2B5EF4-FFF2-40B4-BE49-F238E27FC236}">
                <a16:creationId xmlns:a16="http://schemas.microsoft.com/office/drawing/2014/main" id="{E09787BC-F3AB-4463-835F-203EC1E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原件与元数据</a:t>
            </a:r>
          </a:p>
        </p:txBody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C355DB5C-96A4-4B81-A855-53EDBC1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物理页、文档ID、内容哈希</a:t>
            </a:r>
          </a:p>
        </p:txBody>
      </p:sp>
      <p:sp>
        <p:nvSpPr>
          <p:cNvPr id="32" name="diagram-link-61">
            <a:extLst xmlns:a="http://schemas.openxmlformats.org/drawingml/2006/main">
              <a:ext uri="{FF2B5EF4-FFF2-40B4-BE49-F238E27FC236}">
                <a16:creationId xmlns:a16="http://schemas.microsoft.com/office/drawing/2014/main" id="{EB90B935-6E94-40FD-9227-1C36696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3" name="diagram-link-62">
            <a:extLst xmlns:a="http://schemas.openxmlformats.org/drawingml/2006/main">
              <a:ext uri="{FF2B5EF4-FFF2-40B4-BE49-F238E27FC236}">
                <a16:creationId xmlns:a16="http://schemas.microsoft.com/office/drawing/2014/main" id="{9B48FDD2-37CA-4B2C-885B-DEB2F91D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812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4" name="diagram-link-63">
            <a:extLst xmlns:a="http://schemas.openxmlformats.org/drawingml/2006/main">
              <a:ext uri="{FF2B5EF4-FFF2-40B4-BE49-F238E27FC236}">
                <a16:creationId xmlns:a16="http://schemas.microsoft.com/office/drawing/2014/main" id="{26227E70-3332-402A-9B41-D938116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5" name="diagram-link-64">
            <a:extLst xmlns:a="http://schemas.openxmlformats.org/drawingml/2006/main">
              <a:ext uri="{FF2B5EF4-FFF2-40B4-BE49-F238E27FC236}">
                <a16:creationId xmlns:a16="http://schemas.microsoft.com/office/drawing/2014/main" id="{BA313825-734E-4F47-9B63-0E9E4FA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6237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6" name="diagram-link-65">
            <a:extLst xmlns:a="http://schemas.openxmlformats.org/drawingml/2006/main">
              <a:ext uri="{FF2B5EF4-FFF2-40B4-BE49-F238E27FC236}">
                <a16:creationId xmlns:a16="http://schemas.microsoft.com/office/drawing/2014/main" id="{195C916A-67C8-40B1-818B-E353A3B4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435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7" name="diagram-link-66">
            <a:extLst xmlns:a="http://schemas.openxmlformats.org/drawingml/2006/main">
              <a:ext uri="{FF2B5EF4-FFF2-40B4-BE49-F238E27FC236}">
                <a16:creationId xmlns:a16="http://schemas.microsoft.com/office/drawing/2014/main" id="{85D845DE-94D1-4E99-9D4A-8CFD12BA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435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8" name="diagram-link-67">
            <a:extLst xmlns:a="http://schemas.openxmlformats.org/drawingml/2006/main">
              <a:ext uri="{FF2B5EF4-FFF2-40B4-BE49-F238E27FC236}">
                <a16:creationId xmlns:a16="http://schemas.microsoft.com/office/drawing/2014/main" id="{6B7FBF6F-057D-4D49-84D2-9971C1B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41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9" name="diagram-link-68">
            <a:extLst xmlns:a="http://schemas.openxmlformats.org/drawingml/2006/main">
              <a:ext uri="{FF2B5EF4-FFF2-40B4-BE49-F238E27FC236}">
                <a16:creationId xmlns:a16="http://schemas.microsoft.com/office/drawing/2014/main" id="{7ACD7EA8-674F-44B8-851B-7957411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0532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2600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9">
            <a:extLst xmlns:a="http://schemas.openxmlformats.org/drawingml/2006/main">
              <a:ext uri="{FF2B5EF4-FFF2-40B4-BE49-F238E27FC236}">
                <a16:creationId xmlns:a16="http://schemas.microsoft.com/office/drawing/2014/main" id="{33A0F133-2703-4E12-8296-6E5AC0D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文档处理与原文位置传播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9E3E7A79-E042-4618-944F-BA39F5E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解析质量、切分策略和编码边界共同影响后续检索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269A33BA-E66A-4026-8EDF-D0C58574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10篇固定版本PDF，共169物理页。锚点保留率仅用于解析对照。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1BB28E23-A466-42AF-9BDF-359496D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D1FF5-9137-41CA-B21E-1D93692CBA7E}"/>
              </a:ext>
            </a:extLst>
          </p:cNvPr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10820400" cy="2066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429000"/>
                <a:gridCol w="3771900"/>
              </a:tblGrid>
              <a:tr h="5167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解析器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累计耗时 / s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锚点恢复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PyMuPDF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38.56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119/119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pdfplumber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119/119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1673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PyPDF2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9.12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114/119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F9249832-2C10-47A9-B8F5-0369250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三类切分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5D51E6FD-4A11-46B1-B998-965A28B5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33875"/>
            <a:ext cx="861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固定长度 256 / 512 / 1024，递归边界，句子与段落边界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FA2A1253-8865-4A2D-8CCE-3CE87B0A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来源与编码边界</a:t>
            </a:r>
          </a:p>
        </p:txBody>
      </p:sp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204C79C0-B43A-432C-868B-EFB6BC92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00650"/>
            <a:ext cx="807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片段保留文档ID与物理页；长文本按原始 token-ID 分窗，保留尾部。</a:t>
            </a:r>
          </a:p>
        </p:txBody>
      </p:sp>
    </p:spTree>
    <p:extLst>
      <p:ext uri="{BB962C8B-B14F-4D97-AF65-F5344CB8AC3E}">
        <p14:creationId xmlns:p14="http://schemas.microsoft.com/office/powerpoint/2010/main" val="1100321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77">
            <a:extLst xmlns:a="http://schemas.openxmlformats.org/drawingml/2006/main">
              <a:ext uri="{FF2B5EF4-FFF2-40B4-BE49-F238E27FC236}">
                <a16:creationId xmlns:a16="http://schemas.microsoft.com/office/drawing/2014/main" id="{9E63BA31-B824-4527-9E30-7E6E1312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混合检索与证据约束生成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7DECF145-9DAD-4D77-B425-75FC69D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语义召回和关键词召回先融合，再按需调用交叉编码重排</a:t>
            </a:r>
          </a:p>
        </p:txBody>
      </p:sp>
      <p:sp>
        <p:nvSpPr>
          <p:cNvPr id="3" name="text-79">
            <a:extLst xmlns:a="http://schemas.openxmlformats.org/drawingml/2006/main">
              <a:ext uri="{FF2B5EF4-FFF2-40B4-BE49-F238E27FC236}">
                <a16:creationId xmlns:a16="http://schemas.microsoft.com/office/drawing/2014/main" id="{08FB965C-1075-46F9-90B7-90D88EC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默认参数：RRF常数60，候选20条，返回Top-5。各实验配置另行记录。</a:t>
            </a:r>
          </a:p>
        </p:txBody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4AFF41D6-DE65-4EC6-B0D1-FA1B1A4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diagram-node-81">
            <a:extLst xmlns:a="http://schemas.openxmlformats.org/drawingml/2006/main">
              <a:ext uri="{FF2B5EF4-FFF2-40B4-BE49-F238E27FC236}">
                <a16:creationId xmlns:a16="http://schemas.microsoft.com/office/drawing/2014/main" id="{E37EDA7A-2096-4EAB-A270-2C3B725F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6" name="text-82">
            <a:extLst xmlns:a="http://schemas.openxmlformats.org/drawingml/2006/main">
              <a:ext uri="{FF2B5EF4-FFF2-40B4-BE49-F238E27FC236}">
                <a16:creationId xmlns:a16="http://schemas.microsoft.com/office/drawing/2014/main" id="{81FD5DB5-6C00-4FC1-9746-0C4987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两路召回</a:t>
            </a:r>
          </a:p>
        </p:txBody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C66076DD-D23A-4771-A325-F722BFB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Dense 语义检索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BM25 关键词检索</a:t>
            </a:r>
          </a:p>
        </p:txBody>
      </p:sp>
      <p:sp>
        <p:nvSpPr>
          <p:cNvPr id="8" name="diagram-link-84">
            <a:extLst xmlns:a="http://schemas.openxmlformats.org/drawingml/2006/main">
              <a:ext uri="{FF2B5EF4-FFF2-40B4-BE49-F238E27FC236}">
                <a16:creationId xmlns:a16="http://schemas.microsoft.com/office/drawing/2014/main" id="{D655BAF2-7115-4E48-835F-C69A306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9" name="diagram-node-85">
            <a:extLst xmlns:a="http://schemas.openxmlformats.org/drawingml/2006/main">
              <a:ext uri="{FF2B5EF4-FFF2-40B4-BE49-F238E27FC236}">
                <a16:creationId xmlns:a16="http://schemas.microsoft.com/office/drawing/2014/main" id="{AACD6EE3-C0DC-449F-B25D-66357DF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0" name="text-86">
            <a:extLst xmlns:a="http://schemas.openxmlformats.org/drawingml/2006/main">
              <a:ext uri="{FF2B5EF4-FFF2-40B4-BE49-F238E27FC236}">
                <a16:creationId xmlns:a16="http://schemas.microsoft.com/office/drawing/2014/main" id="{7D4451E0-A909-40E6-BA44-354BE9F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RRF 融合</a:t>
            </a:r>
          </a:p>
        </p:txBody>
      </p:sp>
      <p:sp>
        <p:nvSpPr>
          <p:cNvPr id="11" name="text-87">
            <a:extLst xmlns:a="http://schemas.openxmlformats.org/drawingml/2006/main">
              <a:ext uri="{FF2B5EF4-FFF2-40B4-BE49-F238E27FC236}">
                <a16:creationId xmlns:a16="http://schemas.microsoft.com/office/drawing/2014/main" id="{D471B131-7C66-462D-B8FE-36B6322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按候选名次融合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减少分数尺度差异</a:t>
            </a:r>
          </a:p>
        </p:txBody>
      </p:sp>
      <p:sp>
        <p:nvSpPr>
          <p:cNvPr id="12" name="diagram-link-88">
            <a:extLst xmlns:a="http://schemas.openxmlformats.org/drawingml/2006/main">
              <a:ext uri="{FF2B5EF4-FFF2-40B4-BE49-F238E27FC236}">
                <a16:creationId xmlns:a16="http://schemas.microsoft.com/office/drawing/2014/main" id="{06230703-E46A-4F57-B7CC-8D99389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13" name="diagram-node-89">
            <a:extLst xmlns:a="http://schemas.openxmlformats.org/drawingml/2006/main">
              <a:ext uri="{FF2B5EF4-FFF2-40B4-BE49-F238E27FC236}">
                <a16:creationId xmlns:a16="http://schemas.microsoft.com/office/drawing/2014/main" id="{FEC39BDC-BB62-4FE1-8FF0-898173C4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28C289FD-5CF8-4BDE-8D4C-9101659F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rPr>
              <a:t>交叉编码重排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25931289-660C-4D0A-BA6D-FC8FAB5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联合编码问题与片段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重新计算相关性</a:t>
            </a:r>
          </a:p>
        </p:txBody>
      </p:sp>
      <p:sp>
        <p:nvSpPr>
          <p:cNvPr id="16" name="diagram-link-92">
            <a:extLst xmlns:a="http://schemas.openxmlformats.org/drawingml/2006/main">
              <a:ext uri="{FF2B5EF4-FFF2-40B4-BE49-F238E27FC236}">
                <a16:creationId xmlns:a16="http://schemas.microsoft.com/office/drawing/2014/main" id="{2778C782-C96E-43D7-BB89-3EF0F4C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17" name="diagram-node-93">
            <a:extLst xmlns:a="http://schemas.openxmlformats.org/drawingml/2006/main">
              <a:ext uri="{FF2B5EF4-FFF2-40B4-BE49-F238E27FC236}">
                <a16:creationId xmlns:a16="http://schemas.microsoft.com/office/drawing/2014/main" id="{97880B3F-07A7-4DFF-9967-68C97F7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8" name="text-94">
            <a:extLst xmlns:a="http://schemas.openxmlformats.org/drawingml/2006/main">
              <a:ext uri="{FF2B5EF4-FFF2-40B4-BE49-F238E27FC236}">
                <a16:creationId xmlns:a16="http://schemas.microsoft.com/office/drawing/2014/main" id="{BB3B1BD6-701B-47C2-8882-0943AC8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证据约束生成</a:t>
            </a:r>
          </a:p>
        </p:txBody>
      </p:sp>
      <p:sp>
        <p:nvSpPr>
          <p:cNvPr id="19" name="text-95">
            <a:extLst xmlns:a="http://schemas.openxmlformats.org/drawingml/2006/main">
              <a:ext uri="{FF2B5EF4-FFF2-40B4-BE49-F238E27FC236}">
                <a16:creationId xmlns:a16="http://schemas.microsoft.com/office/drawing/2014/main" id="{239326BA-E5A8-4630-9134-EEA9B63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来源编号绑定原文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规则审校后返回</a:t>
            </a:r>
          </a:p>
        </p:txBody>
      </p:sp>
      <p:sp>
        <p:nvSpPr>
          <p:cNvPr id="20" name="text-96">
            <a:extLst xmlns:a="http://schemas.openxmlformats.org/drawingml/2006/main">
              <a:ext uri="{FF2B5EF4-FFF2-40B4-BE49-F238E27FC236}">
                <a16:creationId xmlns:a16="http://schemas.microsoft.com/office/drawing/2014/main" id="{492EDC4C-37F0-46D4-BA6F-36F1F53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RRF(d) = Σ 1 / (k + rank(d))</a:t>
            </a:r>
          </a:p>
        </p:txBody>
      </p:sp>
      <p:sp>
        <p:nvSpPr>
          <p:cNvPr id="21" name="text-97">
            <a:extLst xmlns:a="http://schemas.openxmlformats.org/drawingml/2006/main">
              <a:ext uri="{FF2B5EF4-FFF2-40B4-BE49-F238E27FC236}">
                <a16:creationId xmlns:a16="http://schemas.microsoft.com/office/drawing/2014/main" id="{11224136-95E5-4371-9B21-8ADD4F2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超出证据支持范围的问题保留核查提示，来源编号映射由服务器维护。</a:t>
            </a:r>
          </a:p>
        </p:txBody>
      </p:sp>
    </p:spTree>
    <p:extLst>
      <p:ext uri="{BB962C8B-B14F-4D97-AF65-F5344CB8AC3E}">
        <p14:creationId xmlns:p14="http://schemas.microsoft.com/office/powerpoint/2010/main" val="1864567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4213C986-131B-49C4-B2CE-8046C203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Agent 路由与八类工具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F733C2EE-946D-4BC7-9E0A-D403F78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简单任务走快捷路由，复杂任务进入有界的动作与观察循环</a:t>
            </a:r>
          </a:p>
        </p:txBody>
      </p:sp>
      <p:sp>
        <p:nvSpPr>
          <p:cNvPr id="3" name="text-100">
            <a:extLst xmlns:a="http://schemas.openxmlformats.org/drawingml/2006/main">
              <a:ext uri="{FF2B5EF4-FFF2-40B4-BE49-F238E27FC236}">
                <a16:creationId xmlns:a16="http://schemas.microsoft.com/office/drawing/2014/main" id="{8E042EC8-8240-4D9B-AF74-AFA829E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执行限制覆盖步数、超时、重试次数与参数校验。五个路由探针仅作为功能样本。</a:t>
            </a:r>
          </a:p>
        </p:txBody>
      </p:sp>
      <p:sp>
        <p:nvSpPr>
          <p:cNvPr id="4" name="text-101">
            <a:extLst xmlns:a="http://schemas.openxmlformats.org/drawingml/2006/main">
              <a:ext uri="{FF2B5EF4-FFF2-40B4-BE49-F238E27FC236}">
                <a16:creationId xmlns:a16="http://schemas.microsoft.com/office/drawing/2014/main" id="{B5EB2055-972C-4136-80B3-C172075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6392-6AF8-4374-AB76-26205B1F7546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276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3867150"/>
                <a:gridCol w="4781550"/>
              </a:tblGrid>
              <a:tr h="4751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任务示例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知识库问答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检索证据并生成回答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说明论文方法与原文依据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论文摘要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聚合论文主要内容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概括方法、实验和局限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论文信息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读取结构化元信息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查询作者、年份和论文标题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论文比较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约束条件的结构化对照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按相同任务和指标比较论文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关键词提取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提取文本关键词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概括一段文本的主题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数值计算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受限表达式计算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3.14 × 2.56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日期与时间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返回服务器日期和时间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查询当前日期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文献目录检索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查询已入库文献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按标题关键词确定论文范围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884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C7F2518A-243F-47CF-B357-BF7F05E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回答与原文证据回查</a:t>
            </a: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0E90263F-14A1-452F-9D56-9F02F38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来源编号关联文档与物理页，用户可以打开原件核对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BE05843E-B56A-4119-9A8F-13F47B84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真实界面，2026-10-10历史记录。两图用于功能说明，不构造同题受控前后对照。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74B2082D-25BE-4971-B679-26145D52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CC035B35-D188-4D91-9FAC-C81A34A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科研问答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A4B49723-05A6-472D-A466-1D4A186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62125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原文证据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7E557-9473-4EA9-8F7F-68BB60F2E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f523806ca4cbd"/>
          <a:stretch xmlns:a="http://schemas.openxmlformats.org/drawingml/2006/main"/>
        </p:blipFill>
        <p:spPr>
          <a:xfrm xmlns:a="http://schemas.openxmlformats.org/drawingml/2006/main">
            <a:off x="685800" y="2308027"/>
            <a:ext cx="5238750" cy="294679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4FE43-4A70-4BFA-A6B8-F7F9123E5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e312a2dec400b"/>
          <a:stretch xmlns:a="http://schemas.openxmlformats.org/drawingml/2006/main"/>
        </p:blipFill>
        <p:spPr>
          <a:xfrm xmlns:a="http://schemas.openxmlformats.org/drawingml/2006/main">
            <a:off x="6315075" y="2321421"/>
            <a:ext cx="5191125" cy="2920008"/>
          </a:xfrm>
          <a:prstGeom xmlns:a="http://schemas.openxmlformats.org/drawingml/2006/main" prst="rect">
            <a:avLst/>
          </a:prstGeom>
        </p:spPr>
      </p:pic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4ADF2019-DC4D-40FA-A16C-C6C44CCB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回答、来源与执行过程同时保留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4BC52AED-061B-4786-9787-4E5F55B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530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原文页预览与片段位置相互核对</a:t>
            </a:r>
          </a:p>
        </p:txBody>
      </p:sp>
    </p:spTree>
    <p:extLst>
      <p:ext uri="{BB962C8B-B14F-4D97-AF65-F5344CB8AC3E}">
        <p14:creationId xmlns:p14="http://schemas.microsoft.com/office/powerpoint/2010/main" val="140605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47738D57-5B6A-4519-AD33-12425B6C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评测设计与数据划分</a:t>
            </a:r>
          </a:p>
        </p:txBody>
      </p:sp>
      <p:sp>
        <p:nvSpPr>
          <p:cNvPr id="2" name="text-111">
            <a:extLst xmlns:a="http://schemas.openxmlformats.org/drawingml/2006/main">
              <a:ext uri="{FF2B5EF4-FFF2-40B4-BE49-F238E27FC236}">
                <a16:creationId xmlns:a16="http://schemas.microsoft.com/office/drawing/2014/main" id="{E650E944-DDD0-47FA-AD1E-D0A82CB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固定10篇视觉Transformer论文，以20道开发题选配置、60道测试题记录结果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074D629E-DE45-4815-A3A6-D9C31C70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共80题、169物理页。测试集评测使用历史冻结的359片段索引。</a:t>
            </a:r>
          </a:p>
        </p:txBody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94F37A46-71B7-4B02-9C7F-D69470A3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A07B88-8699-4B21-949E-3EE8CC73E186}"/>
              </a:ext>
            </a:extLst>
          </p:cNvPr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7200900" cy="4124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a17435064043ea"/>
          </a:graphicData>
        </a:graphic>
      </p:graphicFrame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56D49F20-9F60-46E1-B2A4-23DB048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三类结果分别解释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DCC0F0D6-AAA9-4B2D-A7BD-59635C33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开发实验、正式检索评测、本地工作流验收分别保存配置。</a:t>
            </a:r>
          </a:p>
        </p:txBody>
      </p:sp>
      <p:sp>
        <p:nvSpPr>
          <p:cNvPr id="8" name="text-116">
            <a:extLst xmlns:a="http://schemas.openxmlformats.org/drawingml/2006/main">
              <a:ext uri="{FF2B5EF4-FFF2-40B4-BE49-F238E27FC236}">
                <a16:creationId xmlns:a16="http://schemas.microsoft.com/office/drawing/2014/main" id="{621D651F-249C-47A5-ABAE-EEE64ED9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题号配对比较</a:t>
            </a:r>
          </a:p>
        </p:txBody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CBCED5DA-B1E9-4126-A2EE-99A1626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同题在三种模式间配对。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避免用不同题集计算增益。</a:t>
            </a:r>
          </a:p>
        </p:txBody>
      </p:sp>
    </p:spTree>
    <p:extLst>
      <p:ext uri="{BB962C8B-B14F-4D97-AF65-F5344CB8AC3E}">
        <p14:creationId xmlns:p14="http://schemas.microsoft.com/office/powerpoint/2010/main" val="845984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2438D671-E3C9-4336-A3DB-4788C82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重排提高证据覆盖，同时增加排序开销</a:t>
            </a:r>
          </a:p>
        </p:txBody>
      </p:sp>
      <p:sp>
        <p:nvSpPr>
          <p:cNvPr id="2" name="text-119">
            <a:extLst xmlns:a="http://schemas.openxmlformats.org/drawingml/2006/main">
              <a:ext uri="{FF2B5EF4-FFF2-40B4-BE49-F238E27FC236}">
                <a16:creationId xmlns:a16="http://schemas.microsoft.com/office/drawing/2014/main" id="{41E45EF6-122C-427A-A2CB-5C9F2CA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相同60道测试题上，Hit@5由向量检索的41.67%提高至61.67%</a:t>
            </a:r>
          </a:p>
        </p:txBody>
      </p:sp>
      <p:sp>
        <p:nvSpPr>
          <p:cNvPr id="3" name="text-120">
            <a:extLst xmlns:a="http://schemas.openxmlformats.org/drawingml/2006/main">
              <a:ext uri="{FF2B5EF4-FFF2-40B4-BE49-F238E27FC236}">
                <a16:creationId xmlns:a16="http://schemas.microsoft.com/office/drawing/2014/main" id="{D08402A3-A7DC-426E-BCB7-794172F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排序耗时排除共享查询编码和LLM生成。重排在CPU执行，不是完整在线问答时延。</a:t>
            </a:r>
          </a:p>
        </p:txBody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C3726D44-C5EE-4E5F-B8ED-19FF693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B5745FF-8291-4368-B761-D80E1C2B5C4C}"/>
              </a:ext>
            </a:extLst>
          </p:cNvPr>
          <p:cNvGraphicFramePr/>
          <p:nvPr/>
        </p:nvGraphicFramePr>
        <p:xfrm>
          <a:off xmlns:a="http://schemas.openxmlformats.org/drawingml/2006/main" x="495300" y="1885950"/>
          <a:ext xmlns:a="http://schemas.openxmlformats.org/drawingml/2006/main" cx="695325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5a2c2c0631475f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49E3C-2A34-4305-9D1F-054AD18320A9}"/>
              </a:ext>
            </a:extLst>
          </p:cNvPr>
          <p:cNvGraphicFramePr/>
          <p:nvPr/>
        </p:nvGraphicFramePr>
        <p:xfrm>
          <a:off xmlns:a="http://schemas.openxmlformats.org/drawingml/2006/main" x="7829550" y="2295525"/>
          <a:ext xmlns:a="http://schemas.openxmlformats.org/drawingml/2006/main" cx="36766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66900"/>
              </a:tblGrid>
              <a:tr h="5357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平均排序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3.20 ms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8.27 ms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混合+重排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16.71 s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122">
            <a:extLst xmlns:a="http://schemas.openxmlformats.org/drawingml/2006/main">
              <a:ext uri="{FF2B5EF4-FFF2-40B4-BE49-F238E27FC236}">
                <a16:creationId xmlns:a16="http://schemas.microsoft.com/office/drawing/2014/main" id="{F42FF9A4-0A3C-4F55-9974-226C482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3676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质量与时延需要按任务权衡</a:t>
            </a:r>
          </a:p>
        </p:txBody>
      </p:sp>
    </p:spTree>
    <p:extLst>
      <p:ext uri="{BB962C8B-B14F-4D97-AF65-F5344CB8AC3E}">
        <p14:creationId xmlns:p14="http://schemas.microsoft.com/office/powerpoint/2010/main" val="167359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23">
            <a:extLst xmlns:a="http://schemas.openxmlformats.org/drawingml/2006/main">
              <a:ext uri="{FF2B5EF4-FFF2-40B4-BE49-F238E27FC236}">
                <a16:creationId xmlns:a16="http://schemas.microsoft.com/office/drawing/2014/main" id="{DBA53B9F-2234-4994-B770-D0995B0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逐题配对结果支持增益，也显示不确定性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4C783321-8731-4FA6-B953-9B45D39A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10,000次题目级配对Bootstrap，固定种子20261017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3CEAEE07-710B-40C1-90CA-983A4E2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差值按同题配对计算。区间反映题目抽样不确定性，不等同多次模型运行方差。</a:t>
            </a:r>
          </a:p>
        </p:txBody>
      </p:sp>
      <p:sp>
        <p:nvSpPr>
          <p:cNvPr id="4" name="text-126">
            <a:extLst xmlns:a="http://schemas.openxmlformats.org/drawingml/2006/main">
              <a:ext uri="{FF2B5EF4-FFF2-40B4-BE49-F238E27FC236}">
                <a16:creationId xmlns:a16="http://schemas.microsoft.com/office/drawing/2014/main" id="{B101EB4C-2E88-43E7-9958-7142F05B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-127">
            <a:extLst xmlns:a="http://schemas.openxmlformats.org/drawingml/2006/main">
              <a:ext uri="{FF2B5EF4-FFF2-40B4-BE49-F238E27FC236}">
                <a16:creationId xmlns:a16="http://schemas.microsoft.com/office/drawing/2014/main" id="{A89CA129-A308-42E2-8481-FFA583F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Hit@5差值 / 百分点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7466383-7EC4-4A19-B060-44355632EC63}"/>
              </a:ext>
            </a:extLst>
          </p:cNvPr>
          <p:cNvGraphicFramePr/>
          <p:nvPr/>
        </p:nvGraphicFramePr>
        <p:xfrm>
          <a:off xmlns:a="http://schemas.openxmlformats.org/drawingml/2006/main" x="542925" y="2143125"/>
          <a:ext xmlns:a="http://schemas.openxmlformats.org/drawingml/2006/main" cx="65055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e98459e6084a26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D9005-7F80-4241-94CB-E59D5D0EDE91}"/>
              </a:ext>
            </a:extLst>
          </p:cNvPr>
          <p:cNvGraphicFramePr/>
          <p:nvPr/>
        </p:nvGraphicFramePr>
        <p:xfrm>
          <a:off xmlns:a="http://schemas.openxmlformats.org/drawingml/2006/main" x="7400925" y="2333625"/>
          <a:ext xmlns:a="http://schemas.openxmlformats.org/drawingml/2006/main" cx="410527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95525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95%区间 / 百分点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混合−向量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[-8.33, 13.33]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重排−混合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[8.33, 30.00]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重排−向量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[10.00, 31.67]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28">
            <a:extLst xmlns:a="http://schemas.openxmlformats.org/drawingml/2006/main">
              <a:ext uri="{FF2B5EF4-FFF2-40B4-BE49-F238E27FC236}">
                <a16:creationId xmlns:a16="http://schemas.microsoft.com/office/drawing/2014/main" id="{809A7251-E1E3-4C77-85AD-A96A205E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91075"/>
            <a:ext cx="38766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混合相对向量的区间跨零，不能只根据均值判断稳定改善。</a:t>
            </a:r>
          </a:p>
        </p:txBody>
      </p:sp>
    </p:spTree>
    <p:extLst>
      <p:ext uri="{BB962C8B-B14F-4D97-AF65-F5344CB8AC3E}">
        <p14:creationId xmlns:p14="http://schemas.microsoft.com/office/powerpoint/2010/main" val="36554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55F65673-F30C-4EAB-8CEF-934FDFC1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流畅表达仍需正确性与引用核查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71C37190-7DD0-4695-BD47-975E7A9F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60条回答的AI辅助量表评分，1–5分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5A8F9F75-5F1F-434A-B073-821BC3C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评分来源为AI辅助评审。尚无独立人工评分，一维均分不解释为正确率。</a:t>
            </a:r>
          </a:p>
        </p:txBody>
      </p:sp>
      <p:sp>
        <p:nvSpPr>
          <p:cNvPr id="4" name="text-132">
            <a:extLst xmlns:a="http://schemas.openxmlformats.org/drawingml/2006/main">
              <a:ext uri="{FF2B5EF4-FFF2-40B4-BE49-F238E27FC236}">
                <a16:creationId xmlns:a16="http://schemas.microsoft.com/office/drawing/2014/main" id="{142ED53F-E75A-4EEC-A06E-D8DDA56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14D69D8-9815-469D-BA38-A4ABDCB6B58C}"/>
              </a:ext>
            </a:extLst>
          </p:cNvPr>
          <p:cNvGraphicFramePr/>
          <p:nvPr/>
        </p:nvGraphicFramePr>
        <p:xfrm>
          <a:off xmlns:a="http://schemas.openxmlformats.org/drawingml/2006/main" x="523875" y="1885950"/>
          <a:ext xmlns:a="http://schemas.openxmlformats.org/drawingml/2006/main" cx="7305675" cy="4124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cab714e92e48a8"/>
          </a:graphicData>
        </a:graphic>
      </p:graphicFrame>
      <p:sp>
        <p:nvSpPr>
          <p:cNvPr id="6" name="text-133">
            <a:extLst xmlns:a="http://schemas.openxmlformats.org/drawingml/2006/main">
              <a:ext uri="{FF2B5EF4-FFF2-40B4-BE49-F238E27FC236}">
                <a16:creationId xmlns:a16="http://schemas.microsoft.com/office/drawing/2014/main" id="{7B76514E-2842-4EC8-97BA-8B8656C2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7" name="text-134">
            <a:extLst xmlns:a="http://schemas.openxmlformats.org/drawingml/2006/main">
              <a:ext uri="{FF2B5EF4-FFF2-40B4-BE49-F238E27FC236}">
                <a16:creationId xmlns:a16="http://schemas.microsoft.com/office/drawing/2014/main" id="{DBA7F32C-23F5-4D29-A66D-10E1F0AE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4322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流畅性≥4，但正确性≤2</a:t>
            </a:r>
          </a:p>
        </p:txBody>
      </p:sp>
      <p:sp>
        <p:nvSpPr>
          <p:cNvPr id="8" name="text-135">
            <a:extLst xmlns:a="http://schemas.openxmlformats.org/drawingml/2006/main">
              <a:ext uri="{FF2B5EF4-FFF2-40B4-BE49-F238E27FC236}">
                <a16:creationId xmlns:a16="http://schemas.microsoft.com/office/drawing/2014/main" id="{B1302A20-4395-4D5F-A6CE-DE11E3B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9" name="text-136">
            <a:extLst xmlns:a="http://schemas.openxmlformats.org/drawingml/2006/main">
              <a:ext uri="{FF2B5EF4-FFF2-40B4-BE49-F238E27FC236}">
                <a16:creationId xmlns:a16="http://schemas.microsoft.com/office/drawing/2014/main" id="{C03FAA4C-6640-4F5A-ADA4-DD6A5E7F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434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流畅性≥4，但引用支撑≤2</a:t>
            </a:r>
          </a:p>
        </p:txBody>
      </p:sp>
    </p:spTree>
    <p:extLst>
      <p:ext uri="{BB962C8B-B14F-4D97-AF65-F5344CB8AC3E}">
        <p14:creationId xmlns:p14="http://schemas.microsoft.com/office/powerpoint/2010/main" val="1070578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37">
            <a:extLst xmlns:a="http://schemas.openxmlformats.org/drawingml/2006/main">
              <a:ext uri="{FF2B5EF4-FFF2-40B4-BE49-F238E27FC236}">
                <a16:creationId xmlns:a16="http://schemas.microsoft.com/office/drawing/2014/main" id="{7A745994-F2E5-49CD-865B-FFFA769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Prompt约束改善了引用，四题结果存在差异</a:t>
            </a:r>
          </a:p>
        </p:txBody>
      </p:sp>
      <p:sp>
        <p:nvSpPr>
          <p:cNvPr id="2" name="text-138">
            <a:extLst xmlns:a="http://schemas.openxmlformats.org/drawingml/2006/main">
              <a:ext uri="{FF2B5EF4-FFF2-40B4-BE49-F238E27FC236}">
                <a16:creationId xmlns:a16="http://schemas.microsoft.com/office/drawing/2014/main" id="{7CF57214-9A66-4F31-BD53-03720018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相同冻结上下文下，新旧Prompt各比较4道开发题</a:t>
            </a:r>
          </a:p>
        </p:txBody>
      </p:sp>
      <p:sp>
        <p:nvSpPr>
          <p:cNvPr id="3" name="text-139">
            <a:extLst xmlns:a="http://schemas.openxmlformats.org/drawingml/2006/main">
              <a:ext uri="{FF2B5EF4-FFF2-40B4-BE49-F238E27FC236}">
                <a16:creationId xmlns:a16="http://schemas.microsoft.com/office/drawing/2014/main" id="{ADF8D0E8-3C1F-4E04-9FD5-94790B0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每题每条件仅单次生成。新Prompt复用既有参数基线，未重复计为新增回答。</a:t>
            </a:r>
          </a:p>
        </p:txBody>
      </p:sp>
      <p:sp>
        <p:nvSpPr>
          <p:cNvPr id="4" name="text-140">
            <a:extLst xmlns:a="http://schemas.openxmlformats.org/drawingml/2006/main">
              <a:ext uri="{FF2B5EF4-FFF2-40B4-BE49-F238E27FC236}">
                <a16:creationId xmlns:a16="http://schemas.microsoft.com/office/drawing/2014/main" id="{289AD19D-5B1A-484A-9E8B-F8AB9D23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E4A48C-CEA5-4B2A-AEC1-559721EDAFF1}"/>
              </a:ext>
            </a:extLst>
          </p:cNvPr>
          <p:cNvGraphicFramePr/>
          <p:nvPr/>
        </p:nvGraphicFramePr>
        <p:xfrm>
          <a:off xmlns:a="http://schemas.openxmlformats.org/drawingml/2006/main" x="514350" y="1876425"/>
          <a:ext xmlns:a="http://schemas.openxmlformats.org/drawingml/2006/main" cx="74104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ca32ba2d1e40e8"/>
          </a:graphicData>
        </a:graphic>
      </p:graphicFrame>
      <p:sp>
        <p:nvSpPr>
          <p:cNvPr id="6" name="text-141">
            <a:extLst xmlns:a="http://schemas.openxmlformats.org/drawingml/2006/main">
              <a:ext uri="{FF2B5EF4-FFF2-40B4-BE49-F238E27FC236}">
                <a16:creationId xmlns:a16="http://schemas.microsoft.com/office/drawing/2014/main" id="{88274286-20E0-4AC9-A101-03C71685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+1.00 分</a:t>
            </a:r>
          </a:p>
        </p:txBody>
      </p:sp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753C7BAA-E829-42DF-A165-5CAFB1F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312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引用支撑均分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2.50 提高至 3.50</a:t>
            </a:r>
          </a:p>
        </p:txBody>
      </p:sp>
      <p:sp>
        <p:nvSpPr>
          <p:cNvPr id="8" name="text-143">
            <a:extLst xmlns:a="http://schemas.openxmlformats.org/drawingml/2006/main">
              <a:ext uri="{FF2B5EF4-FFF2-40B4-BE49-F238E27FC236}">
                <a16:creationId xmlns:a16="http://schemas.microsoft.com/office/drawing/2014/main" id="{F2DDDD55-D9C4-43B8-AB15-67756339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91025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逐题变化</a:t>
            </a:r>
          </a:p>
        </p:txBody>
      </p:sp>
      <p:sp>
        <p:nvSpPr>
          <p:cNvPr id="9" name="text-144">
            <a:extLst xmlns:a="http://schemas.openxmlformats.org/drawingml/2006/main">
              <a:ext uri="{FF2B5EF4-FFF2-40B4-BE49-F238E27FC236}">
                <a16:creationId xmlns:a16="http://schemas.microsoft.com/office/drawing/2014/main" id="{61F57AF3-850C-433E-A114-60223790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3124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+4、+1、0、−1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均值提升并不代表每题改善。</a:t>
            </a:r>
          </a:p>
        </p:txBody>
      </p:sp>
    </p:spTree>
    <p:extLst>
      <p:ext uri="{BB962C8B-B14F-4D97-AF65-F5344CB8AC3E}">
        <p14:creationId xmlns:p14="http://schemas.microsoft.com/office/powerpoint/2010/main" val="16458866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45">
            <a:extLst xmlns:a="http://schemas.openxmlformats.org/drawingml/2006/main">
              <a:ext uri="{FF2B5EF4-FFF2-40B4-BE49-F238E27FC236}">
                <a16:creationId xmlns:a16="http://schemas.microsoft.com/office/drawing/2014/main" id="{BE7FA5C4-2F6A-4535-861B-30678E6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加分设计：按条件约束论文比较</a:t>
            </a:r>
          </a:p>
        </p:txBody>
      </p:sp>
      <p:sp>
        <p:nvSpPr>
          <p:cNvPr id="2" name="text-146">
            <a:extLst xmlns:a="http://schemas.openxmlformats.org/drawingml/2006/main">
              <a:ext uri="{FF2B5EF4-FFF2-40B4-BE49-F238E27FC236}">
                <a16:creationId xmlns:a16="http://schemas.microsoft.com/office/drawing/2014/main" id="{C5925ECA-9ECF-4B12-92FE-DE7E08D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在比较结果中同时核对任务、数据集、指标和训练条件</a:t>
            </a:r>
          </a:p>
        </p:txBody>
      </p:sp>
      <p:sp>
        <p:nvSpPr>
          <p:cNvPr id="3" name="text-147">
            <a:extLst xmlns:a="http://schemas.openxmlformats.org/drawingml/2006/main">
              <a:ext uri="{FF2B5EF4-FFF2-40B4-BE49-F238E27FC236}">
                <a16:creationId xmlns:a16="http://schemas.microsoft.com/office/drawing/2014/main" id="{D760E343-6A87-4BAD-9B1C-19F4B94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真实论文比较界面，2026-10-10历史记录。结构有效仍需逐项语义核查。</a:t>
            </a:r>
          </a:p>
        </p:txBody>
      </p:sp>
      <p:sp>
        <p:nvSpPr>
          <p:cNvPr id="4" name="text-148">
            <a:extLst xmlns:a="http://schemas.openxmlformats.org/drawingml/2006/main">
              <a:ext uri="{FF2B5EF4-FFF2-40B4-BE49-F238E27FC236}">
                <a16:creationId xmlns:a16="http://schemas.microsoft.com/office/drawing/2014/main" id="{778A0CE5-02A6-4FA7-83AD-D8E3FEE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DDFA7-D930-4B9F-8F5C-DE36C8C47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66aadb4b04a13"/>
          <a:stretch xmlns:a="http://schemas.openxmlformats.org/drawingml/2006/main"/>
        </p:blipFill>
        <p:spPr>
          <a:xfrm xmlns:a="http://schemas.openxmlformats.org/drawingml/2006/main">
            <a:off x="4000500" y="1818084"/>
            <a:ext cx="7505700" cy="4221956"/>
          </a:xfrm>
          <a:prstGeom xmlns:a="http://schemas.openxmlformats.org/drawingml/2006/main" prst="rect">
            <a:avLst/>
          </a:prstGeom>
        </p:spPr>
      </p:pic>
      <p:sp>
        <p:nvSpPr>
          <p:cNvPr id="6" name="text-149">
            <a:extLst xmlns:a="http://schemas.openxmlformats.org/drawingml/2006/main">
              <a:ext uri="{FF2B5EF4-FFF2-40B4-BE49-F238E27FC236}">
                <a16:creationId xmlns:a16="http://schemas.microsoft.com/office/drawing/2014/main" id="{72F5F618-2C16-43DB-904C-5E700B3F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62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7" name="text-150">
            <a:extLst xmlns:a="http://schemas.openxmlformats.org/drawingml/2006/main">
              <a:ext uri="{FF2B5EF4-FFF2-40B4-BE49-F238E27FC236}">
                <a16:creationId xmlns:a16="http://schemas.microsoft.com/office/drawing/2014/main" id="{BBABD7D7-9EA1-4A46-90E4-1644CD9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9622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按固定行列生成，逐列检查来源与数值。</a:t>
            </a:r>
          </a:p>
        </p:txBody>
      </p:sp>
      <p:sp>
        <p:nvSpPr>
          <p:cNvPr id="8" name="text-151">
            <a:extLst xmlns:a="http://schemas.openxmlformats.org/drawingml/2006/main">
              <a:ext uri="{FF2B5EF4-FFF2-40B4-BE49-F238E27FC236}">
                <a16:creationId xmlns:a16="http://schemas.microsoft.com/office/drawing/2014/main" id="{DAD76B29-B2FB-43B0-83FB-ACEA805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62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9" name="text-152">
            <a:extLst xmlns:a="http://schemas.openxmlformats.org/drawingml/2006/main">
              <a:ext uri="{FF2B5EF4-FFF2-40B4-BE49-F238E27FC236}">
                <a16:creationId xmlns:a16="http://schemas.microsoft.com/office/drawing/2014/main" id="{B39F9F0F-A9C6-49CF-8C5E-3BC92A8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9622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条件不足时保留说明，避免合并不一致的性能数字。</a:t>
            </a:r>
          </a:p>
        </p:txBody>
      </p:sp>
    </p:spTree>
    <p:extLst>
      <p:ext uri="{BB962C8B-B14F-4D97-AF65-F5344CB8AC3E}">
        <p14:creationId xmlns:p14="http://schemas.microsoft.com/office/powerpoint/2010/main" val="1349478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53">
            <a:extLst xmlns:a="http://schemas.openxmlformats.org/drawingml/2006/main">
              <a:ext uri="{FF2B5EF4-FFF2-40B4-BE49-F238E27FC236}">
                <a16:creationId xmlns:a16="http://schemas.microsoft.com/office/drawing/2014/main" id="{0FDD8F39-6B72-408C-AADE-63196205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Bad Case：引用页码由服务器校正</a:t>
            </a:r>
          </a:p>
        </p:txBody>
      </p:sp>
      <p:sp>
        <p:nvSpPr>
          <p:cNvPr id="2" name="text-154">
            <a:extLst xmlns:a="http://schemas.openxmlformats.org/drawingml/2006/main">
              <a:ext uri="{FF2B5EF4-FFF2-40B4-BE49-F238E27FC236}">
                <a16:creationId xmlns:a16="http://schemas.microsoft.com/office/drawing/2014/main" id="{706894E0-0C97-459A-9BD5-B65F3E0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Swin早期回答将S1写为第4页，保存的来源实际是物理页2</a:t>
            </a:r>
          </a:p>
        </p:txBody>
      </p:sp>
      <p:sp>
        <p:nvSpPr>
          <p:cNvPr id="3" name="text-155">
            <a:extLst xmlns:a="http://schemas.openxmlformats.org/drawingml/2006/main">
              <a:ext uri="{FF2B5EF4-FFF2-40B4-BE49-F238E27FC236}">
                <a16:creationId xmlns:a16="http://schemas.microsoft.com/office/drawing/2014/main" id="{9AA2ECC4-7174-40DB-955D-0E2F4ED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来源：BC-CITATION-01。未知来源编号与缺乏支撑的数字仍提示核查。</a:t>
            </a:r>
          </a:p>
        </p:txBody>
      </p:sp>
      <p:sp>
        <p:nvSpPr>
          <p:cNvPr id="4" name="text-156">
            <a:extLst xmlns:a="http://schemas.openxmlformats.org/drawingml/2006/main">
              <a:ext uri="{FF2B5EF4-FFF2-40B4-BE49-F238E27FC236}">
                <a16:creationId xmlns:a16="http://schemas.microsoft.com/office/drawing/2014/main" id="{188418F1-DA09-44DB-B5B5-18B4D623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text-157">
            <a:extLst xmlns:a="http://schemas.openxmlformats.org/drawingml/2006/main">
              <a:ext uri="{FF2B5EF4-FFF2-40B4-BE49-F238E27FC236}">
                <a16:creationId xmlns:a16="http://schemas.microsoft.com/office/drawing/2014/main" id="{044DDF2C-AE31-474E-B5A0-7E48D4C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58">
            <a:extLst xmlns:a="http://schemas.openxmlformats.org/drawingml/2006/main">
              <a:ext uri="{FF2B5EF4-FFF2-40B4-BE49-F238E27FC236}">
                <a16:creationId xmlns:a16="http://schemas.microsoft.com/office/drawing/2014/main" id="{60043326-158F-4C88-BC5C-6AAA8270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实际问题</a:t>
            </a:r>
          </a:p>
        </p:txBody>
      </p:sp>
      <p:sp>
        <p:nvSpPr>
          <p:cNvPr id="7" name="text-159">
            <a:extLst xmlns:a="http://schemas.openxmlformats.org/drawingml/2006/main">
              <a:ext uri="{FF2B5EF4-FFF2-40B4-BE49-F238E27FC236}">
                <a16:creationId xmlns:a16="http://schemas.microsoft.com/office/drawing/2014/main" id="{F0EC93BA-C632-444B-BB85-7562F57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模型自由生成页码，来源编号存在，也可能指向错误页。</a:t>
            </a:r>
          </a:p>
        </p:txBody>
      </p:sp>
      <p:sp>
        <p:nvSpPr>
          <p:cNvPr id="8" name="text-160">
            <a:extLst xmlns:a="http://schemas.openxmlformats.org/drawingml/2006/main">
              <a:ext uri="{FF2B5EF4-FFF2-40B4-BE49-F238E27FC236}">
                <a16:creationId xmlns:a16="http://schemas.microsoft.com/office/drawing/2014/main" id="{990F7F65-F161-4919-BC84-D560D375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502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61">
            <a:extLst xmlns:a="http://schemas.openxmlformats.org/drawingml/2006/main">
              <a:ext uri="{FF2B5EF4-FFF2-40B4-BE49-F238E27FC236}">
                <a16:creationId xmlns:a16="http://schemas.microsoft.com/office/drawing/2014/main" id="{19ADF6B0-70B6-4F68-9B4C-47E2572E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502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机制修复</a:t>
            </a:r>
          </a:p>
        </p:txBody>
      </p:sp>
      <p:sp>
        <p:nvSpPr>
          <p:cNvPr id="10" name="text-162">
            <a:extLst xmlns:a="http://schemas.openxmlformats.org/drawingml/2006/main">
              <a:ext uri="{FF2B5EF4-FFF2-40B4-BE49-F238E27FC236}">
                <a16:creationId xmlns:a16="http://schemas.microsoft.com/office/drawing/2014/main" id="{A8D86F37-08A7-472D-9F63-7B0CD62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5029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来源编号绑定原文元数据，由服务器维护文档与物理页映射。</a:t>
            </a:r>
          </a:p>
        </p:txBody>
      </p:sp>
      <p:sp>
        <p:nvSpPr>
          <p:cNvPr id="11" name="text-163">
            <a:extLst xmlns:a="http://schemas.openxmlformats.org/drawingml/2006/main">
              <a:ext uri="{FF2B5EF4-FFF2-40B4-BE49-F238E27FC236}">
                <a16:creationId xmlns:a16="http://schemas.microsoft.com/office/drawing/2014/main" id="{EFF021FB-FCDE-4F57-A9B8-4CE18CC2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验收与边界</a:t>
            </a:r>
          </a:p>
        </p:txBody>
      </p:sp>
      <p:sp>
        <p:nvSpPr>
          <p:cNvPr id="12" name="text-164">
            <a:extLst xmlns:a="http://schemas.openxmlformats.org/drawingml/2006/main">
              <a:ext uri="{FF2B5EF4-FFF2-40B4-BE49-F238E27FC236}">
                <a16:creationId xmlns:a16="http://schemas.microsoft.com/office/drawing/2014/main" id="{53B0D3C7-16A1-4E79-AF87-D15F37B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已知错误页码回归通过，合并引用逐一展开核对。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来源存在仍不足以证明论断受到充分支持。</a:t>
            </a:r>
          </a:p>
        </p:txBody>
      </p:sp>
    </p:spTree>
    <p:extLst>
      <p:ext uri="{BB962C8B-B14F-4D97-AF65-F5344CB8AC3E}">
        <p14:creationId xmlns:p14="http://schemas.microsoft.com/office/powerpoint/2010/main" val="2042166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5">
            <a:extLst xmlns:a="http://schemas.openxmlformats.org/drawingml/2006/main">
              <a:ext uri="{FF2B5EF4-FFF2-40B4-BE49-F238E27FC236}">
                <a16:creationId xmlns:a16="http://schemas.microsoft.com/office/drawing/2014/main" id="{32650E36-7BD2-4753-9BA0-F64F9671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本地实际运行验收</a:t>
            </a:r>
          </a:p>
        </p:txBody>
      </p:sp>
      <p:sp>
        <p:nvSpPr>
          <p:cNvPr id="2" name="text-166">
            <a:extLst xmlns:a="http://schemas.openxmlformats.org/drawingml/2006/main">
              <a:ext uri="{FF2B5EF4-FFF2-40B4-BE49-F238E27FC236}">
                <a16:creationId xmlns:a16="http://schemas.microsoft.com/office/drawing/2014/main" id="{73D6244C-1A0A-4A94-877F-BA37BD4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127.0.0.1上的标准模式完成真实论文导入、SSE问答和原页回查</a:t>
            </a:r>
          </a:p>
        </p:txBody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D3D4B6D2-8ECB-4692-A9F5-C3710CBA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2026-10-15独立本地验收，29片段工作区，真实模型。核心流程通过不替代语义质量评价。</a:t>
            </a:r>
          </a:p>
        </p:txBody>
      </p:sp>
      <p:sp>
        <p:nvSpPr>
          <p:cNvPr id="4" name="text-168">
            <a:extLst xmlns:a="http://schemas.openxmlformats.org/drawingml/2006/main">
              <a:ext uri="{FF2B5EF4-FFF2-40B4-BE49-F238E27FC236}">
                <a16:creationId xmlns:a16="http://schemas.microsoft.com/office/drawing/2014/main" id="{F8786BC9-319B-4298-B610-365E1507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2A9FB-D89B-4F8E-BC39-B301AEF27A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727fc7e2b4037"/>
          <a:stretch xmlns:a="http://schemas.openxmlformats.org/drawingml/2006/main"/>
        </p:blipFill>
        <p:spPr>
          <a:xfrm xmlns:a="http://schemas.openxmlformats.org/drawingml/2006/main">
            <a:off x="8315325" y="2106716"/>
            <a:ext cx="3190875" cy="3492293"/>
          </a:xfrm>
          <a:prstGeom xmlns:a="http://schemas.openxmlformats.org/drawingml/2006/main" prst="rect">
            <a:avLst/>
          </a:prstGeom>
        </p:spPr>
      </p:pic>
      <p:sp>
        <p:nvSpPr>
          <p:cNvPr id="6" name="text-169">
            <a:extLst xmlns:a="http://schemas.openxmlformats.org/drawingml/2006/main">
              <a:ext uri="{FF2B5EF4-FFF2-40B4-BE49-F238E27FC236}">
                <a16:creationId xmlns:a16="http://schemas.microsoft.com/office/drawing/2014/main" id="{6F7BA6A7-EE96-44C7-9273-BF00471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953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33 项通过</a:t>
            </a:r>
          </a:p>
        </p:txBody>
      </p:sp>
      <p:sp>
        <p:nvSpPr>
          <p:cNvPr id="7" name="text-170">
            <a:extLst xmlns:a="http://schemas.openxmlformats.org/drawingml/2006/main">
              <a:ext uri="{FF2B5EF4-FFF2-40B4-BE49-F238E27FC236}">
                <a16:creationId xmlns:a16="http://schemas.microsoft.com/office/drawing/2014/main" id="{0E50437A-12A3-4D4A-A404-B3BD4FD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0项失败，含上传、索引、原件哈希、页预览与记录保存</a:t>
            </a:r>
          </a:p>
        </p:txBody>
      </p:sp>
      <p:sp>
        <p:nvSpPr>
          <p:cNvPr id="8" name="text-171">
            <a:extLst xmlns:a="http://schemas.openxmlformats.org/drawingml/2006/main">
              <a:ext uri="{FF2B5EF4-FFF2-40B4-BE49-F238E27FC236}">
                <a16:creationId xmlns:a16="http://schemas.microsoft.com/office/drawing/2014/main" id="{74B00595-13D1-45D3-931C-36D16356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34.15 s</a:t>
            </a:r>
          </a:p>
        </p:txBody>
      </p:sp>
      <p:sp>
        <p:nvSpPr>
          <p:cNvPr id="9" name="text-172">
            <a:extLst xmlns:a="http://schemas.openxmlformats.org/drawingml/2006/main">
              <a:ext uri="{FF2B5EF4-FFF2-40B4-BE49-F238E27FC236}">
                <a16:creationId xmlns:a16="http://schemas.microsoft.com/office/drawing/2014/main" id="{55511E8E-EE85-4719-9F04-547F83F8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单次端到端问答</a:t>
            </a:r>
          </a:p>
        </p:txBody>
      </p:sp>
      <p:sp>
        <p:nvSpPr>
          <p:cNvPr id="10" name="text-173">
            <a:extLst xmlns:a="http://schemas.openxmlformats.org/drawingml/2006/main">
              <a:ext uri="{FF2B5EF4-FFF2-40B4-BE49-F238E27FC236}">
                <a16:creationId xmlns:a16="http://schemas.microsoft.com/office/drawing/2014/main" id="{E71B3E39-76D3-4924-868D-1BED36D5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3537 / 395</a:t>
            </a:r>
          </a:p>
        </p:txBody>
      </p:sp>
      <p:sp>
        <p:nvSpPr>
          <p:cNvPr id="11" name="text-174">
            <a:extLst xmlns:a="http://schemas.openxmlformats.org/drawingml/2006/main">
              <a:ext uri="{FF2B5EF4-FFF2-40B4-BE49-F238E27FC236}">
                <a16:creationId xmlns:a16="http://schemas.microsoft.com/office/drawing/2014/main" id="{F80017AC-8ADD-45D2-B24B-0C6D0EA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实际输入 / 输出Token</a:t>
            </a:r>
          </a:p>
        </p:txBody>
      </p:sp>
      <p:sp>
        <p:nvSpPr>
          <p:cNvPr id="12" name="text-175">
            <a:extLst xmlns:a="http://schemas.openxmlformats.org/drawingml/2006/main">
              <a:ext uri="{FF2B5EF4-FFF2-40B4-BE49-F238E27FC236}">
                <a16:creationId xmlns:a16="http://schemas.microsoft.com/office/drawing/2014/main" id="{2A149D2F-F78C-4EA7-B3C1-8E0E13BD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UI :8501    API :8000    模型服务 :11435</a:t>
            </a:r>
          </a:p>
        </p:txBody>
      </p:sp>
    </p:spTree>
    <p:extLst>
      <p:ext uri="{BB962C8B-B14F-4D97-AF65-F5344CB8AC3E}">
        <p14:creationId xmlns:p14="http://schemas.microsoft.com/office/powerpoint/2010/main" val="11296381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6">
            <a:extLst xmlns:a="http://schemas.openxmlformats.org/drawingml/2006/main">
              <a:ext uri="{FF2B5EF4-FFF2-40B4-BE49-F238E27FC236}">
                <a16:creationId xmlns:a16="http://schemas.microsoft.com/office/drawing/2014/main" id="{51778445-DB80-4FF8-AF9E-5181D45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加分设计：版本感知记录与工程交付</a:t>
            </a:r>
          </a:p>
        </p:txBody>
      </p:sp>
      <p:sp>
        <p:nvSpPr>
          <p:cNvPr id="2" name="text-177">
            <a:extLst xmlns:a="http://schemas.openxmlformats.org/drawingml/2006/main">
              <a:ext uri="{FF2B5EF4-FFF2-40B4-BE49-F238E27FC236}">
                <a16:creationId xmlns:a16="http://schemas.microsoft.com/office/drawing/2014/main" id="{61EB4BA1-E7F5-4493-BFC6-E06152EB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保存语料、索引、模型及配置指纹，使结果能够对应到实际运行条件</a:t>
            </a:r>
          </a:p>
        </p:txBody>
      </p:sp>
      <p:sp>
        <p:nvSpPr>
          <p:cNvPr id="3" name="text-178">
            <a:extLst xmlns:a="http://schemas.openxmlformats.org/drawingml/2006/main">
              <a:ext uri="{FF2B5EF4-FFF2-40B4-BE49-F238E27FC236}">
                <a16:creationId xmlns:a16="http://schemas.microsoft.com/office/drawing/2014/main" id="{3CF56835-BA65-4C7E-A8F1-BFDDF7A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最新云端回归：185项通过、4项跳过，2026-10-17。跳过项不计为通过。</a:t>
            </a:r>
          </a:p>
        </p:txBody>
      </p:sp>
      <p:sp>
        <p:nvSpPr>
          <p:cNvPr id="4" name="text-179">
            <a:extLst xmlns:a="http://schemas.openxmlformats.org/drawingml/2006/main">
              <a:ext uri="{FF2B5EF4-FFF2-40B4-BE49-F238E27FC236}">
                <a16:creationId xmlns:a16="http://schemas.microsoft.com/office/drawing/2014/main" id="{98BB651D-2B81-4B7F-9719-C07A4E5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ED212-CBD6-41A9-91AA-7DC574461A36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交付层面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现有证据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多格式处理、混合检索、八工具、来源回查与运行记录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开发与测试划分、同题配对比较、参数研究、Bad Case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47页课程报告、26幅图、29张表及原始实验记录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模型与语料清单、配置指纹、本地启动与验收记录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EEE75FE0-B5FD-4851-87AD-C33F87A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仍需完成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5EBBA2AB-6FC5-4621-903E-165AA7EA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独立人工复核、最新版统一端到端复测、跨专题评价。Docker配置保留，未作实际验收。</a:t>
            </a:r>
          </a:p>
        </p:txBody>
      </p:sp>
    </p:spTree>
    <p:extLst>
      <p:ext uri="{BB962C8B-B14F-4D97-AF65-F5344CB8AC3E}">
        <p14:creationId xmlns:p14="http://schemas.microsoft.com/office/powerpoint/2010/main" val="3491783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2">
            <a:extLst xmlns:a="http://schemas.openxmlformats.org/drawingml/2006/main">
              <a:ext uri="{FF2B5EF4-FFF2-40B4-BE49-F238E27FC236}">
                <a16:creationId xmlns:a16="http://schemas.microsoft.com/office/drawing/2014/main" id="{7ED42A5A-C2BD-43A8-8F96-E585D03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" name="text-183">
            <a:extLst xmlns:a="http://schemas.openxmlformats.org/drawingml/2006/main">
              <a:ext uri="{FF2B5EF4-FFF2-40B4-BE49-F238E27FC236}">
                <a16:creationId xmlns:a16="http://schemas.microsoft.com/office/drawing/2014/main" id="{0B988706-D92F-45CB-B6AF-0B8A878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3" name="text-184">
            <a:extLst xmlns:a="http://schemas.openxmlformats.org/drawingml/2006/main">
              <a:ext uri="{FF2B5EF4-FFF2-40B4-BE49-F238E27FC236}">
                <a16:creationId xmlns:a16="http://schemas.microsoft.com/office/drawing/2014/main" id="{7DE938CC-1601-4FB5-A462-4E793EF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构建可回查证据的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论文知识库问答系统</a:t>
            </a:r>
          </a:p>
        </p:txBody>
      </p:sp>
      <p:sp>
        <p:nvSpPr>
          <p:cNvPr id="4" name="text-185">
            <a:extLst xmlns:a="http://schemas.openxmlformats.org/drawingml/2006/main">
              <a:ext uri="{FF2B5EF4-FFF2-40B4-BE49-F238E27FC236}">
                <a16:creationId xmlns:a16="http://schemas.microsoft.com/office/drawing/2014/main" id="{D985E8F1-1164-4CCC-98FC-C168D5B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完成文档处理、RAG问答、工具协作与本地运行闭环。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实验显示重排的覆盖收益，也暴露时延与回答质量的短板。</a:t>
            </a:r>
          </a:p>
        </p:txBody>
      </p:sp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42074A09-AA2C-4324-9C68-8930B57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678345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87">
            <a:extLst xmlns:a="http://schemas.openxmlformats.org/drawingml/2006/main">
              <a:ext uri="{FF2B5EF4-FFF2-40B4-BE49-F238E27FC236}">
                <a16:creationId xmlns:a16="http://schemas.microsoft.com/office/drawing/2014/main" id="{18A9D2D6-9216-4D34-B494-C48BF88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备答：分块与编码模型对照</a:t>
            </a:r>
          </a:p>
        </p:txBody>
      </p:sp>
      <p:sp>
        <p:nvSpPr>
          <p:cNvPr id="2" name="text-188">
            <a:extLst xmlns:a="http://schemas.openxmlformats.org/drawingml/2006/main">
              <a:ext uri="{FF2B5EF4-FFF2-40B4-BE49-F238E27FC236}">
                <a16:creationId xmlns:a16="http://schemas.microsoft.com/office/drawing/2014/main" id="{052034D7-7602-4B1E-A554-F4E14773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同一20道开发题、同一语料，结果只用于配置选择</a:t>
            </a:r>
          </a:p>
        </p:txBody>
      </p:sp>
      <p:sp>
        <p:nvSpPr>
          <p:cNvPr id="3" name="text-189">
            <a:extLst xmlns:a="http://schemas.openxmlformats.org/drawingml/2006/main">
              <a:ext uri="{FF2B5EF4-FFF2-40B4-BE49-F238E27FC236}">
                <a16:creationId xmlns:a16="http://schemas.microsoft.com/office/drawing/2014/main" id="{1A0065BE-7AAA-494E-81DF-0B22FA0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左图均采用m3e-base。右表保持相同递归342片段，未将BGE-M3混入模型公平比较。</a:t>
            </a:r>
          </a:p>
        </p:txBody>
      </p:sp>
      <p:sp>
        <p:nvSpPr>
          <p:cNvPr id="4" name="text-190">
            <a:extLst xmlns:a="http://schemas.openxmlformats.org/drawingml/2006/main">
              <a:ext uri="{FF2B5EF4-FFF2-40B4-BE49-F238E27FC236}">
                <a16:creationId xmlns:a16="http://schemas.microsoft.com/office/drawing/2014/main" id="{37A0950F-D258-46F9-8192-65F84341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16A946C-AC11-4359-A4EF-7DE6FC0C1BD4}"/>
              </a:ext>
            </a:extLst>
          </p:cNvPr>
          <p:cNvGraphicFramePr/>
          <p:nvPr/>
        </p:nvGraphicFramePr>
        <p:xfrm>
          <a:off xmlns:a="http://schemas.openxmlformats.org/drawingml/2006/main" x="409575" y="1933575"/>
          <a:ext xmlns:a="http://schemas.openxmlformats.org/drawingml/2006/main" cx="7153275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caf541c559472e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55E79-0015-429E-92CA-7CF55C893811}"/>
              </a:ext>
            </a:extLst>
          </p:cNvPr>
          <p:cNvGraphicFramePr/>
          <p:nvPr/>
        </p:nvGraphicFramePr>
        <p:xfrm>
          <a:off xmlns:a="http://schemas.openxmlformats.org/drawingml/2006/main" x="7772400" y="2390775"/>
          <a:ext xmlns:a="http://schemas.openxmlformats.org/drawingml/2006/main" cx="373380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3550"/>
                <a:gridCol w="1047750"/>
                <a:gridCol w="952500"/>
              </a:tblGrid>
              <a:tr h="641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编码模型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Hit@5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m3e-base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0.278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BGE-large-zh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0.296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7" name="text-191">
            <a:extLst xmlns:a="http://schemas.openxmlformats.org/drawingml/2006/main">
              <a:ext uri="{FF2B5EF4-FFF2-40B4-BE49-F238E27FC236}">
                <a16:creationId xmlns:a16="http://schemas.microsoft.com/office/drawing/2014/main" id="{85284039-A3F9-4D43-B89F-FFAF5509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524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多个指标的最佳方案不同，默认配置还需兼顾片段规模和成本。</a:t>
            </a:r>
          </a:p>
        </p:txBody>
      </p:sp>
    </p:spTree>
    <p:extLst>
      <p:ext uri="{BB962C8B-B14F-4D97-AF65-F5344CB8AC3E}">
        <p14:creationId xmlns:p14="http://schemas.microsoft.com/office/powerpoint/2010/main" val="1348864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F4E58780-BE8C-4CD6-B99E-95B89C6A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备答：生成参数的质量与成本</a:t>
            </a:r>
          </a:p>
        </p:txBody>
      </p:sp>
      <p:sp>
        <p:nvSpPr>
          <p:cNvPr id="2" name="text-193">
            <a:extLst xmlns:a="http://schemas.openxmlformats.org/drawingml/2006/main">
              <a:ext uri="{FF2B5EF4-FFF2-40B4-BE49-F238E27FC236}">
                <a16:creationId xmlns:a16="http://schemas.microsoft.com/office/drawing/2014/main" id="{7C6ACD24-7441-4FC4-81B1-B61A3F1C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每条件4道开发题、每题单次，未固定采样种子</a:t>
            </a:r>
          </a:p>
        </p:txBody>
      </p:sp>
      <p:sp>
        <p:nvSpPr>
          <p:cNvPr id="3" name="text-194">
            <a:extLst xmlns:a="http://schemas.openxmlformats.org/drawingml/2006/main">
              <a:ext uri="{FF2B5EF4-FFF2-40B4-BE49-F238E27FC236}">
                <a16:creationId xmlns:a16="http://schemas.microsoft.com/office/drawing/2014/main" id="{EC375C2E-31B1-4954-86E7-013CAEF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评分为AI辅助，1–5分。生成耗时受输出长度、模型热身与执行顺序混杂。</a:t>
            </a:r>
          </a:p>
        </p:txBody>
      </p:sp>
      <p:sp>
        <p:nvSpPr>
          <p:cNvPr id="4" name="text-195">
            <a:extLst xmlns:a="http://schemas.openxmlformats.org/drawingml/2006/main">
              <a:ext uri="{FF2B5EF4-FFF2-40B4-BE49-F238E27FC236}">
                <a16:creationId xmlns:a16="http://schemas.microsoft.com/office/drawing/2014/main" id="{E088C559-2336-4005-A610-F7E483FD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8D39F-D2DA-4772-AC54-48F5AB1743B8}"/>
              </a:ext>
            </a:extLst>
          </p:cNvPr>
          <p:cNvGraphicFramePr/>
          <p:nvPr/>
        </p:nvGraphicFramePr>
        <p:xfrm>
          <a:off xmlns:a="http://schemas.openxmlformats.org/drawingml/2006/main" x="685800" y="1914525"/>
          <a:ext xmlns:a="http://schemas.openxmlformats.org/drawingml/2006/main" cx="108204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1238250"/>
                <a:gridCol w="1238250"/>
                <a:gridCol w="1238250"/>
                <a:gridCol w="1238250"/>
                <a:gridCol w="1428750"/>
                <a:gridCol w="1657350"/>
              </a:tblGrid>
              <a:tr h="520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 / p / ks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流畅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生成/s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Token/条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/ 0.9 / 40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3.255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 / 0.9 / 40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4.75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2.503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 / 0.9 / 40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/ 0.7 / 40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/ 0.9 / 20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84.25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00C7CA5C-2D1B-4D0F-A011-FC58BC36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ks 为生成采样Top-k，与检索返回Top-K不同。温度为0仍出现事实错误。</a:t>
            </a:r>
          </a:p>
        </p:txBody>
      </p:sp>
    </p:spTree>
    <p:extLst>
      <p:ext uri="{BB962C8B-B14F-4D97-AF65-F5344CB8AC3E}">
        <p14:creationId xmlns:p14="http://schemas.microsoft.com/office/powerpoint/2010/main" val="1908157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87B56419-05EF-476F-95CA-399B334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备答：复现环境与团队</a:t>
            </a:r>
          </a:p>
        </p:txBody>
      </p:sp>
      <p:sp>
        <p:nvSpPr>
          <p:cNvPr id="2" name="text-198">
            <a:extLst xmlns:a="http://schemas.openxmlformats.org/drawingml/2006/main">
              <a:ext uri="{FF2B5EF4-FFF2-40B4-BE49-F238E27FC236}">
                <a16:creationId xmlns:a16="http://schemas.microsoft.com/office/drawing/2014/main" id="{83BBC6DF-AC8B-4F5F-87FE-4B3E48B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本地推理无需云端API Key，云端兼容接口可按配置切换</a:t>
            </a:r>
          </a:p>
        </p:txBody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943F0B2A-3CE7-4A7E-AB87-69021ED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贡献比例按成员提供的信息填写。具体职责安排由成员确认。</a:t>
            </a:r>
          </a:p>
        </p:txBody>
      </p:sp>
      <p:sp>
        <p:nvSpPr>
          <p:cNvPr id="4" name="text-200">
            <a:extLst xmlns:a="http://schemas.openxmlformats.org/drawingml/2006/main">
              <a:ext uri="{FF2B5EF4-FFF2-40B4-BE49-F238E27FC236}">
                <a16:creationId xmlns:a16="http://schemas.microsoft.com/office/drawing/2014/main" id="{69534B16-5A57-43F1-812C-86E94A8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A1B2F-B694-4796-9E05-557A2161B904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4833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实际本地配置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Ollama，research-qwen:7b，Q4_K_M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+ bge-reranker-base，CPU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存储与界面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Chroma，FastAPI，Streamlit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272BE-9EC9-451F-A93D-E9F941D84B47}"/>
              </a:ext>
            </a:extLst>
          </p:cNvPr>
          <p:cNvGraphicFramePr/>
          <p:nvPr/>
        </p:nvGraphicFramePr>
        <p:xfrm>
          <a:off xmlns:a="http://schemas.openxmlformats.org/drawingml/2006/main" x="685800" y="4124325"/>
          <a:ext xmlns:a="http://schemas.openxmlformats.org/drawingml/2006/main" cx="108204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3143250"/>
                <a:gridCol w="3333750"/>
                <a:gridCol w="2171700"/>
              </a:tblGrid>
              <a:tr h="4833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班级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学号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赵志国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11523122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林骋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林弟伟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人工智能232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90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1">
            <a:extLst xmlns:a="http://schemas.openxmlformats.org/drawingml/2006/main">
              <a:ext uri="{FF2B5EF4-FFF2-40B4-BE49-F238E27FC236}">
                <a16:creationId xmlns:a16="http://schemas.microsoft.com/office/drawing/2014/main" id="{815BD32D-8AEE-4F7E-AEBE-831B9A8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备答：常见问题</a:t>
            </a:r>
          </a:p>
        </p:txBody>
      </p:sp>
      <p:sp>
        <p:nvSpPr>
          <p:cNvPr id="2" name="text-202">
            <a:extLst xmlns:a="http://schemas.openxmlformats.org/drawingml/2006/main">
              <a:ext uri="{FF2B5EF4-FFF2-40B4-BE49-F238E27FC236}">
                <a16:creationId xmlns:a16="http://schemas.microsoft.com/office/drawing/2014/main" id="{E4FC2DB8-BD94-42BE-AE63-711FA15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回答范围以现有代码、真实实验与实际验收证据为准</a:t>
            </a:r>
          </a:p>
        </p:txBody>
      </p:sp>
      <p:sp>
        <p:nvSpPr>
          <p:cNvPr id="3" name="text-203">
            <a:extLst xmlns:a="http://schemas.openxmlformats.org/drawingml/2006/main">
              <a:ext uri="{FF2B5EF4-FFF2-40B4-BE49-F238E27FC236}">
                <a16:creationId xmlns:a16="http://schemas.microsoft.com/office/drawing/2014/main" id="{3D0FE807-7DA6-4E9F-91F6-5D05B42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text-204">
            <a:extLst xmlns:a="http://schemas.openxmlformats.org/drawingml/2006/main">
              <a:ext uri="{FF2B5EF4-FFF2-40B4-BE49-F238E27FC236}">
                <a16:creationId xmlns:a16="http://schemas.microsoft.com/office/drawing/2014/main" id="{4E8B724F-8937-484A-8BDC-BFB8190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为何需要Agent？</a:t>
            </a:r>
          </a:p>
        </p:txBody>
      </p:sp>
      <p:sp>
        <p:nvSpPr>
          <p:cNvPr id="5" name="text-205">
            <a:extLst xmlns:a="http://schemas.openxmlformats.org/drawingml/2006/main">
              <a:ext uri="{FF2B5EF4-FFF2-40B4-BE49-F238E27FC236}">
                <a16:creationId xmlns:a16="http://schemas.microsoft.com/office/drawing/2014/main" id="{E1CD1A4B-9BAF-4C73-A0EC-37C4175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RAG处理证据问答，计算、信息读取和论文比较需要不同工具。</a:t>
            </a:r>
          </a:p>
        </p:txBody>
      </p:sp>
      <p:sp>
        <p:nvSpPr>
          <p:cNvPr id="6" name="text-206">
            <a:extLst xmlns:a="http://schemas.openxmlformats.org/drawingml/2006/main">
              <a:ext uri="{FF2B5EF4-FFF2-40B4-BE49-F238E27FC236}">
                <a16:creationId xmlns:a16="http://schemas.microsoft.com/office/drawing/2014/main" id="{5C64BF5F-9817-45FC-9345-E36F1F2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引用是否保证正确？</a:t>
            </a:r>
          </a:p>
        </p:txBody>
      </p:sp>
      <p:sp>
        <p:nvSpPr>
          <p:cNvPr id="7" name="text-207">
            <a:extLst xmlns:a="http://schemas.openxmlformats.org/drawingml/2006/main">
              <a:ext uri="{FF2B5EF4-FFF2-40B4-BE49-F238E27FC236}">
                <a16:creationId xmlns:a16="http://schemas.microsoft.com/office/drawing/2014/main" id="{5CD81CC9-1DC8-408F-8008-8C8AF39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文档与物理页可回查，但来源存在不保证论断被充分支持。</a:t>
            </a:r>
          </a:p>
        </p:txBody>
      </p:sp>
      <p:sp>
        <p:nvSpPr>
          <p:cNvPr id="8" name="text-208">
            <a:extLst xmlns:a="http://schemas.openxmlformats.org/drawingml/2006/main">
              <a:ext uri="{FF2B5EF4-FFF2-40B4-BE49-F238E27FC236}">
                <a16:creationId xmlns:a16="http://schemas.microsoft.com/office/drawing/2014/main" id="{0D6E740F-8502-4F2E-B62B-98268086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为何保留较慢的重排？</a:t>
            </a:r>
          </a:p>
        </p:txBody>
      </p:sp>
      <p:sp>
        <p:nvSpPr>
          <p:cNvPr id="9" name="text-209">
            <a:extLst xmlns:a="http://schemas.openxmlformats.org/drawingml/2006/main">
              <a:ext uri="{FF2B5EF4-FFF2-40B4-BE49-F238E27FC236}">
                <a16:creationId xmlns:a16="http://schemas.microsoft.com/office/drawing/2014/main" id="{C5FC19DF-F588-4E2B-B92E-AFE04FA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本题集覆盖改善明显，系统保留模式选择，按任务权衡时延。</a:t>
            </a:r>
          </a:p>
        </p:txBody>
      </p:sp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96E1E5CC-341F-48F8-AB92-BE2F7778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AI评分能证明质量吗？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6C292170-A03F-40D9-A2CC-918C708E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只能提供探索性评价，仍需独立人工复核和一致性分析。</a:t>
            </a:r>
          </a:p>
        </p:txBody>
      </p:sp>
    </p:spTree>
    <p:extLst>
      <p:ext uri="{BB962C8B-B14F-4D97-AF65-F5344CB8AC3E}">
        <p14:creationId xmlns:p14="http://schemas.microsoft.com/office/powerpoint/2010/main" val="186245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2026-10-17T15:50:06.3030000Z</dcterms:created>
  <dcterms:modified xsi:type="dcterms:W3CDTF">2026-10-17T15:50:06.3030000Z</dcterms:modified>
</coreProperties>
</file>