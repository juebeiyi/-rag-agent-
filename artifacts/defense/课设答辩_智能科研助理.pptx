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4" r:id="rId20"/>
    <p:sldId id="275" r:id="rId21"/>
    <p:sldId id="276" r:id="rId22"/>
    <p:sldId id="277" r:id="rId23"/>
    <p:sldId id="278" r:id="rId24"/>
    <p:sldId id="273" r:id="rId25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8" Type="http://schemas.openxmlformats.org/officeDocument/2006/relationships/tableStyles" Target="tableStyles.xml"/><Relationship Id="rId27" Type="http://schemas.openxmlformats.org/officeDocument/2006/relationships/viewProps" Target="viewProps.xml"/><Relationship Id="rId26" Type="http://schemas.openxmlformats.org/officeDocument/2006/relationships/presProps" Target="presProps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开发集</c:f>
              <c:strCache>
                <c:ptCount val="1"/>
                <c:pt idx="0">
                  <c:v>开发集</c:v>
                </c:pt>
              </c:strCache>
            </c:strRef>
          </c:tx>
          <c:spPr>
            <a:solidFill>
              <a:srgbClr val="C7923A"/>
            </a:solidFill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'Chart Data'!$A$2:$A$5</c:f>
              <c:strCache>
                <c:ptCount val="4"/>
                <c:pt idx="0">
                  <c:v>事实</c:v>
                </c:pt>
                <c:pt idx="1">
                  <c:v>比较</c:v>
                </c:pt>
                <c:pt idx="2">
                  <c:v>综合</c:v>
                </c:pt>
                <c:pt idx="3">
                  <c:v>推理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8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</c:numCache>
            </c:numRef>
          </c:val>
        </c:ser>
        <c:ser>
          <c:idx val="1"/>
          <c:order val="1"/>
          <c:tx>
            <c:strRef>
              <c:f>测试集</c:f>
              <c:strCache>
                <c:ptCount val="1"/>
                <c:pt idx="0">
                  <c:v>测试集</c:v>
                </c:pt>
              </c:strCache>
            </c:strRef>
          </c:tx>
          <c:spPr>
            <a:solidFill>
              <a:srgbClr val="168980"/>
            </a:solidFill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'Chart Data'!$C$2:$C$5</c:f>
              <c:strCache>
                <c:ptCount val="4"/>
                <c:pt idx="0">
                  <c:v>事实</c:v>
                </c:pt>
                <c:pt idx="1">
                  <c:v>比较</c:v>
                </c:pt>
                <c:pt idx="2">
                  <c:v>综合</c:v>
                </c:pt>
                <c:pt idx="3">
                  <c:v>推理</c:v>
                </c:pt>
              </c:strCache>
            </c:strRef>
          </c:cat>
          <c:val>
            <c:numRef>
              <c:f>'Chart Data'!$D$2:$D$5</c:f>
              <c:numCache>
                <c:formatCode>0</c:formatCode>
                <c:ptCount val="4"/>
                <c:pt idx="0">
                  <c:v>22</c:v>
                </c:pt>
                <c:pt idx="1">
                  <c:v>16</c:v>
                </c:pt>
                <c:pt idx="2">
                  <c:v>11</c:v>
                </c:pt>
                <c:pt idx="3">
                  <c:v>11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9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5715">
            <a:solidFill>
              <a:srgbClr val="DEE7ED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725" b="0" i="0" u="none" strike="noStrike" kern="1200" baseline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35"/>
          <c:min val="0"/>
        </c:scaling>
        <c:delete val="0"/>
        <c:axPos val="l"/>
        <c:majorGridlines>
          <c:spPr>
            <a:ln w="5715">
              <a:solidFill>
                <a:srgbClr val="DEE7ED"/>
              </a:solidFill>
              <a:prstDash val="solid"/>
              <a:round/>
            </a:ln>
          </c:spPr>
        </c:majorGridlines>
        <c:numFmt formatCode="0" sourceLinked="1"/>
        <c:majorTickMark val="none"/>
        <c:minorTickMark val="none"/>
        <c:tickLblPos val="nextTo"/>
        <c:spPr>
          <a:ln w="0">
            <a:noFill/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650" b="0" i="0" u="none" strike="noStrike" kern="1200" baseline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</a:p>
        </c:txPr>
        <c:crossAx val="48650112"/>
        <c:crosses val="autoZero"/>
        <c:crossBetween val="between"/>
        <c:majorUnit val="10"/>
      </c:valAx>
      <c:spPr>
        <a:solidFill>
          <a:srgbClr val="FFFFFF"/>
        </a:solidFill>
        <a:ln w="0">
          <a:noFill/>
        </a:ln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1650" b="0" i="0" u="none" strike="noStrike" kern="1200" baseline="0">
              <a:solidFill>
                <a:srgbClr val="273F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131b34ec-06ea-49ca-afdf-44f9e203e5d5}"/>
      </c:ext>
    </c:extLst>
  </c:chart>
  <c:spPr>
    <a:solidFill>
      <a:srgbClr val="FFFFFF"/>
    </a:solidFill>
    <a:ln w="0"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各位老师好，我们的课设题目是智能科研助理。系统面向论文知识库，组合检索增强生成与工具调用，支持论文导入、证据问答、跨论文比较和执行记录回放。接下来围绕实现方法、实际实验结果和仍需改进的地方进行汇报。</a:t>
            </a:r>
          </a:p>
          <a:p/>
          <a:p>
            <a:r>
              <a:t>数据与图像来源：</a:t>
            </a:r>
          </a:p>
          <a:p>
            <a:r>
              <a:t>artifacts/course-report/main.tex；用户提供的成员姓名、班级、学号与贡献比例。</a:t>
            </a:r>
          </a:p>
          <a:p/>
          <a:p>
            <a:r>
              <a:t>解释范围：</a:t>
            </a:r>
          </a:p>
          <a:p>
            <a:r>
              <a:t>汇报约10–12分钟。主体18页，备答6页。</a:t>
            </a:r>
          </a:p>
          <a:p>
            <a:br/>
            <a:br/>
            <a:r>
              <a:t>报告图件：artifacts/course-report/figures/fig19_rank_matrix.pdf、fig19_rank_matrix.png。选用封面背景缩览。</a:t>
            </a:r>
            <a:br/>
            <a:r>
              <a:t>原图数据与标注保持不变，通过幻灯片原生裁剪去除重复总标题或通用脚注，来源文件未修改。此为嵌入的报告原图（non-editable source figure），修改图内数据请更新报告源图后替换。完整60题图谱保存在报告中，备答展示综合与推理题两个面板。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们希望解决的是论文阅读过程中反复定位证据和核查回答的问题。这里的问题只是应用场景示例。系统需要先找到相关论文证据，再根据证据回答，最后允许使用者回到原始物理页核对。计算和论文比较等操作则由专门工具完成。</a:t>
            </a:r>
          </a:p>
          <a:p/>
          <a:p>
            <a:r>
              <a:t>数据与图像来源：</a:t>
            </a:r>
          </a:p>
          <a:p>
            <a:r>
              <a:t>README.md 项目能力；src/frontend；src/agent；artifacts/course-report/main.tex 项目概述。</a:t>
            </a:r>
          </a:p>
          <a:p/>
          <a:p>
            <a:r>
              <a:t>解释范围：</a:t>
            </a:r>
          </a:p>
          <a:p>
            <a:r>
              <a:t>系统面向通用论文知识库，视觉Transformer用于本次可控评测，不表示课程强制限定领域。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论文库是工作流起点。文档导入后异步解析，界面显示状态并允许失败重试。用户可以维护元信息、下载原件和查看片段。这里展示真实历史界面，截图中的359片段只代表当时快照，后面会区分当前生产索引和正式评测索引。</a:t>
            </a:r>
          </a:p>
          <a:p/>
          <a:p>
            <a:r>
              <a:t>数据与图像来源：</a:t>
            </a:r>
          </a:p>
          <a:p>
            <a:r>
              <a:t>artifacts/course-report/figures/original-ui/新版论文库.jpg；src/frontend/sections_library.py。</a:t>
            </a:r>
          </a:p>
          <a:p/>
          <a:p>
            <a:r>
              <a:t>解释范围：</a:t>
            </a:r>
          </a:p>
          <a:p>
            <a:r>
              <a:t>当前生产索引342片段，正式历史检索评测359片段，独立本地验收29片段，三者分别记录。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架构分成交互、服务、控制逻辑与知识处理。Streamlit通过FastAPI调用系统，SSE返回流式结果。核心是手写路由和Agent控制器，以及来源传播和混合检索链路。图中用模块位置概括职责，横向连接表示主要数据或调用联系，完整实现细节可以在代码和报告中核对。</a:t>
            </a:r>
          </a:p>
          <a:p/>
          <a:p>
            <a:r>
              <a:t>数据与图像来源：</a:t>
            </a:r>
          </a:p>
          <a:p>
            <a:r>
              <a:t>src/frontend；src/api；src/services/application.py；src/agent/react_loop.py；src/retrieval；artifacts/course-report/figures/fig01_architecture.pdf。</a:t>
            </a:r>
          </a:p>
          <a:p/>
          <a:p>
            <a:r>
              <a:t>解释范围：</a:t>
            </a:r>
          </a:p>
          <a:p>
            <a:r>
              <a:t>本地模型标签research-qwen:7b。Embedding为BGE-M3，重排模型为bge-reranker-base，图中未展开所有内部依赖。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三种解析器均在同一组10篇PDF上运行。PyPDF2累计耗时较短，但119个锚点中恢复114个。我们保留多方案对照，不把字符数量或速度当作全部解析质量。切分支持固定、递归和句段边界。超长编码使用原始token-ID分窗，避免decode后重新编码造成长度膨胀，同时保留完整尾部。</a:t>
            </a:r>
          </a:p>
          <a:p/>
          <a:p>
            <a:r>
              <a:t>数据与图像来源：</a:t>
            </a:r>
          </a:p>
          <a:p>
            <a:r>
              <a:t>artifacts/course-report/data/report-data.json tables.parsers / parser_records / chunking；src/retrieval/token_windows.py。</a:t>
            </a:r>
          </a:p>
          <a:p/>
          <a:p>
            <a:r>
              <a:t>解释范围：</a:t>
            </a:r>
          </a:p>
          <a:p>
            <a:r>
              <a:t>分块大小采用项目定义的轻量文本计数单位，不直接等同模型供应商token。句段边界切分不称为向量聚类语义分块。</a:t>
            </a:r>
          </a:p>
          <a:p>
            <a:br/>
            <a:br/>
            <a:r>
              <a:t>报告图件：artifacts/course-report/figures/fig03_parsers.pdf、fig03_parsers.png。选用A、B两个完整面板。</a:t>
            </a:r>
            <a:br/>
            <a:r>
              <a:t>原图数据与标注保持不变，通过幻灯片原生裁剪去除重复总标题或通用脚注，来源文件未修改。此为嵌入的报告原图（non-editable source figure），修改图内数据请更新报告源图后替换。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nse和BM25分别利用语义和关键词信息，手写RRF根据名次融合，不直接相加不同尺度的分数。重排模型再联合判断问题与候选片段。生成阶段约束回答使用给定来源，服务端将来源编号映射到原文位置，并检查未知引用与不受支持的数字。这些检查提高可核查性，但不能证明每个论断语义正确。</a:t>
            </a:r>
          </a:p>
          <a:p/>
          <a:p>
            <a:r>
              <a:t>数据与图像来源：</a:t>
            </a:r>
          </a:p>
          <a:p>
            <a:r>
              <a:t>src/retrieval/hybrid.py；src/retrieval/reranker.py；src/generation/rag_pipeline.py；artifacts/course-report/main.tex 检索与引用设计。</a:t>
            </a:r>
          </a:p>
          <a:p/>
          <a:p>
            <a:r>
              <a:t>解释范围：</a:t>
            </a:r>
          </a:p>
          <a:p>
            <a:r>
              <a:t>公式对参与融合的各检索列表求和。不同检索模式可在界面中选择。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gent并非对所有问题都多轮规划。计算、时间、元信息和已明确范围的任务可以快捷路由，复杂任务才进入动作与观察循环。八种工具均有参数结构和校验，执行受最大步数、超时和重试次数约束。实际五类路由探针均匹配，但小样本路由正确不等于开放任务总体准确。</a:t>
            </a:r>
          </a:p>
          <a:p/>
          <a:p>
            <a:r>
              <a:t>数据与图像来源：</a:t>
            </a:r>
          </a:p>
          <a:p>
            <a:r>
              <a:t>src/agent/registry.py；src/agent/router.py；src/agent/react_loop.py；src/agent/tools/local.py；report-data.json tables.agent。</a:t>
            </a:r>
          </a:p>
          <a:p/>
          <a:p>
            <a:r>
              <a:t>解释范围：</a:t>
            </a:r>
          </a:p>
          <a:p>
            <a:r>
              <a:t>示例仅说明工具用途，不将课程背景中的80% Token节省写成本项目结果。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展示两类真实界面。问答侧保存回答、引用和执行过程，证据侧可以选择文档、查看物理页并预览原始PDF。来源存在与论断被充分支持是两件事，我们把原页回查作为必要的人机协同环节。现场演示时，可选一条现有回答，打开来源，再回到运行记录。</a:t>
            </a:r>
          </a:p>
          <a:p/>
          <a:p>
            <a:r>
              <a:t>数据与图像来源：</a:t>
            </a:r>
          </a:p>
          <a:p>
            <a:r>
              <a:t>artifacts/course-report/figures/original-ui/新版科研问答.jpg；artifacts/course-report/figures/original-ui/新版原文证据.jpg；src/frontend/sections_chat.py。</a:t>
            </a:r>
          </a:p>
          <a:p/>
          <a:p>
            <a:r>
              <a:t>解释范围：</a:t>
            </a:r>
          </a:p>
          <a:p>
            <a:r>
              <a:t>截图保留实际页面内容，物理页与印刷页码可能不同。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评测语料固定为10篇视觉Transformer论文，共169个物理页。80道题按事实、比较、综合和推理划分，20道开发题用于配置选择，60道测试题用于冻结结果。后面的正式检索表基于359片段历史索引，而当前生产索引是342片段，不能把它们混为同一次完整复测。</a:t>
            </a:r>
          </a:p>
          <a:p/>
          <a:p>
            <a:r>
              <a:t>数据与图像来源：</a:t>
            </a:r>
          </a:p>
          <a:p>
            <a:r>
              <a:t>report-data.json tables.dataset / corpus / experimental_scopes；reports/datasets/dataset_manifest.json。</a:t>
            </a:r>
          </a:p>
          <a:p/>
          <a:p>
            <a:r>
              <a:t>解释范围：</a:t>
            </a:r>
          </a:p>
          <a:p>
            <a:r>
              <a:t>主题用于可控实验。尚未完成跨专题泛化评价与最新版统一60题端到端复测。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在同一60道测试题和359片段索引下，重排模式Hit@5达到61.67%，比向量检索提高20个百分点，MRR和Recall@5也提高。但平均CPU排序时间约16.71秒，向量和混合分别约3.20和8.27毫秒。我们因此保留可选择的模式，而不声称重排在所有交互场景都更优。</a:t>
            </a:r>
          </a:p>
          <a:p/>
          <a:p>
            <a:r>
              <a:t>数据与图像来源：</a:t>
            </a:r>
          </a:p>
          <a:p>
            <a:r>
              <a:t>report-data.json tables.retrieval_test / retrieval_records；reports/experiments/retrieval。</a:t>
            </a:r>
          </a:p>
          <a:p/>
          <a:p>
            <a:r>
              <a:t>解释范围：</a:t>
            </a:r>
          </a:p>
          <a:p>
            <a:r>
              <a:t>MRR为保存候选深度下的倒数排名均值，不标为MRR@5。耗时不含共享查询编码和生成，不能与本地34.15秒总时延直接相减。</a:t>
            </a:r>
          </a:p>
          <a:p>
            <a:br/>
            <a:br/>
            <a:r>
              <a:t>报告图件：artifacts/course-report/figures/fig07_retrieval.pdf、fig07_retrieval.png。选用质量与实际排序耗时分布两个面板。</a:t>
            </a:r>
            <a:br/>
            <a:r>
              <a:t>原图数据与标注保持不变，通过幻灯片原生裁剪去除重复总标题或通用脚注，来源文件未修改。此为嵌入的报告原图（non-editable source figure），修改图内数据请更新报告源图后替换。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为了避免只看总体均值，我们将同一道题在不同方法下的结果配对，再对题号进行一万次重采样。重排相对向量的Hit@5平均增益为20个百分点，对应95%区间约10到31.67个百分点。混合相对向量的区间包含零，说明这个小幅均值变化受题目构成影响。这里描述不确定性，不据此作多重显著性结论。</a:t>
            </a:r>
          </a:p>
          <a:p/>
          <a:p>
            <a:r>
              <a:t>数据与图像来源：</a:t>
            </a:r>
          </a:p>
          <a:p>
            <a:r>
              <a:t>artifacts/course-report/data/advanced-statistics.json paired_bootstrap；build_advanced_figures.py derive_statistics。</a:t>
            </a:r>
          </a:p>
          <a:p/>
          <a:p>
            <a:r>
              <a:t>解释范围：</a:t>
            </a:r>
          </a:p>
          <a:p>
            <a:r>
              <a:t>左图与右表均明确使用百分点。60题全部同题配对。</a:t>
            </a:r>
          </a:p>
          <a:p>
            <a:br/>
            <a:br/>
            <a:r>
              <a:t>报告图件：artifacts/course-report/figures/fig18_paired_effects.pdf、fig18_paired_effects.png。选用Hit@5、MRR、Recall@5三个面板。</a:t>
            </a:r>
            <a:br/>
            <a:r>
              <a:t>原图数据与标注保持不变，通过幻灯片原生裁剪去除重复总标题或通用脚注，来源文件未修改。此为嵌入的报告原图（non-editable source figure），修改图内数据请更新报告源图后替换。保留原量纲，0.20对应20个百分点，不能直接把横轴0.20写作0.20个百分点。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60条基线回答接受同一套1到5分AI辅助评审。流畅性均分4.58，而完整性和引用支撑约为2.98和3.03，差距说明语言通顺不能替代事实和证据。逐题统计中，有13条回答虽然流畅性至少4分，正确性却不超过2分。评分没有独立人工复核，因此我们将其作为探索性质量证据。</a:t>
            </a:r>
          </a:p>
          <a:p/>
          <a:p>
            <a:r>
              <a:t>数据与图像来源：</a:t>
            </a:r>
          </a:p>
          <a:p>
            <a:r>
              <a:t>report-data.json tables.baseline_ai_quality / baseline_ai_scores；advanced-statistics.json ai_quality。</a:t>
            </a:r>
          </a:p>
          <a:p/>
          <a:p>
            <a:r>
              <a:t>解释范围：</a:t>
            </a:r>
          </a:p>
          <a:p>
            <a:r>
              <a:t>使用有序量表的均值作描述性汇总，不推断独立人工一致性或评分因果关系。</a:t>
            </a:r>
          </a:p>
          <a:p>
            <a:br/>
            <a:br/>
            <a:r>
              <a:t>报告图件：artifacts/course-report/figures/fig11_ai_quality.pdf、fig11_ai_quality.png。选用A评分档位分布，等级图例用PPT文字补充。</a:t>
            </a:r>
            <a:br/>
            <a:r>
              <a:t>原图数据与标注保持不变，通过幻灯片原生裁剪去除重复总标题或通用脚注，来源文件未修改。此为嵌入的报告原图（non-editable source figure），修改图内数据请更新报告源图后替换。</a:t>
            </a:r>
          </a:p>
          <a:p>
            <a:br/>
            <a:br/>
            <a:r>
              <a:t>报告图件：artifacts/course-report/figures/fig20_quality_association.pdf、fig20_quality_association.png。选用C流畅性与正确性的离散计数气泡。</a:t>
            </a:r>
            <a:br/>
            <a:r>
              <a:t>原图数据与标注保持不变，通过幻灯片原生裁剪去除重复总标题或通用脚注，来源文件未修改。此为嵌入的报告原图（non-editable source figure），修改图内数据请更新报告源图后替换。气泡面积表示题目数，不以连续密度替代离散有序评分。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提示词实验保持冻结检索上下文相同，每个条件只有四道题。引用支撑均分从2.50提高到3.50，但四题变化分别为加4、加1、不变和减1，正确性均值都为4.25。因此我们认为约束改善了部分引用行为，而不能宣布总体回答能力稳定提高。参数温度为零的条件仍出现事实错误。</a:t>
            </a:r>
          </a:p>
          <a:p/>
          <a:p>
            <a:r>
              <a:t>数据与图像来源：</a:t>
            </a:r>
          </a:p>
          <a:p>
            <a:r>
              <a:t>report-data.json tables.prompt_ai_quality / quality_conditions；advanced-statistics.json prompt_pairs。</a:t>
            </a:r>
          </a:p>
          <a:p/>
          <a:p>
            <a:r>
              <a:t>解释范围：</a:t>
            </a:r>
          </a:p>
          <a:p>
            <a:r>
              <a:t>参数比较只覆盖四题单次、未固定采样种子，不能宣称稳定最优。</a:t>
            </a:r>
          </a:p>
          <a:p>
            <a:br/>
            <a:br/>
            <a:r>
              <a:t>报告图件：artifacts/course-report/figures/fig21_prompt_pairs.pdf、fig21_prompt_pairs.png。选用四维逐题配对与共用图例。</a:t>
            </a:r>
            <a:br/>
            <a:r>
              <a:t>原图数据与标注保持不变，通过幻灯片原生裁剪去除重复总标题或通用脚注，来源文件未修改。此为嵌入的报告原图（non-editable source figure），修改图内数据请更新报告源图后替换。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一个扩展设计是条件约束的论文比较。论文中的准确率经常对应不同数据集、任务或训练条件，直接并列数字容易误导。我们使用结构化输出并逐列检查来源与数值，条件不足时给出比较边界。输出结构可用并不等于语义已经正确，仍需要来源复核。</a:t>
            </a:r>
          </a:p>
          <a:p/>
          <a:p>
            <a:r>
              <a:t>数据与图像来源：</a:t>
            </a:r>
          </a:p>
          <a:p>
            <a:r>
              <a:t>src/agent/tools/local.py compare_papers；artifacts/course-report/figures/original-ui/新版论文对比.jpg；report-data.json tables.bad_cases BC-GENERATION-01。</a:t>
            </a:r>
          </a:p>
          <a:p/>
          <a:p>
            <a:r>
              <a:t>解释范围：</a:t>
            </a:r>
          </a:p>
          <a:p>
            <a:r>
              <a:t>历史线上前后样例的关注点存在变化，仅作诊断证据，不作为受控因果性能比较。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一个具体Bad Case来自Swin回答。模型把来源S1写为第4页，但服务器保存的S1来自物理页2。我们将页码映射从模型自由生成改为服务器根据原文元数据维护，合并来源也逐一展开检查。回归测试证明已知错误能够校正，但论断是否被来源充分支持仍是语义问题，需要人工或更严格的评审。</a:t>
            </a:r>
          </a:p>
          <a:p/>
          <a:p>
            <a:r>
              <a:t>数据与图像来源：</a:t>
            </a:r>
          </a:p>
          <a:p>
            <a:r>
              <a:t>report-data.json tables.bad_cases BC-CITATION-01；reports/testing/ui-final-critical-20261010.xml；src/generation。</a:t>
            </a:r>
          </a:p>
          <a:p/>
          <a:p>
            <a:r>
              <a:t>解释范围：</a:t>
            </a:r>
          </a:p>
          <a:p>
            <a:r>
              <a:t>之前展示的原文截图只是功能例，不冒充本案例的受控修复前后截图。</a:t>
            </a:r>
          </a:p>
          <a:p>
            <a:br/>
            <a:br/>
            <a:r>
              <a:t>报告图件：artifacts/course-report/figures/fig17_badcase.pdf、fig17_badcase.png。选用A错误标签频数。</a:t>
            </a:r>
            <a:br/>
            <a:r>
              <a:t>原图数据与标注保持不变，通过幻灯片原生裁剪去除重复总标题或通用脚注，来源文件未修改。此为嵌入的报告原图（non-editable source figure），修改图内数据请更新报告源图后替换。多标签统计与右侧个案承担不同证据作用，不构造同题优化效果量。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部分是2026年10月15日真实本地验收，使用独立CvT论文工作区和真实本地模型，demo为false。33类独立检查全部通过，覆盖上传、索引、SSE生成、原件哈希、物理页预览和记录保存。该次问答端到端34.15秒，输入3537、输出395个Token。仍有五条质量核查提示，因此流程通过不代表答案语义全部正确。</a:t>
            </a:r>
          </a:p>
          <a:p/>
          <a:p>
            <a:r>
              <a:t>数据与图像来源：</a:t>
            </a:r>
          </a:p>
          <a:p>
            <a:r>
              <a:t>report-data.json local_runtime；reports/deployment/local-20261015/runtime-record.json；artifacts/course-report/figures/ui05_local.jpg。</a:t>
            </a:r>
          </a:p>
          <a:p/>
          <a:p>
            <a:r>
              <a:t>解释范围：</a:t>
            </a:r>
          </a:p>
          <a:p>
            <a:r>
              <a:t>120是含轮询的通过日志条数，不作为120项独立功能。按用户要求采用本地验收，Docker与重启验收未执行。</a:t>
            </a:r>
          </a:p>
          <a:p>
            <a:br/>
            <a:br/>
            <a:r>
              <a:t>报告图件：artifacts/course-report/figures/fig16_local_run.pdf、fig16_local_run.png。选用A重叠计时范围。</a:t>
            </a:r>
            <a:br/>
            <a:r>
              <a:t>原图数据与标注保持不变，通过幻灯片原生裁剪去除重复总标题或通用脚注，来源文件未修改。此为嵌入的报告原图（non-editable source figure），修改图内数据请更新报告源图后替换。33为独立检查项，120只是含轮询的通过日志条数。未实施Docker或重启验收。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开发集上固定1024的Hit@5为0.50，而不同方案的其他指标并不一致。保持相同342个递归片段时，m3e的Hit@5较高，BGE-large-zh的MRR略高。这些都是20题开发集的小样本结果，不能宣称某模型通用领先。当前生产使用BGE-M3，其配置选择不等于本表中的公平对照。</a:t>
            </a:r>
          </a:p>
          <a:p/>
          <a:p>
            <a:r>
              <a:t>数据与图像来源：</a:t>
            </a:r>
          </a:p>
          <a:p>
            <a:r>
              <a:t>report-data.json tables.chunking / embeddings；reports/experiments/retrieval。</a:t>
            </a:r>
          </a:p>
          <a:p/>
          <a:p>
            <a:r>
              <a:t>解释范围：</a:t>
            </a:r>
          </a:p>
          <a:p>
            <a:r>
              <a:t>切分大小是项目文本计数单位，标为512不代表provider token精确等长。</a:t>
            </a:r>
          </a:p>
          <a:p>
            <a:br/>
            <a:br/>
            <a:r>
              <a:t>报告图件：artifacts/course-report/figures/fig04_chunking.pdf、fig04_chunking.png。选用五种切分变体的质量与索引规模四面板。</a:t>
            </a:r>
            <a:br/>
            <a:r>
              <a:t>原图数据与标注保持不变，通过幻灯片原生裁剪去除重复总标题或通用脚注，来源文件未修改。此为嵌入的报告原图（non-editable source figure），修改图内数据请更新报告源图后替换。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参数实验包含温度、top-p和生成采样top-k的变化。表中质量是四题的AI辅助均分，而不是准确率。基线与采样top-k为20的均值相同，但逐题错误构成不同。由于单次、小样本且没有固定采样种子，不能依据这些均分宣布稳定最优配置。</a:t>
            </a:r>
          </a:p>
          <a:p/>
          <a:p>
            <a:r>
              <a:t>数据与图像来源：</a:t>
            </a:r>
          </a:p>
          <a:p>
            <a:r>
              <a:t>report-data.json tables.quality_conditions / quality_records；reports/experiments/generation/quality-comparison。</a:t>
            </a:r>
          </a:p>
          <a:p/>
          <a:p>
            <a:r>
              <a:t>解释范围：</a:t>
            </a:r>
          </a:p>
          <a:p>
            <a:r>
              <a:t>生成参数top-k和检索返回Top-K具有不同含义。</a:t>
            </a:r>
          </a:p>
          <a:p>
            <a:br/>
            <a:br/>
            <a:r>
              <a:t>报告图件：artifacts/course-report/figures/fig12_gen_parameters.pdf、fig12_gen_parameters.png。选用五种单因素配置的四维评分热图。</a:t>
            </a:r>
            <a:br/>
            <a:r>
              <a:t>原图数据与标注保持不变，通过幻灯片原生裁剪去除重复总标题或通用脚注，来源文件未修改。此为嵌入的报告原图（non-editable source figure），修改图内数据请更新报告源图后替换。底部成本顺序与图中五个参数条件的行顺序一致。采样Top-k不等于检索Top-K。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按题型看三种检索模式。事实、比较和综合任务在重排后均有覆盖改善，推理题的Hit@5仍约45.5%。四类题目的样本数分别是22、16、11和11，题目难度也不相同。因此我们用这些结果定位错误分布，不直接比较所谓题型固有难度。</a:t>
            </a:r>
          </a:p>
          <a:p/>
          <a:p>
            <a:r>
              <a:t>数据与图像来源：</a:t>
            </a:r>
          </a:p>
          <a:p>
            <a:r>
              <a:t>artifacts/course-report/figures/fig09_retrieval_categories.pdf；report-data.json tables.retrieval_category。</a:t>
            </a:r>
          </a:p>
          <a:p/>
          <a:p>
            <a:r>
              <a:t>解释范围：</a:t>
            </a:r>
          </a:p>
          <a:p>
            <a:r>
              <a:t>固定359片段历史索引，60道测试题。</a:t>
            </a:r>
          </a:p>
          <a:p>
            <a:br/>
            <a:br/>
            <a:r>
              <a:t>报告图件：artifacts/course-report/figures/fig09_retrieval_categories.pdf、fig09_retrieval_categories.png。选用完整题型热图及样本量。</a:t>
            </a:r>
            <a:br/>
            <a:r>
              <a:t>原图数据与标注保持不变，通过幻灯片原生裁剪去除重复总标题或通用脚注，来源文件未修改。此为嵌入的报告原图（non-editable source figure），修改图内数据请更新报告源图后替换。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保留综合与推理两组全部测试题，并没有挑选少量成功个案。数字表示保存候选Top20内首个相关项的名次，灰格和短横线表示未找到。即使某些问题没有达到Top5命中，也可能在后续候选中出现相关项。逐题图帮助我们定位持续失败和重排后证据救回的具体问题。</a:t>
            </a:r>
          </a:p>
          <a:p/>
          <a:p>
            <a:r>
              <a:t>数据与图像来源：</a:t>
            </a:r>
          </a:p>
          <a:p>
            <a:r>
              <a:t>artifacts/course-report/figures/fig19_rank_matrix.pdf；advanced-statistics.json rank_matrix。</a:t>
            </a:r>
          </a:p>
          <a:p/>
          <a:p>
            <a:r>
              <a:t>解释范围：</a:t>
            </a:r>
          </a:p>
          <a:p>
            <a:r>
              <a:t>这里只展示综合与推理共22题，完整60题图谱保存在报告中。</a:t>
            </a:r>
          </a:p>
          <a:p>
            <a:br/>
            <a:br/>
            <a:r>
              <a:t>报告图件：artifacts/course-report/figures/fig19_rank_matrix.pdf、fig19_rank_matrix.png。选用C综合和D推理两个完整面板及共用图例。</a:t>
            </a:r>
            <a:br/>
            <a:r>
              <a:t>原图数据与标注保持不变，通过幻灯片原生裁剪去除重复总标题或通用脚注，来源文件未修改。此为嵌入的报告原图（non-editable source figure），修改图内数据请更新报告源图后替换。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真实本地标准运行采用Ollama中的research-qwen:7b，对应Qwen2.5-7B-Instruct的Q4_K_M量化版本。Embedding和重排在CPU执行，生成使用本机已准备环境。成员姓名、学号和贡献比例按提供信息填写，具体职责细分还需成员确认。若老师追问工具效率：十个配对本地工具探针单线程24.125毫秒、双线程21.161毫秒，排除LLM和检索；缓存仅有一个完全重复查询探针，不推断总体命中率。</a:t>
            </a:r>
          </a:p>
          <a:p/>
          <a:p>
            <a:r>
              <a:t>数据与图像来源：</a:t>
            </a:r>
          </a:p>
          <a:p>
            <a:r>
              <a:t>report-data.json local_runtime / environment_snapshot / tables.parallel / tables.cache；artifacts/course-report/main.tex 团队及运行环境；docs/模型与API配置.md。</a:t>
            </a:r>
          </a:p>
          <a:p/>
          <a:p>
            <a:r>
              <a:t>解释范围：</a:t>
            </a:r>
          </a:p>
          <a:p>
            <a:r>
              <a:t>现有硬件为Windows11，RTX4060 Laptop用于本地模型环境，不将编码或重排的CPU实测值解释为GPU实测性能。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们的主要成果是把论文导入、混合检索、证据生成、工具协作和原文回查接成可运行的系统，并保留实验和运行证据。实测结果说明重排能够改善前五条证据覆盖，也显示CPU时延、完整性和引用支撑仍有限制。下一步优先开展独立人工复核和统一新版复测。以上是我们的汇报，请各位老师批评指正。</a:t>
            </a:r>
          </a:p>
          <a:p/>
          <a:p>
            <a:r>
              <a:t>数据与图像来源：</a:t>
            </a:r>
          </a:p>
          <a:p>
            <a:r>
              <a:t>artifacts/course-report/main.tex 总结与展望；report-data.json；当前项目README。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Subtitle"/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/>
      <p:sp>
        <p:nvSpPr>
          <p:cNvPr id="2" name="Section title"/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Body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/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  <p:sp>
        <p:nvSpPr>
          <p:cNvPr id="3" name="Right column"/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5.jpeg"/><Relationship Id="rId1" Type="http://schemas.openxmlformats.org/officeDocument/2006/relationships/image" Target="../media/image4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6.xml"/><Relationship Id="rId1" Type="http://schemas.openxmlformats.org/officeDocument/2006/relationships/chart" Target="../charts/char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1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3A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refined-3"/>
          <p:cNvSpPr>
            <a:spLocks noGrp="1"/>
          </p:cNvSpPr>
          <p:nvPr/>
        </p:nvSpPr>
        <p:spPr>
          <a:xfrm>
            <a:off x="609600" y="600075"/>
            <a:ext cx="6477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25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25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25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25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25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25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25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25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25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225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南京农业大学</a:t>
            </a:r>
            <a:endParaRPr sz="2250" b="0">
              <a:solidFill>
                <a:srgbClr val="C6D8E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refined-4"/>
          <p:cNvSpPr>
            <a:spLocks noGrp="1"/>
          </p:cNvSpPr>
          <p:nvPr/>
        </p:nvSpPr>
        <p:spPr>
          <a:xfrm>
            <a:off x="619125" y="1114425"/>
            <a:ext cx="6477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725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725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725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725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725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725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725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725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725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725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智慧农业学院（人工智能学院）</a:t>
            </a:r>
            <a:endParaRPr sz="1725" b="0">
              <a:solidFill>
                <a:srgbClr val="C6D8E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refined-5"/>
          <p:cNvSpPr>
            <a:spLocks noGrp="1"/>
          </p:cNvSpPr>
          <p:nvPr/>
        </p:nvSpPr>
        <p:spPr>
          <a:xfrm>
            <a:off x="571500" y="2171700"/>
            <a:ext cx="6905625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5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5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5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5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5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5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5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5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5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5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5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智能科研助理</a:t>
            </a:r>
            <a:endParaRPr sz="52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refined-6"/>
          <p:cNvSpPr>
            <a:spLocks noGrp="1"/>
          </p:cNvSpPr>
          <p:nvPr/>
        </p:nvSpPr>
        <p:spPr>
          <a:xfrm>
            <a:off x="619125" y="3295650"/>
            <a:ext cx="6477000" cy="1000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0">
                <a:solidFill>
                  <a:srgbClr val="A8D8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550" b="0">
                <a:solidFill>
                  <a:srgbClr val="A8D8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550" b="0">
                <a:solidFill>
                  <a:srgbClr val="A8D8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550" b="0">
                <a:solidFill>
                  <a:srgbClr val="A8D8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550" b="0">
                <a:solidFill>
                  <a:srgbClr val="A8D8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550" b="0">
                <a:solidFill>
                  <a:srgbClr val="A8D8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550" b="0">
                <a:solidFill>
                  <a:srgbClr val="A8D8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550" b="0">
                <a:solidFill>
                  <a:srgbClr val="A8D8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550" b="0">
                <a:solidFill>
                  <a:srgbClr val="A8D8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550" b="0">
                <a:solidFill>
                  <a:srgbClr val="A8D8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2550" b="0">
                <a:solidFill>
                  <a:srgbClr val="A8D8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0">
                <a:solidFill>
                  <a:srgbClr val="A8D8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基于 RAG + Agent 的</a:t>
            </a:r>
            <a:endParaRPr sz="2550" b="0">
              <a:solidFill>
                <a:srgbClr val="A8D8D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8000"/>
              </a:lnSpc>
              <a:buNone/>
              <a:defRPr sz="2550" b="0">
                <a:solidFill>
                  <a:srgbClr val="A8D8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0">
                <a:solidFill>
                  <a:srgbClr val="A8D8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论文知识库问答系统</a:t>
            </a:r>
            <a:endParaRPr sz="2550" b="0">
              <a:solidFill>
                <a:srgbClr val="A8D8D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fined-7"/>
          <p:cNvSpPr>
            <a:spLocks noGrp="1"/>
          </p:cNvSpPr>
          <p:nvPr/>
        </p:nvSpPr>
        <p:spPr>
          <a:xfrm>
            <a:off x="619125" y="4762500"/>
            <a:ext cx="6286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95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95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95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95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95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95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95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95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95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95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课程设计答辩</a:t>
            </a:r>
            <a:endParaRPr sz="1950" b="0">
              <a:solidFill>
                <a:srgbClr val="C6D8E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efined-8"/>
          <p:cNvSpPr>
            <a:spLocks noGrp="1"/>
          </p:cNvSpPr>
          <p:nvPr/>
        </p:nvSpPr>
        <p:spPr>
          <a:xfrm>
            <a:off x="619125" y="5848350"/>
            <a:ext cx="681037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1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1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1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1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1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1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1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1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1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21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赵志国   林骋   林弟伟</a:t>
            </a:r>
            <a:endParaRPr sz="21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rcRect l="1800" t="14500" r="1800" b="6000"/>
          <a:stretch>
            <a:fillRect/>
          </a:stretch>
        </p:blipFill>
        <p:spPr>
          <a:xfrm>
            <a:off x="7639050" y="2370178"/>
            <a:ext cx="3981450" cy="2270044"/>
          </a:xfrm>
          <a:prstGeom prst="rect">
            <a:avLst/>
          </a:prstGeom>
        </p:spPr>
      </p:pic>
      <p:sp>
        <p:nvSpPr>
          <p:cNvPr id="8" name="refined-9"/>
          <p:cNvSpPr>
            <a:spLocks noGrp="1"/>
          </p:cNvSpPr>
          <p:nvPr/>
        </p:nvSpPr>
        <p:spPr>
          <a:xfrm>
            <a:off x="7753350" y="5467350"/>
            <a:ext cx="3810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A8D8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800" b="1">
                <a:solidFill>
                  <a:srgbClr val="A8D8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800" b="1">
                <a:solidFill>
                  <a:srgbClr val="A8D8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800" b="1">
                <a:solidFill>
                  <a:srgbClr val="A8D8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800" b="1">
                <a:solidFill>
                  <a:srgbClr val="A8D8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800" b="1">
                <a:solidFill>
                  <a:srgbClr val="A8D8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800" b="1">
                <a:solidFill>
                  <a:srgbClr val="A8D8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800" b="1">
                <a:solidFill>
                  <a:srgbClr val="A8D8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800" b="1">
                <a:solidFill>
                  <a:srgbClr val="A8D8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800" b="1">
                <a:solidFill>
                  <a:srgbClr val="A8D8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800" b="1">
                <a:solidFill>
                  <a:srgbClr val="A8D8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A8D8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真实评测与逐题证据</a:t>
            </a:r>
            <a:endParaRPr sz="1800" b="1">
              <a:solidFill>
                <a:srgbClr val="A8D8D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efined-10"/>
          <p:cNvSpPr>
            <a:spLocks noGrp="1"/>
          </p:cNvSpPr>
          <p:nvPr/>
        </p:nvSpPr>
        <p:spPr>
          <a:xfrm>
            <a:off x="11334750" y="6343650"/>
            <a:ext cx="333375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defRPr sz="120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defRPr sz="120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defRPr sz="120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defRPr sz="120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defRPr sz="120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defRPr sz="120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defRPr sz="120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defRPr sz="120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defRPr sz="120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8000"/>
              </a:lnSpc>
              <a:buNone/>
              <a:defRPr sz="120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</a:t>
            </a:r>
            <a:endParaRPr sz="1200" b="0">
              <a:solidFill>
                <a:srgbClr val="C6D8E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4" name="text-7"/>
          <p:cNvSpPr>
            <a:spLocks noGrp="1"/>
          </p:cNvSpPr>
          <p:nvPr/>
        </p:nvSpPr>
        <p:spPr>
          <a:xfrm>
            <a:off x="685800" y="400050"/>
            <a:ext cx="108204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项目问题与目标</a:t>
            </a:r>
            <a:endParaRPr sz="3300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8"/>
          <p:cNvSpPr>
            <a:spLocks noGrp="1"/>
          </p:cNvSpPr>
          <p:nvPr/>
        </p:nvSpPr>
        <p:spPr>
          <a:xfrm>
            <a:off x="685800" y="1143000"/>
            <a:ext cx="108204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科研问答需要同时给出回答、来源和可回查的执行记录</a:t>
            </a:r>
            <a:endParaRPr sz="1725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-9"/>
          <p:cNvSpPr>
            <a:spLocks noGrp="1"/>
          </p:cNvSpPr>
          <p:nvPr/>
        </p:nvSpPr>
        <p:spPr>
          <a:xfrm>
            <a:off x="11334750" y="632460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8000"/>
              </a:lnSpc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  <a:endParaRPr sz="1200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-10"/>
          <p:cNvSpPr>
            <a:spLocks noGrp="1"/>
          </p:cNvSpPr>
          <p:nvPr/>
        </p:nvSpPr>
        <p:spPr>
          <a:xfrm>
            <a:off x="685800" y="1962150"/>
            <a:ext cx="1082040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“ViT 与 CvT 的结构设计有哪些差异？”</a:t>
            </a:r>
            <a:endParaRPr sz="3300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-11"/>
          <p:cNvSpPr>
            <a:spLocks noGrp="1"/>
          </p:cNvSpPr>
          <p:nvPr/>
        </p:nvSpPr>
        <p:spPr>
          <a:xfrm>
            <a:off x="685800" y="3209925"/>
            <a:ext cx="31432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</a:t>
            </a:r>
            <a:endParaRPr sz="4050" b="1">
              <a:solidFill>
                <a:srgbClr val="1689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-12"/>
          <p:cNvSpPr>
            <a:spLocks noGrp="1"/>
          </p:cNvSpPr>
          <p:nvPr/>
        </p:nvSpPr>
        <p:spPr>
          <a:xfrm>
            <a:off x="685800" y="3933825"/>
            <a:ext cx="3143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证据定位</a:t>
            </a:r>
            <a:endParaRPr sz="2175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-13"/>
          <p:cNvSpPr>
            <a:spLocks noGrp="1"/>
          </p:cNvSpPr>
          <p:nvPr/>
        </p:nvSpPr>
        <p:spPr>
          <a:xfrm>
            <a:off x="685800" y="4457700"/>
            <a:ext cx="3143250" cy="1238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跨论文查找相关段落，保留文档和物理页位置。</a:t>
            </a:r>
            <a:endParaRPr sz="1875" b="0">
              <a:solidFill>
                <a:srgbClr val="273F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-14"/>
          <p:cNvSpPr>
            <a:spLocks noGrp="1"/>
          </p:cNvSpPr>
          <p:nvPr/>
        </p:nvSpPr>
        <p:spPr>
          <a:xfrm>
            <a:off x="4429125" y="3209925"/>
            <a:ext cx="31432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  <a:endParaRPr sz="4050" b="1">
              <a:solidFill>
                <a:srgbClr val="1689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text-15"/>
          <p:cNvSpPr>
            <a:spLocks noGrp="1"/>
          </p:cNvSpPr>
          <p:nvPr/>
        </p:nvSpPr>
        <p:spPr>
          <a:xfrm>
            <a:off x="4429125" y="3933825"/>
            <a:ext cx="3143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证据约束生成</a:t>
            </a:r>
            <a:endParaRPr sz="2175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text-16"/>
          <p:cNvSpPr>
            <a:spLocks noGrp="1"/>
          </p:cNvSpPr>
          <p:nvPr/>
        </p:nvSpPr>
        <p:spPr>
          <a:xfrm>
            <a:off x="4429125" y="4457700"/>
            <a:ext cx="3143250" cy="1238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根据检索结果组织回答，并检查来源编号与数字。</a:t>
            </a:r>
            <a:endParaRPr sz="1875" b="0">
              <a:solidFill>
                <a:srgbClr val="273F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-17"/>
          <p:cNvSpPr>
            <a:spLocks noGrp="1"/>
          </p:cNvSpPr>
          <p:nvPr/>
        </p:nvSpPr>
        <p:spPr>
          <a:xfrm>
            <a:off x="8172450" y="3209925"/>
            <a:ext cx="31432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  <a:endParaRPr sz="4050" b="1">
              <a:solidFill>
                <a:srgbClr val="1689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-18"/>
          <p:cNvSpPr>
            <a:spLocks noGrp="1"/>
          </p:cNvSpPr>
          <p:nvPr/>
        </p:nvSpPr>
        <p:spPr>
          <a:xfrm>
            <a:off x="8172450" y="3933825"/>
            <a:ext cx="3143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工具协作</a:t>
            </a:r>
            <a:endParaRPr sz="2175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-19"/>
          <p:cNvSpPr>
            <a:spLocks noGrp="1"/>
          </p:cNvSpPr>
          <p:nvPr/>
        </p:nvSpPr>
        <p:spPr>
          <a:xfrm>
            <a:off x="8172450" y="4457700"/>
            <a:ext cx="3143250" cy="1238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计算、论文信息和条件约束比较分别调用对应工具。</a:t>
            </a:r>
            <a:endParaRPr sz="1875" b="0">
              <a:solidFill>
                <a:srgbClr val="273F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text-20"/>
          <p:cNvSpPr>
            <a:spLocks noGrp="1"/>
          </p:cNvSpPr>
          <p:nvPr/>
        </p:nvSpPr>
        <p:spPr>
          <a:xfrm>
            <a:off x="685800" y="400050"/>
            <a:ext cx="108204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论文库与用户工作流</a:t>
            </a:r>
            <a:endParaRPr sz="3300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21"/>
          <p:cNvSpPr>
            <a:spLocks noGrp="1"/>
          </p:cNvSpPr>
          <p:nvPr/>
        </p:nvSpPr>
        <p:spPr>
          <a:xfrm>
            <a:off x="685800" y="1143000"/>
            <a:ext cx="108204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导入文档后，系统持续记录处理状态，并保留原件与索引信息</a:t>
            </a:r>
            <a:endParaRPr sz="1725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-23"/>
          <p:cNvSpPr>
            <a:spLocks noGrp="1"/>
          </p:cNvSpPr>
          <p:nvPr/>
        </p:nvSpPr>
        <p:spPr>
          <a:xfrm>
            <a:off x="11334750" y="632460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8000"/>
              </a:lnSpc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  <a:endParaRPr sz="1200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rcRect l="12000" t="1500" r="1500" b="1500"/>
          <a:stretch>
            <a:fillRect/>
          </a:stretch>
        </p:blipFill>
        <p:spPr>
          <a:xfrm>
            <a:off x="3679825" y="1809750"/>
            <a:ext cx="7823200" cy="4400550"/>
          </a:xfrm>
          <a:prstGeom prst="rect">
            <a:avLst/>
          </a:prstGeom>
        </p:spPr>
      </p:pic>
      <p:sp>
        <p:nvSpPr>
          <p:cNvPr id="6" name="text-24"/>
          <p:cNvSpPr>
            <a:spLocks noGrp="1"/>
          </p:cNvSpPr>
          <p:nvPr/>
        </p:nvSpPr>
        <p:spPr>
          <a:xfrm>
            <a:off x="685800" y="2076450"/>
            <a:ext cx="271462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多格式导入</a:t>
            </a:r>
            <a:endParaRPr sz="2175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-25"/>
          <p:cNvSpPr>
            <a:spLocks noGrp="1"/>
          </p:cNvSpPr>
          <p:nvPr/>
        </p:nvSpPr>
        <p:spPr>
          <a:xfrm>
            <a:off x="685800" y="2600325"/>
            <a:ext cx="2714625" cy="1238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PDF、DOCX</a:t>
            </a:r>
            <a:endParaRPr sz="1875" b="0">
              <a:solidFill>
                <a:srgbClr val="273F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8000"/>
              </a:lnSpc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TXT、Markdown</a:t>
            </a:r>
            <a:endParaRPr sz="1875" b="0">
              <a:solidFill>
                <a:srgbClr val="273F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-26"/>
          <p:cNvSpPr>
            <a:spLocks noGrp="1"/>
          </p:cNvSpPr>
          <p:nvPr/>
        </p:nvSpPr>
        <p:spPr>
          <a:xfrm>
            <a:off x="685800" y="3486150"/>
            <a:ext cx="271462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状态与恢复</a:t>
            </a:r>
            <a:endParaRPr sz="2175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text-27"/>
          <p:cNvSpPr>
            <a:spLocks noGrp="1"/>
          </p:cNvSpPr>
          <p:nvPr/>
        </p:nvSpPr>
        <p:spPr>
          <a:xfrm>
            <a:off x="685800" y="4010025"/>
            <a:ext cx="2714625" cy="1238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批量导入与进度跟踪</a:t>
            </a:r>
            <a:endParaRPr sz="1875" b="0">
              <a:solidFill>
                <a:srgbClr val="273F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8000"/>
              </a:lnSpc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处理失败可以重试</a:t>
            </a:r>
            <a:endParaRPr sz="1875" b="0">
              <a:solidFill>
                <a:srgbClr val="273F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text-28"/>
          <p:cNvSpPr>
            <a:spLocks noGrp="1"/>
          </p:cNvSpPr>
          <p:nvPr/>
        </p:nvSpPr>
        <p:spPr>
          <a:xfrm>
            <a:off x="685800" y="4895850"/>
            <a:ext cx="271462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原件与元信息</a:t>
            </a:r>
            <a:endParaRPr sz="2175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-29"/>
          <p:cNvSpPr>
            <a:spLocks noGrp="1"/>
          </p:cNvSpPr>
          <p:nvPr/>
        </p:nvSpPr>
        <p:spPr>
          <a:xfrm>
            <a:off x="685800" y="5419725"/>
            <a:ext cx="2714625" cy="1238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论文信息编辑</a:t>
            </a:r>
            <a:endParaRPr sz="1875" b="0">
              <a:solidFill>
                <a:srgbClr val="273F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8000"/>
              </a:lnSpc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原件下载与片段预览</a:t>
            </a:r>
            <a:endParaRPr sz="1875" b="0">
              <a:solidFill>
                <a:srgbClr val="273F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40" name="肘形连接符 39"/>
          <p:cNvCxnSpPr>
            <a:stCxn id="8" idx="2"/>
            <a:endCxn id="14" idx="0"/>
          </p:cNvCxnSpPr>
          <p:nvPr/>
        </p:nvCxnSpPr>
        <p:spPr>
          <a:xfrm flipH="1">
            <a:off x="2257425" y="2800350"/>
            <a:ext cx="3838575" cy="533400"/>
          </a:xfrm>
          <a:prstGeom prst="bentConnector4">
            <a:avLst>
              <a:gd name="adj1" fmla="val 0"/>
              <a:gd name="adj2" fmla="val 50000"/>
            </a:avLst>
          </a:prstGeom>
          <a:ln w="17145">
            <a:solidFill>
              <a:srgbClr val="70808C"/>
            </a:solidFill>
            <a:tailEnd type="triangle" w="med" len="med"/>
          </a:ln>
        </p:spPr>
      </p:cxnSp>
      <p:sp>
        <p:nvSpPr>
          <p:cNvPr id="41" name="text-30"/>
          <p:cNvSpPr>
            <a:spLocks noGrp="1"/>
          </p:cNvSpPr>
          <p:nvPr/>
        </p:nvSpPr>
        <p:spPr>
          <a:xfrm>
            <a:off x="685800" y="400050"/>
            <a:ext cx="108204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系统总体架构</a:t>
            </a:r>
            <a:endParaRPr sz="3300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31"/>
          <p:cNvSpPr>
            <a:spLocks noGrp="1"/>
          </p:cNvSpPr>
          <p:nvPr/>
        </p:nvSpPr>
        <p:spPr>
          <a:xfrm>
            <a:off x="685800" y="1143000"/>
            <a:ext cx="108204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前端与服务分离，核心路由、证据处理和运行记录由项目代码控制</a:t>
            </a:r>
            <a:endParaRPr sz="1725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-33"/>
          <p:cNvSpPr>
            <a:spLocks noGrp="1"/>
          </p:cNvSpPr>
          <p:nvPr/>
        </p:nvSpPr>
        <p:spPr>
          <a:xfrm>
            <a:off x="11334750" y="632460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8000"/>
              </a:lnSpc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</a:t>
            </a:r>
            <a:endParaRPr sz="1200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diagram-node-34"/>
          <p:cNvSpPr>
            <a:spLocks noGrp="1"/>
          </p:cNvSpPr>
          <p:nvPr/>
        </p:nvSpPr>
        <p:spPr>
          <a:xfrm>
            <a:off x="685800" y="1752600"/>
            <a:ext cx="3143250" cy="1047750"/>
          </a:xfrm>
          <a:prstGeom prst="rect">
            <a:avLst/>
          </a:prstGeom>
          <a:solidFill>
            <a:srgbClr val="F3F7F9"/>
          </a:solidFill>
          <a:ln w="9525">
            <a:solidFill>
              <a:srgbClr val="DEE7ED"/>
            </a:solidFill>
          </a:ln>
        </p:spPr>
      </p:sp>
      <p:sp>
        <p:nvSpPr>
          <p:cNvPr id="6" name="text-35"/>
          <p:cNvSpPr>
            <a:spLocks noGrp="1"/>
          </p:cNvSpPr>
          <p:nvPr/>
        </p:nvSpPr>
        <p:spPr>
          <a:xfrm>
            <a:off x="857250" y="1866900"/>
            <a:ext cx="28003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Streamlit 交互</a:t>
            </a:r>
            <a:endParaRPr sz="1950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-36"/>
          <p:cNvSpPr>
            <a:spLocks noGrp="1"/>
          </p:cNvSpPr>
          <p:nvPr/>
        </p:nvSpPr>
        <p:spPr>
          <a:xfrm>
            <a:off x="857250" y="2266950"/>
            <a:ext cx="280035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论文库、问答、比较、记录</a:t>
            </a:r>
            <a:endParaRPr sz="1650" b="0">
              <a:solidFill>
                <a:srgbClr val="273F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diagram-node-37"/>
          <p:cNvSpPr>
            <a:spLocks noGrp="1"/>
          </p:cNvSpPr>
          <p:nvPr/>
        </p:nvSpPr>
        <p:spPr>
          <a:xfrm>
            <a:off x="4524375" y="1752600"/>
            <a:ext cx="3143250" cy="1047750"/>
          </a:xfrm>
          <a:prstGeom prst="rect">
            <a:avLst/>
          </a:prstGeom>
          <a:solidFill>
            <a:srgbClr val="F3F7F9"/>
          </a:solidFill>
          <a:ln w="9525">
            <a:solidFill>
              <a:srgbClr val="DEE7ED"/>
            </a:solidFill>
          </a:ln>
        </p:spPr>
      </p:sp>
      <p:sp>
        <p:nvSpPr>
          <p:cNvPr id="9" name="text-38"/>
          <p:cNvSpPr>
            <a:spLocks noGrp="1"/>
          </p:cNvSpPr>
          <p:nvPr/>
        </p:nvSpPr>
        <p:spPr>
          <a:xfrm>
            <a:off x="4695825" y="1866900"/>
            <a:ext cx="28003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FastAPI 服务</a:t>
            </a:r>
            <a:endParaRPr sz="1950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text-39"/>
          <p:cNvSpPr>
            <a:spLocks noGrp="1"/>
          </p:cNvSpPr>
          <p:nvPr/>
        </p:nvSpPr>
        <p:spPr>
          <a:xfrm>
            <a:off x="4695825" y="2266950"/>
            <a:ext cx="280035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REST 接口与 SSE 流式响应</a:t>
            </a:r>
            <a:endParaRPr sz="1650" b="0">
              <a:solidFill>
                <a:srgbClr val="273F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diagram-node-40"/>
          <p:cNvSpPr>
            <a:spLocks noGrp="1"/>
          </p:cNvSpPr>
          <p:nvPr/>
        </p:nvSpPr>
        <p:spPr>
          <a:xfrm>
            <a:off x="8362950" y="1752600"/>
            <a:ext cx="3143250" cy="1047750"/>
          </a:xfrm>
          <a:prstGeom prst="rect">
            <a:avLst/>
          </a:prstGeom>
          <a:solidFill>
            <a:srgbClr val="F3F7F9"/>
          </a:solidFill>
          <a:ln w="9525">
            <a:solidFill>
              <a:srgbClr val="DEE7ED"/>
            </a:solidFill>
          </a:ln>
        </p:spPr>
      </p:sp>
      <p:sp>
        <p:nvSpPr>
          <p:cNvPr id="12" name="text-41"/>
          <p:cNvSpPr>
            <a:spLocks noGrp="1"/>
          </p:cNvSpPr>
          <p:nvPr/>
        </p:nvSpPr>
        <p:spPr>
          <a:xfrm>
            <a:off x="8534400" y="1866900"/>
            <a:ext cx="28003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运行观测</a:t>
            </a:r>
            <a:endParaRPr sz="1950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-42"/>
          <p:cNvSpPr>
            <a:spLocks noGrp="1"/>
          </p:cNvSpPr>
          <p:nvPr/>
        </p:nvSpPr>
        <p:spPr>
          <a:xfrm>
            <a:off x="8534400" y="2266950"/>
            <a:ext cx="280035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会话、用量与工具轨迹</a:t>
            </a:r>
            <a:endParaRPr sz="1650" b="0">
              <a:solidFill>
                <a:srgbClr val="273F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diagram-node-43"/>
          <p:cNvSpPr>
            <a:spLocks noGrp="1"/>
          </p:cNvSpPr>
          <p:nvPr/>
        </p:nvSpPr>
        <p:spPr>
          <a:xfrm>
            <a:off x="685800" y="3333750"/>
            <a:ext cx="3143250" cy="1047750"/>
          </a:xfrm>
          <a:prstGeom prst="rect">
            <a:avLst/>
          </a:prstGeom>
          <a:solidFill>
            <a:srgbClr val="F3F7F9"/>
          </a:solidFill>
          <a:ln w="9525">
            <a:solidFill>
              <a:srgbClr val="DEE7ED"/>
            </a:solidFill>
          </a:ln>
        </p:spPr>
      </p:sp>
      <p:sp>
        <p:nvSpPr>
          <p:cNvPr id="15" name="text-44"/>
          <p:cNvSpPr>
            <a:spLocks noGrp="1"/>
          </p:cNvSpPr>
          <p:nvPr/>
        </p:nvSpPr>
        <p:spPr>
          <a:xfrm>
            <a:off x="857250" y="3448050"/>
            <a:ext cx="28003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Agent 控制器</a:t>
            </a:r>
            <a:endParaRPr sz="1950" b="1">
              <a:solidFill>
                <a:srgbClr val="1689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text-45"/>
          <p:cNvSpPr>
            <a:spLocks noGrp="1"/>
          </p:cNvSpPr>
          <p:nvPr/>
        </p:nvSpPr>
        <p:spPr>
          <a:xfrm>
            <a:off x="857250" y="3848100"/>
            <a:ext cx="280035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路由、工具、记忆、有界重试</a:t>
            </a:r>
            <a:endParaRPr sz="1650" b="0">
              <a:solidFill>
                <a:srgbClr val="273F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diagram-node-46"/>
          <p:cNvSpPr>
            <a:spLocks noGrp="1"/>
          </p:cNvSpPr>
          <p:nvPr/>
        </p:nvSpPr>
        <p:spPr>
          <a:xfrm>
            <a:off x="4524375" y="3333750"/>
            <a:ext cx="3143250" cy="1047750"/>
          </a:xfrm>
          <a:prstGeom prst="rect">
            <a:avLst/>
          </a:prstGeom>
          <a:solidFill>
            <a:srgbClr val="F3F7F9"/>
          </a:solidFill>
          <a:ln w="9525">
            <a:solidFill>
              <a:srgbClr val="DEE7ED"/>
            </a:solidFill>
          </a:ln>
        </p:spPr>
      </p:sp>
      <p:sp>
        <p:nvSpPr>
          <p:cNvPr id="18" name="text-47"/>
          <p:cNvSpPr>
            <a:spLocks noGrp="1"/>
          </p:cNvSpPr>
          <p:nvPr/>
        </p:nvSpPr>
        <p:spPr>
          <a:xfrm>
            <a:off x="4695825" y="3448050"/>
            <a:ext cx="28003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RAG 与检索</a:t>
            </a:r>
            <a:endParaRPr sz="1950" b="1">
              <a:solidFill>
                <a:srgbClr val="1689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-48"/>
          <p:cNvSpPr>
            <a:spLocks noGrp="1"/>
          </p:cNvSpPr>
          <p:nvPr/>
        </p:nvSpPr>
        <p:spPr>
          <a:xfrm>
            <a:off x="4695825" y="3848100"/>
            <a:ext cx="280035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Dense、BM25、RRF、重排</a:t>
            </a:r>
            <a:endParaRPr sz="1650" b="0">
              <a:solidFill>
                <a:srgbClr val="273F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diagram-node-49"/>
          <p:cNvSpPr>
            <a:spLocks noGrp="1"/>
          </p:cNvSpPr>
          <p:nvPr/>
        </p:nvSpPr>
        <p:spPr>
          <a:xfrm>
            <a:off x="8362950" y="3333750"/>
            <a:ext cx="3143250" cy="1047750"/>
          </a:xfrm>
          <a:prstGeom prst="rect">
            <a:avLst/>
          </a:prstGeom>
          <a:solidFill>
            <a:srgbClr val="F3F7F9"/>
          </a:solidFill>
          <a:ln w="9525">
            <a:solidFill>
              <a:srgbClr val="DEE7ED"/>
            </a:solidFill>
          </a:ln>
        </p:spPr>
      </p:sp>
      <p:sp>
        <p:nvSpPr>
          <p:cNvPr id="21" name="text-50"/>
          <p:cNvSpPr>
            <a:spLocks noGrp="1"/>
          </p:cNvSpPr>
          <p:nvPr/>
        </p:nvSpPr>
        <p:spPr>
          <a:xfrm>
            <a:off x="8534400" y="3448050"/>
            <a:ext cx="28003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C792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950" b="1">
                <a:solidFill>
                  <a:srgbClr val="C792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950" b="1">
                <a:solidFill>
                  <a:srgbClr val="C792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950" b="1">
                <a:solidFill>
                  <a:srgbClr val="C792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950" b="1">
                <a:solidFill>
                  <a:srgbClr val="C792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950" b="1">
                <a:solidFill>
                  <a:srgbClr val="C792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950" b="1">
                <a:solidFill>
                  <a:srgbClr val="C792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950" b="1">
                <a:solidFill>
                  <a:srgbClr val="C792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950" b="1">
                <a:solidFill>
                  <a:srgbClr val="C792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950" b="1">
                <a:solidFill>
                  <a:srgbClr val="C792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950" b="1">
                <a:solidFill>
                  <a:srgbClr val="C792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C792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Ollama 本地模型</a:t>
            </a:r>
            <a:endParaRPr sz="1950" b="1">
              <a:solidFill>
                <a:srgbClr val="C7923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text-51"/>
          <p:cNvSpPr>
            <a:spLocks noGrp="1"/>
          </p:cNvSpPr>
          <p:nvPr/>
        </p:nvSpPr>
        <p:spPr>
          <a:xfrm>
            <a:off x="8534400" y="3848100"/>
            <a:ext cx="280035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Qwen2.5-7B-Instruct</a:t>
            </a:r>
            <a:endParaRPr sz="1650" b="0">
              <a:solidFill>
                <a:srgbClr val="273F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diagram-node-52"/>
          <p:cNvSpPr>
            <a:spLocks noGrp="1"/>
          </p:cNvSpPr>
          <p:nvPr/>
        </p:nvSpPr>
        <p:spPr>
          <a:xfrm>
            <a:off x="685800" y="4914900"/>
            <a:ext cx="3143250" cy="1047750"/>
          </a:xfrm>
          <a:prstGeom prst="rect">
            <a:avLst/>
          </a:prstGeom>
          <a:solidFill>
            <a:srgbClr val="F3F7F9"/>
          </a:solidFill>
          <a:ln w="9525">
            <a:solidFill>
              <a:srgbClr val="DEE7ED"/>
            </a:solidFill>
          </a:ln>
        </p:spPr>
      </p:sp>
      <p:sp>
        <p:nvSpPr>
          <p:cNvPr id="24" name="text-53"/>
          <p:cNvSpPr>
            <a:spLocks noGrp="1"/>
          </p:cNvSpPr>
          <p:nvPr/>
        </p:nvSpPr>
        <p:spPr>
          <a:xfrm>
            <a:off x="857250" y="5029200"/>
            <a:ext cx="28003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文档处理</a:t>
            </a:r>
            <a:endParaRPr sz="1950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text-54"/>
          <p:cNvSpPr>
            <a:spLocks noGrp="1"/>
          </p:cNvSpPr>
          <p:nvPr/>
        </p:nvSpPr>
        <p:spPr>
          <a:xfrm>
            <a:off x="857250" y="5429250"/>
            <a:ext cx="280035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解析、分块、原文位置传播</a:t>
            </a:r>
            <a:endParaRPr sz="1650" b="0">
              <a:solidFill>
                <a:srgbClr val="273F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diagram-node-55"/>
          <p:cNvSpPr>
            <a:spLocks noGrp="1"/>
          </p:cNvSpPr>
          <p:nvPr/>
        </p:nvSpPr>
        <p:spPr>
          <a:xfrm>
            <a:off x="4524375" y="4914900"/>
            <a:ext cx="3143250" cy="1047750"/>
          </a:xfrm>
          <a:prstGeom prst="rect">
            <a:avLst/>
          </a:prstGeom>
          <a:solidFill>
            <a:srgbClr val="F3F7F9"/>
          </a:solidFill>
          <a:ln w="9525">
            <a:solidFill>
              <a:srgbClr val="DEE7ED"/>
            </a:solidFill>
          </a:ln>
        </p:spPr>
      </p:sp>
      <p:sp>
        <p:nvSpPr>
          <p:cNvPr id="27" name="text-56"/>
          <p:cNvSpPr>
            <a:spLocks noGrp="1"/>
          </p:cNvSpPr>
          <p:nvPr/>
        </p:nvSpPr>
        <p:spPr>
          <a:xfrm>
            <a:off x="4695825" y="5029200"/>
            <a:ext cx="28003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索引与模型</a:t>
            </a:r>
            <a:endParaRPr sz="1950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text-57"/>
          <p:cNvSpPr>
            <a:spLocks noGrp="1"/>
          </p:cNvSpPr>
          <p:nvPr/>
        </p:nvSpPr>
        <p:spPr>
          <a:xfrm>
            <a:off x="4695825" y="5429250"/>
            <a:ext cx="280035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Chroma / FAISS、BGE-M3</a:t>
            </a:r>
            <a:endParaRPr sz="1650" b="0">
              <a:solidFill>
                <a:srgbClr val="273F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diagram-node-58"/>
          <p:cNvSpPr>
            <a:spLocks noGrp="1"/>
          </p:cNvSpPr>
          <p:nvPr/>
        </p:nvSpPr>
        <p:spPr>
          <a:xfrm>
            <a:off x="8362950" y="4914900"/>
            <a:ext cx="3143250" cy="1047750"/>
          </a:xfrm>
          <a:prstGeom prst="rect">
            <a:avLst/>
          </a:prstGeom>
          <a:solidFill>
            <a:srgbClr val="F3F7F9"/>
          </a:solidFill>
          <a:ln w="9525">
            <a:solidFill>
              <a:srgbClr val="DEE7ED"/>
            </a:solidFill>
          </a:ln>
        </p:spPr>
      </p:sp>
      <p:sp>
        <p:nvSpPr>
          <p:cNvPr id="30" name="text-59"/>
          <p:cNvSpPr>
            <a:spLocks noGrp="1"/>
          </p:cNvSpPr>
          <p:nvPr/>
        </p:nvSpPr>
        <p:spPr>
          <a:xfrm>
            <a:off x="8534400" y="5029200"/>
            <a:ext cx="28003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原件与元数据</a:t>
            </a:r>
            <a:endParaRPr sz="1950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text-60"/>
          <p:cNvSpPr>
            <a:spLocks noGrp="1"/>
          </p:cNvSpPr>
          <p:nvPr/>
        </p:nvSpPr>
        <p:spPr>
          <a:xfrm>
            <a:off x="8534400" y="5429250"/>
            <a:ext cx="280035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物理页、文档ID、内容哈希</a:t>
            </a:r>
            <a:endParaRPr sz="1650" b="0">
              <a:solidFill>
                <a:srgbClr val="273F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diagram-link-61"/>
          <p:cNvSpPr>
            <a:spLocks noGrp="1"/>
          </p:cNvSpPr>
          <p:nvPr/>
        </p:nvSpPr>
        <p:spPr>
          <a:xfrm>
            <a:off x="4000500" y="2181225"/>
            <a:ext cx="352425" cy="190500"/>
          </a:xfrm>
          <a:prstGeom prst="rightArrow">
            <a:avLst/>
          </a:prstGeom>
          <a:solidFill>
            <a:srgbClr val="70808C"/>
          </a:solidFill>
          <a:ln w="0">
            <a:noFill/>
          </a:ln>
        </p:spPr>
      </p:sp>
      <p:sp>
        <p:nvSpPr>
          <p:cNvPr id="33" name="diagram-link-62"/>
          <p:cNvSpPr>
            <a:spLocks noGrp="1"/>
          </p:cNvSpPr>
          <p:nvPr/>
        </p:nvSpPr>
        <p:spPr>
          <a:xfrm>
            <a:off x="7839075" y="2181225"/>
            <a:ext cx="352425" cy="190500"/>
          </a:xfrm>
          <a:prstGeom prst="rightArrow">
            <a:avLst/>
          </a:prstGeom>
          <a:solidFill>
            <a:srgbClr val="70808C"/>
          </a:solidFill>
          <a:ln w="0">
            <a:noFill/>
          </a:ln>
        </p:spPr>
      </p:sp>
      <p:sp>
        <p:nvSpPr>
          <p:cNvPr id="34" name="diagram-link-63"/>
          <p:cNvSpPr>
            <a:spLocks noGrp="1"/>
          </p:cNvSpPr>
          <p:nvPr/>
        </p:nvSpPr>
        <p:spPr>
          <a:xfrm>
            <a:off x="4000500" y="3762375"/>
            <a:ext cx="352425" cy="190500"/>
          </a:xfrm>
          <a:prstGeom prst="rightArrow">
            <a:avLst/>
          </a:prstGeom>
          <a:solidFill>
            <a:srgbClr val="70808C"/>
          </a:solidFill>
          <a:ln w="0">
            <a:noFill/>
          </a:ln>
        </p:spPr>
      </p:sp>
      <p:sp>
        <p:nvSpPr>
          <p:cNvPr id="35" name="diagram-link-64"/>
          <p:cNvSpPr>
            <a:spLocks noGrp="1"/>
          </p:cNvSpPr>
          <p:nvPr/>
        </p:nvSpPr>
        <p:spPr>
          <a:xfrm>
            <a:off x="7839075" y="3762375"/>
            <a:ext cx="352425" cy="190500"/>
          </a:xfrm>
          <a:prstGeom prst="rightArrow">
            <a:avLst/>
          </a:prstGeom>
          <a:solidFill>
            <a:srgbClr val="70808C"/>
          </a:solidFill>
          <a:ln w="0">
            <a:noFill/>
          </a:ln>
        </p:spPr>
      </p:sp>
      <p:sp>
        <p:nvSpPr>
          <p:cNvPr id="36" name="diagram-link-65"/>
          <p:cNvSpPr>
            <a:spLocks noGrp="1"/>
          </p:cNvSpPr>
          <p:nvPr/>
        </p:nvSpPr>
        <p:spPr>
          <a:xfrm>
            <a:off x="4000500" y="5343525"/>
            <a:ext cx="352425" cy="190500"/>
          </a:xfrm>
          <a:prstGeom prst="rightArrow">
            <a:avLst/>
          </a:prstGeom>
          <a:solidFill>
            <a:srgbClr val="70808C"/>
          </a:solidFill>
          <a:ln w="0">
            <a:noFill/>
          </a:ln>
        </p:spPr>
      </p:sp>
      <p:sp>
        <p:nvSpPr>
          <p:cNvPr id="37" name="diagram-link-66"/>
          <p:cNvSpPr>
            <a:spLocks noGrp="1"/>
          </p:cNvSpPr>
          <p:nvPr/>
        </p:nvSpPr>
        <p:spPr>
          <a:xfrm>
            <a:off x="7839075" y="5343525"/>
            <a:ext cx="352425" cy="190500"/>
          </a:xfrm>
          <a:prstGeom prst="rightArrow">
            <a:avLst/>
          </a:prstGeom>
          <a:solidFill>
            <a:srgbClr val="70808C"/>
          </a:solidFill>
          <a:ln w="0">
            <a:noFill/>
          </a:ln>
        </p:spPr>
      </p:sp>
      <p:sp>
        <p:nvSpPr>
          <p:cNvPr id="38" name="diagram-link-67"/>
          <p:cNvSpPr>
            <a:spLocks noGrp="1"/>
          </p:cNvSpPr>
          <p:nvPr/>
        </p:nvSpPr>
        <p:spPr>
          <a:xfrm>
            <a:off x="5943600" y="2924175"/>
            <a:ext cx="266700" cy="276225"/>
          </a:xfrm>
          <a:prstGeom prst="downArrow">
            <a:avLst/>
          </a:prstGeom>
          <a:solidFill>
            <a:srgbClr val="70808C"/>
          </a:solidFill>
          <a:ln w="0">
            <a:noFill/>
          </a:ln>
        </p:spPr>
      </p:sp>
      <p:sp>
        <p:nvSpPr>
          <p:cNvPr id="39" name="diagram-link-68"/>
          <p:cNvSpPr>
            <a:spLocks noGrp="1"/>
          </p:cNvSpPr>
          <p:nvPr/>
        </p:nvSpPr>
        <p:spPr>
          <a:xfrm>
            <a:off x="5943600" y="4505325"/>
            <a:ext cx="266700" cy="276225"/>
          </a:xfrm>
          <a:prstGeom prst="downArrow">
            <a:avLst/>
          </a:prstGeom>
          <a:solidFill>
            <a:srgbClr val="70808C"/>
          </a:solidFill>
          <a:ln w="0">
            <a:noFill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efined-11"/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文档处理兼顾效率与来源锚点</a:t>
            </a:r>
            <a:endParaRPr sz="3300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refined-12"/>
          <p:cNvSpPr>
            <a:spLocks noGrp="1"/>
          </p:cNvSpPr>
          <p:nvPr/>
        </p:nvSpPr>
        <p:spPr>
          <a:xfrm>
            <a:off x="590550" y="1114425"/>
            <a:ext cx="110299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同10篇PDF，三种解析器各10次真实逐文档测量</a:t>
            </a:r>
            <a:endParaRPr sz="1725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refined-14"/>
          <p:cNvSpPr>
            <a:spLocks noGrp="1"/>
          </p:cNvSpPr>
          <p:nvPr/>
        </p:nvSpPr>
        <p:spPr>
          <a:xfrm>
            <a:off x="11334750" y="6334125"/>
            <a:ext cx="3333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8000"/>
              </a:lnSpc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</a:t>
            </a:r>
            <a:endParaRPr sz="1200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rcRect l="1200" t="17500" r="800" b="12000"/>
          <a:stretch>
            <a:fillRect/>
          </a:stretch>
        </p:blipFill>
        <p:spPr>
          <a:xfrm>
            <a:off x="705301" y="1752600"/>
            <a:ext cx="10800449" cy="4076700"/>
          </a:xfrm>
          <a:prstGeom prst="rect">
            <a:avLst/>
          </a:prstGeom>
        </p:spPr>
      </p:pic>
      <p:sp>
        <p:nvSpPr>
          <p:cNvPr id="6" name="refined-15"/>
          <p:cNvSpPr>
            <a:spLocks noGrp="1"/>
          </p:cNvSpPr>
          <p:nvPr/>
        </p:nvSpPr>
        <p:spPr>
          <a:xfrm>
            <a:off x="600075" y="5915025"/>
            <a:ext cx="11020425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位置传播贯穿解析、分块与检索；长文本保留原始token-ID边界。</a:t>
            </a:r>
            <a:endParaRPr sz="1875" b="1">
              <a:solidFill>
                <a:srgbClr val="1689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text-77"/>
          <p:cNvSpPr>
            <a:spLocks noGrp="1"/>
          </p:cNvSpPr>
          <p:nvPr/>
        </p:nvSpPr>
        <p:spPr>
          <a:xfrm>
            <a:off x="685800" y="400050"/>
            <a:ext cx="108204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混合检索与证据约束生成</a:t>
            </a:r>
            <a:endParaRPr sz="3300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78"/>
          <p:cNvSpPr>
            <a:spLocks noGrp="1"/>
          </p:cNvSpPr>
          <p:nvPr/>
        </p:nvSpPr>
        <p:spPr>
          <a:xfrm>
            <a:off x="685800" y="1143000"/>
            <a:ext cx="108204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语义召回和关键词召回先融合，再按需调用交叉编码重排</a:t>
            </a:r>
            <a:endParaRPr sz="1725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-80"/>
          <p:cNvSpPr>
            <a:spLocks noGrp="1"/>
          </p:cNvSpPr>
          <p:nvPr/>
        </p:nvSpPr>
        <p:spPr>
          <a:xfrm>
            <a:off x="11334750" y="632460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8000"/>
              </a:lnSpc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06</a:t>
            </a:r>
            <a:endParaRPr sz="1200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diagram-node-81"/>
          <p:cNvSpPr>
            <a:spLocks noGrp="1"/>
          </p:cNvSpPr>
          <p:nvPr/>
        </p:nvSpPr>
        <p:spPr>
          <a:xfrm>
            <a:off x="685800" y="2019300"/>
            <a:ext cx="2419350" cy="1638300"/>
          </a:xfrm>
          <a:prstGeom prst="rect">
            <a:avLst/>
          </a:prstGeom>
          <a:solidFill>
            <a:srgbClr val="F3F7F9"/>
          </a:solidFill>
          <a:ln w="9525">
            <a:solidFill>
              <a:srgbClr val="DEE7ED"/>
            </a:solidFill>
          </a:ln>
        </p:spPr>
      </p:sp>
      <p:sp>
        <p:nvSpPr>
          <p:cNvPr id="6" name="text-82"/>
          <p:cNvSpPr>
            <a:spLocks noGrp="1"/>
          </p:cNvSpPr>
          <p:nvPr/>
        </p:nvSpPr>
        <p:spPr>
          <a:xfrm>
            <a:off x="857250" y="2133600"/>
            <a:ext cx="20764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两路召回</a:t>
            </a:r>
            <a:endParaRPr sz="1950" b="1">
              <a:solidFill>
                <a:srgbClr val="1689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-83"/>
          <p:cNvSpPr>
            <a:spLocks noGrp="1"/>
          </p:cNvSpPr>
          <p:nvPr/>
        </p:nvSpPr>
        <p:spPr>
          <a:xfrm>
            <a:off x="857250" y="2533650"/>
            <a:ext cx="2076450" cy="1076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Dense 语义检索</a:t>
            </a:r>
            <a:endParaRPr sz="1650" b="0">
              <a:solidFill>
                <a:srgbClr val="273F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8000"/>
              </a:lnSpc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BM25 关键词检索</a:t>
            </a:r>
            <a:endParaRPr sz="1650" b="0">
              <a:solidFill>
                <a:srgbClr val="273F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diagram-link-84"/>
          <p:cNvSpPr>
            <a:spLocks noGrp="1"/>
          </p:cNvSpPr>
          <p:nvPr/>
        </p:nvSpPr>
        <p:spPr>
          <a:xfrm>
            <a:off x="3190875" y="2695575"/>
            <a:ext cx="228600" cy="209550"/>
          </a:xfrm>
          <a:prstGeom prst="rightArrow">
            <a:avLst/>
          </a:prstGeom>
          <a:solidFill>
            <a:srgbClr val="70808C"/>
          </a:solidFill>
          <a:ln w="0">
            <a:noFill/>
          </a:ln>
        </p:spPr>
      </p:sp>
      <p:sp>
        <p:nvSpPr>
          <p:cNvPr id="9" name="diagram-node-85"/>
          <p:cNvSpPr>
            <a:spLocks noGrp="1"/>
          </p:cNvSpPr>
          <p:nvPr/>
        </p:nvSpPr>
        <p:spPr>
          <a:xfrm>
            <a:off x="3486150" y="2019300"/>
            <a:ext cx="2419350" cy="1638300"/>
          </a:xfrm>
          <a:prstGeom prst="rect">
            <a:avLst/>
          </a:prstGeom>
          <a:solidFill>
            <a:srgbClr val="F3F7F9"/>
          </a:solidFill>
          <a:ln w="9525">
            <a:solidFill>
              <a:srgbClr val="DEE7ED"/>
            </a:solidFill>
          </a:ln>
        </p:spPr>
      </p:sp>
      <p:sp>
        <p:nvSpPr>
          <p:cNvPr id="10" name="text-86"/>
          <p:cNvSpPr>
            <a:spLocks noGrp="1"/>
          </p:cNvSpPr>
          <p:nvPr/>
        </p:nvSpPr>
        <p:spPr>
          <a:xfrm>
            <a:off x="3657600" y="2133600"/>
            <a:ext cx="20764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RRF 融合</a:t>
            </a:r>
            <a:endParaRPr sz="1950" b="1">
              <a:solidFill>
                <a:srgbClr val="1689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-87"/>
          <p:cNvSpPr>
            <a:spLocks noGrp="1"/>
          </p:cNvSpPr>
          <p:nvPr/>
        </p:nvSpPr>
        <p:spPr>
          <a:xfrm>
            <a:off x="3657600" y="2533650"/>
            <a:ext cx="2076450" cy="1076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按候选名次融合</a:t>
            </a:r>
            <a:endParaRPr sz="1650" b="0">
              <a:solidFill>
                <a:srgbClr val="273F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8000"/>
              </a:lnSpc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减少分数尺度差异</a:t>
            </a:r>
            <a:endParaRPr sz="1650" b="0">
              <a:solidFill>
                <a:srgbClr val="273F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diagram-link-88"/>
          <p:cNvSpPr>
            <a:spLocks noGrp="1"/>
          </p:cNvSpPr>
          <p:nvPr/>
        </p:nvSpPr>
        <p:spPr>
          <a:xfrm>
            <a:off x="5991225" y="2695575"/>
            <a:ext cx="228600" cy="209550"/>
          </a:xfrm>
          <a:prstGeom prst="rightArrow">
            <a:avLst/>
          </a:prstGeom>
          <a:solidFill>
            <a:srgbClr val="70808C"/>
          </a:solidFill>
          <a:ln w="0">
            <a:noFill/>
          </a:ln>
        </p:spPr>
      </p:sp>
      <p:sp>
        <p:nvSpPr>
          <p:cNvPr id="13" name="diagram-node-89"/>
          <p:cNvSpPr>
            <a:spLocks noGrp="1"/>
          </p:cNvSpPr>
          <p:nvPr/>
        </p:nvSpPr>
        <p:spPr>
          <a:xfrm>
            <a:off x="6286500" y="2019300"/>
            <a:ext cx="2419350" cy="1638300"/>
          </a:xfrm>
          <a:prstGeom prst="rect">
            <a:avLst/>
          </a:prstGeom>
          <a:solidFill>
            <a:srgbClr val="F3F7F9"/>
          </a:solidFill>
          <a:ln w="9525">
            <a:solidFill>
              <a:srgbClr val="DEE7ED"/>
            </a:solidFill>
          </a:ln>
        </p:spPr>
      </p:sp>
      <p:sp>
        <p:nvSpPr>
          <p:cNvPr id="14" name="text-90"/>
          <p:cNvSpPr>
            <a:spLocks noGrp="1"/>
          </p:cNvSpPr>
          <p:nvPr/>
        </p:nvSpPr>
        <p:spPr>
          <a:xfrm>
            <a:off x="6457950" y="2133600"/>
            <a:ext cx="20764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C792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950" b="1">
                <a:solidFill>
                  <a:srgbClr val="C792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950" b="1">
                <a:solidFill>
                  <a:srgbClr val="C792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950" b="1">
                <a:solidFill>
                  <a:srgbClr val="C792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950" b="1">
                <a:solidFill>
                  <a:srgbClr val="C792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950" b="1">
                <a:solidFill>
                  <a:srgbClr val="C792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950" b="1">
                <a:solidFill>
                  <a:srgbClr val="C792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950" b="1">
                <a:solidFill>
                  <a:srgbClr val="C792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950" b="1">
                <a:solidFill>
                  <a:srgbClr val="C792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950" b="1">
                <a:solidFill>
                  <a:srgbClr val="C792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950" b="1">
                <a:solidFill>
                  <a:srgbClr val="C792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C792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交叉编码重排</a:t>
            </a:r>
            <a:endParaRPr sz="1950" b="1">
              <a:solidFill>
                <a:srgbClr val="C7923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text-91"/>
          <p:cNvSpPr>
            <a:spLocks noGrp="1"/>
          </p:cNvSpPr>
          <p:nvPr/>
        </p:nvSpPr>
        <p:spPr>
          <a:xfrm>
            <a:off x="6457950" y="2533650"/>
            <a:ext cx="2076450" cy="1076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联合编码问题与片段</a:t>
            </a:r>
            <a:endParaRPr sz="1650" b="0">
              <a:solidFill>
                <a:srgbClr val="273F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8000"/>
              </a:lnSpc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重新计算相关性</a:t>
            </a:r>
            <a:endParaRPr sz="1650" b="0">
              <a:solidFill>
                <a:srgbClr val="273F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diagram-link-92"/>
          <p:cNvSpPr>
            <a:spLocks noGrp="1"/>
          </p:cNvSpPr>
          <p:nvPr/>
        </p:nvSpPr>
        <p:spPr>
          <a:xfrm>
            <a:off x="8791575" y="2695575"/>
            <a:ext cx="228600" cy="209550"/>
          </a:xfrm>
          <a:prstGeom prst="rightArrow">
            <a:avLst/>
          </a:prstGeom>
          <a:solidFill>
            <a:srgbClr val="70808C"/>
          </a:solidFill>
          <a:ln w="0">
            <a:noFill/>
          </a:ln>
        </p:spPr>
      </p:sp>
      <p:sp>
        <p:nvSpPr>
          <p:cNvPr id="17" name="diagram-node-93"/>
          <p:cNvSpPr>
            <a:spLocks noGrp="1"/>
          </p:cNvSpPr>
          <p:nvPr/>
        </p:nvSpPr>
        <p:spPr>
          <a:xfrm>
            <a:off x="9086850" y="2019300"/>
            <a:ext cx="2419350" cy="1638300"/>
          </a:xfrm>
          <a:prstGeom prst="rect">
            <a:avLst/>
          </a:prstGeom>
          <a:solidFill>
            <a:srgbClr val="F3F7F9"/>
          </a:solidFill>
          <a:ln w="9525">
            <a:solidFill>
              <a:srgbClr val="DEE7ED"/>
            </a:solidFill>
          </a:ln>
        </p:spPr>
      </p:sp>
      <p:sp>
        <p:nvSpPr>
          <p:cNvPr id="18" name="text-94"/>
          <p:cNvSpPr>
            <a:spLocks noGrp="1"/>
          </p:cNvSpPr>
          <p:nvPr/>
        </p:nvSpPr>
        <p:spPr>
          <a:xfrm>
            <a:off x="9258300" y="2133600"/>
            <a:ext cx="20764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证据约束生成</a:t>
            </a:r>
            <a:endParaRPr sz="1950" b="1">
              <a:solidFill>
                <a:srgbClr val="1689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-95"/>
          <p:cNvSpPr>
            <a:spLocks noGrp="1"/>
          </p:cNvSpPr>
          <p:nvPr/>
        </p:nvSpPr>
        <p:spPr>
          <a:xfrm>
            <a:off x="9258300" y="2533650"/>
            <a:ext cx="2076450" cy="1076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来源编号绑定原文</a:t>
            </a:r>
            <a:endParaRPr sz="1650" b="0">
              <a:solidFill>
                <a:srgbClr val="273F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8000"/>
              </a:lnSpc>
              <a:buNone/>
              <a:def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规则审校后返回</a:t>
            </a:r>
            <a:endParaRPr sz="1650" b="0">
              <a:solidFill>
                <a:srgbClr val="273F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text-96"/>
          <p:cNvSpPr>
            <a:spLocks noGrp="1"/>
          </p:cNvSpPr>
          <p:nvPr/>
        </p:nvSpPr>
        <p:spPr>
          <a:xfrm>
            <a:off x="685800" y="4248150"/>
            <a:ext cx="108204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92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92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92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92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92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92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92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92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92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92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292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92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RRF(d) = Σ 1 / (k + rank(d))</a:t>
            </a:r>
            <a:endParaRPr sz="2925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text-97"/>
          <p:cNvSpPr>
            <a:spLocks noGrp="1"/>
          </p:cNvSpPr>
          <p:nvPr/>
        </p:nvSpPr>
        <p:spPr>
          <a:xfrm>
            <a:off x="685800" y="5238750"/>
            <a:ext cx="108204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21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超出证据支持范围的问题保留核查提示，来源编号映射由服务器维护。</a:t>
            </a:r>
            <a:endParaRPr sz="2175" b="0">
              <a:solidFill>
                <a:srgbClr val="273F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text-98"/>
          <p:cNvSpPr>
            <a:spLocks noGrp="1"/>
          </p:cNvSpPr>
          <p:nvPr/>
        </p:nvSpPr>
        <p:spPr>
          <a:xfrm>
            <a:off x="685800" y="400050"/>
            <a:ext cx="108204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Agent 路由与八类工具</a:t>
            </a:r>
            <a:endParaRPr sz="3300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99"/>
          <p:cNvSpPr>
            <a:spLocks noGrp="1"/>
          </p:cNvSpPr>
          <p:nvPr/>
        </p:nvSpPr>
        <p:spPr>
          <a:xfrm>
            <a:off x="685800" y="1143000"/>
            <a:ext cx="108204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简单任务走快捷路由，复杂任务进入有界的动作与观察循环</a:t>
            </a:r>
            <a:endParaRPr sz="1725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-101"/>
          <p:cNvSpPr>
            <a:spLocks noGrp="1"/>
          </p:cNvSpPr>
          <p:nvPr/>
        </p:nvSpPr>
        <p:spPr>
          <a:xfrm>
            <a:off x="11334750" y="632460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8000"/>
              </a:lnSpc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07</a:t>
            </a:r>
            <a:endParaRPr sz="1200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5" name="表格 4"/>
          <p:cNvGraphicFramePr/>
          <p:nvPr/>
        </p:nvGraphicFramePr>
        <p:xfrm>
          <a:off x="685800" y="1752600"/>
          <a:ext cx="10820400" cy="4276728"/>
        </p:xfrm>
        <a:graphic>
          <a:graphicData uri="http://schemas.openxmlformats.org/drawingml/2006/table">
            <a:tbl>
              <a:tblPr/>
              <a:tblGrid>
                <a:gridCol w="2171700"/>
                <a:gridCol w="3867150"/>
                <a:gridCol w="4781550"/>
              </a:tblGrid>
              <a:tr h="475192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工具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66675" marB="47625" anchor="ctr">
                    <a:lnL w="6191">
                      <a:solidFill>
                        <a:srgbClr val="DEE7ED"/>
                      </a:solidFill>
                      <a:prstDash val="solid"/>
                    </a:lnL>
                    <a:lnR w="6191">
                      <a:solidFill>
                        <a:srgbClr val="DEE7ED"/>
                      </a:solidFill>
                      <a:prstDash val="solid"/>
                    </a:lnR>
                    <a:lnT w="6191">
                      <a:solidFill>
                        <a:srgbClr val="DEE7ED"/>
                      </a:solidFill>
                      <a:prstDash val="solid"/>
                    </a:lnT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193A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用途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66675" marB="47625" anchor="ctr">
                    <a:lnR w="6191">
                      <a:solidFill>
                        <a:srgbClr val="DEE7ED"/>
                      </a:solidFill>
                      <a:prstDash val="solid"/>
                    </a:lnR>
                    <a:lnT w="6191">
                      <a:solidFill>
                        <a:srgbClr val="DEE7ED"/>
                      </a:solidFill>
                      <a:prstDash val="solid"/>
                    </a:lnT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193A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任务示例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66675" marB="47625" anchor="ctr">
                    <a:lnR w="6191">
                      <a:solidFill>
                        <a:srgbClr val="DEE7ED"/>
                      </a:solidFill>
                      <a:prstDash val="solid"/>
                    </a:lnR>
                    <a:lnT w="6191">
                      <a:solidFill>
                        <a:srgbClr val="DEE7ED"/>
                      </a:solidFill>
                      <a:prstDash val="solid"/>
                    </a:lnT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193A56"/>
                    </a:solidFill>
                  </a:tcPr>
                </a:tc>
              </a:tr>
              <a:tr h="4751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知识库问答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66675" marB="47625" anchor="ctr">
                    <a:lnL w="6191">
                      <a:solidFill>
                        <a:srgbClr val="DEE7ED"/>
                      </a:solidFill>
                      <a:prstDash val="solid"/>
                    </a:lnL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检索证据并生成回答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66675" marB="47625" anchor="ctr"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说明论文方法与原文依据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66675" marB="47625" anchor="ctr"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1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论文摘要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66675" marB="47625" anchor="ctr">
                    <a:lnL w="6191">
                      <a:solidFill>
                        <a:srgbClr val="DEE7ED"/>
                      </a:solidFill>
                      <a:prstDash val="solid"/>
                    </a:lnL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聚合论文主要内容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66675" marB="47625" anchor="ctr"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概括方法、实验和局限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66675" marB="47625" anchor="ctr"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</a:tr>
              <a:tr h="4751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论文信息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66675" marB="47625" anchor="ctr">
                    <a:lnL w="6191">
                      <a:solidFill>
                        <a:srgbClr val="DEE7ED"/>
                      </a:solidFill>
                      <a:prstDash val="solid"/>
                    </a:lnL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读取结构化元信息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66675" marB="47625" anchor="ctr"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查询作者、年份和论文标题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66675" marB="47625" anchor="ctr"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1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论文比较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66675" marB="47625" anchor="ctr">
                    <a:lnL w="6191">
                      <a:solidFill>
                        <a:srgbClr val="DEE7ED"/>
                      </a:solidFill>
                      <a:prstDash val="solid"/>
                    </a:lnL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约束条件的结构化对照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66675" marB="47625" anchor="ctr"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按相同任务和指标比较论文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66675" marB="47625" anchor="ctr"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</a:tr>
              <a:tr h="4751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关键词提取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66675" marB="47625" anchor="ctr">
                    <a:lnL w="6191">
                      <a:solidFill>
                        <a:srgbClr val="DEE7ED"/>
                      </a:solidFill>
                      <a:prstDash val="solid"/>
                    </a:lnL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提取文本关键词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66675" marB="47625" anchor="ctr"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概括一段文本的主题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66675" marB="47625" anchor="ctr"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1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数值计算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66675" marB="47625" anchor="ctr">
                    <a:lnL w="6191">
                      <a:solidFill>
                        <a:srgbClr val="DEE7ED"/>
                      </a:solidFill>
                      <a:prstDash val="solid"/>
                    </a:lnL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受限表达式计算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66675" marB="47625" anchor="ctr"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计算 3.14 × 2.56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66675" marB="47625" anchor="ctr"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</a:tr>
              <a:tr h="4751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日期与时间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66675" marB="47625" anchor="ctr">
                    <a:lnL w="6191">
                      <a:solidFill>
                        <a:srgbClr val="DEE7ED"/>
                      </a:solidFill>
                      <a:prstDash val="solid"/>
                    </a:lnL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返回服务器日期和时间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66675" marB="47625" anchor="ctr"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查询当前日期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66675" marB="47625" anchor="ctr"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1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文献目录检索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66675" marB="47625" anchor="ctr">
                    <a:lnL w="6191">
                      <a:solidFill>
                        <a:srgbClr val="DEE7ED"/>
                      </a:solidFill>
                      <a:prstDash val="solid"/>
                    </a:lnL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查询已入库文献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66675" marB="47625" anchor="ctr"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按标题关键词确定论文范围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66675" marB="47625" anchor="ctr"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text-102"/>
          <p:cNvSpPr>
            <a:spLocks noGrp="1"/>
          </p:cNvSpPr>
          <p:nvPr/>
        </p:nvSpPr>
        <p:spPr>
          <a:xfrm>
            <a:off x="685800" y="400050"/>
            <a:ext cx="108204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回答与原文证据回查</a:t>
            </a:r>
            <a:endParaRPr sz="3300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03"/>
          <p:cNvSpPr>
            <a:spLocks noGrp="1"/>
          </p:cNvSpPr>
          <p:nvPr/>
        </p:nvSpPr>
        <p:spPr>
          <a:xfrm>
            <a:off x="685800" y="1143000"/>
            <a:ext cx="108204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来源编号关联文档与物理页，用户可以打开原件核对</a:t>
            </a:r>
            <a:endParaRPr sz="1725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-105"/>
          <p:cNvSpPr>
            <a:spLocks noGrp="1"/>
          </p:cNvSpPr>
          <p:nvPr/>
        </p:nvSpPr>
        <p:spPr>
          <a:xfrm>
            <a:off x="11334750" y="632460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8000"/>
              </a:lnSpc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08</a:t>
            </a:r>
            <a:endParaRPr sz="1200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-106"/>
          <p:cNvSpPr>
            <a:spLocks noGrp="1"/>
          </p:cNvSpPr>
          <p:nvPr/>
        </p:nvSpPr>
        <p:spPr>
          <a:xfrm>
            <a:off x="685800" y="1762125"/>
            <a:ext cx="52387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21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科研问答</a:t>
            </a:r>
            <a:endParaRPr sz="2100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-107"/>
          <p:cNvSpPr>
            <a:spLocks noGrp="1"/>
          </p:cNvSpPr>
          <p:nvPr/>
        </p:nvSpPr>
        <p:spPr>
          <a:xfrm>
            <a:off x="6315075" y="1762125"/>
            <a:ext cx="519112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21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原文证据</a:t>
            </a:r>
            <a:endParaRPr sz="2100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rcRect l="22000" r="1500" b="6000"/>
          <a:stretch>
            <a:fillRect/>
          </a:stretch>
        </p:blipFill>
        <p:spPr>
          <a:xfrm>
            <a:off x="685800" y="2308027"/>
            <a:ext cx="5238750" cy="2946797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315075" y="2321421"/>
            <a:ext cx="5191125" cy="2920008"/>
          </a:xfrm>
          <a:prstGeom prst="rect">
            <a:avLst/>
          </a:prstGeom>
        </p:spPr>
      </p:pic>
      <p:sp>
        <p:nvSpPr>
          <p:cNvPr id="9" name="text-108"/>
          <p:cNvSpPr>
            <a:spLocks noGrp="1"/>
          </p:cNvSpPr>
          <p:nvPr/>
        </p:nvSpPr>
        <p:spPr>
          <a:xfrm>
            <a:off x="685800" y="5553075"/>
            <a:ext cx="523875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回答、来源与执行过程同时保留</a:t>
            </a:r>
            <a:endParaRPr sz="1875" b="1">
              <a:solidFill>
                <a:srgbClr val="1689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text-109"/>
          <p:cNvSpPr>
            <a:spLocks noGrp="1"/>
          </p:cNvSpPr>
          <p:nvPr/>
        </p:nvSpPr>
        <p:spPr>
          <a:xfrm>
            <a:off x="6315075" y="5553075"/>
            <a:ext cx="5191125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原文页预览与片段位置相互核对</a:t>
            </a:r>
            <a:endParaRPr sz="1875" b="1">
              <a:solidFill>
                <a:srgbClr val="1689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text-110"/>
          <p:cNvSpPr>
            <a:spLocks noGrp="1"/>
          </p:cNvSpPr>
          <p:nvPr/>
        </p:nvSpPr>
        <p:spPr>
          <a:xfrm>
            <a:off x="685800" y="400050"/>
            <a:ext cx="108204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评测设计与数据划分</a:t>
            </a:r>
            <a:endParaRPr sz="3300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11"/>
          <p:cNvSpPr>
            <a:spLocks noGrp="1"/>
          </p:cNvSpPr>
          <p:nvPr/>
        </p:nvSpPr>
        <p:spPr>
          <a:xfrm>
            <a:off x="685800" y="1143000"/>
            <a:ext cx="108204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固定10篇视觉Transformer论文，以20道开发题选配置、60道测试题记录结果</a:t>
            </a:r>
            <a:endParaRPr sz="1725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-112"/>
          <p:cNvSpPr>
            <a:spLocks noGrp="1"/>
          </p:cNvSpPr>
          <p:nvPr/>
        </p:nvSpPr>
        <p:spPr>
          <a:xfrm>
            <a:off x="685800" y="6305550"/>
            <a:ext cx="10382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共80题、169物理页。测试集评测使用历史冻结的359片段索引。</a:t>
            </a:r>
            <a:endParaRPr sz="1200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-113"/>
          <p:cNvSpPr>
            <a:spLocks noGrp="1"/>
          </p:cNvSpPr>
          <p:nvPr/>
        </p:nvSpPr>
        <p:spPr>
          <a:xfrm>
            <a:off x="11334750" y="632460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8000"/>
              </a:lnSpc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09</a:t>
            </a:r>
            <a:endParaRPr sz="1200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5" name="Chart"/>
          <p:cNvGraphicFramePr/>
          <p:nvPr/>
        </p:nvGraphicFramePr>
        <p:xfrm>
          <a:off x="571500" y="1847850"/>
          <a:ext cx="7200900" cy="41243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" name="text-114"/>
          <p:cNvSpPr>
            <a:spLocks noGrp="1"/>
          </p:cNvSpPr>
          <p:nvPr/>
        </p:nvSpPr>
        <p:spPr>
          <a:xfrm>
            <a:off x="8286750" y="2152650"/>
            <a:ext cx="32194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三类结果分别解释</a:t>
            </a:r>
            <a:endParaRPr sz="2175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-115"/>
          <p:cNvSpPr>
            <a:spLocks noGrp="1"/>
          </p:cNvSpPr>
          <p:nvPr/>
        </p:nvSpPr>
        <p:spPr>
          <a:xfrm>
            <a:off x="8286750" y="2676525"/>
            <a:ext cx="3219450" cy="1238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开发实验、正式检索评测、本地工作流验收分别保存配置。</a:t>
            </a:r>
            <a:endParaRPr sz="1875" b="0">
              <a:solidFill>
                <a:srgbClr val="273F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-116"/>
          <p:cNvSpPr>
            <a:spLocks noGrp="1"/>
          </p:cNvSpPr>
          <p:nvPr/>
        </p:nvSpPr>
        <p:spPr>
          <a:xfrm>
            <a:off x="8286750" y="4057650"/>
            <a:ext cx="32194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题号配对比较</a:t>
            </a:r>
            <a:endParaRPr sz="2175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text-117"/>
          <p:cNvSpPr>
            <a:spLocks noGrp="1"/>
          </p:cNvSpPr>
          <p:nvPr/>
        </p:nvSpPr>
        <p:spPr>
          <a:xfrm>
            <a:off x="8286750" y="4581525"/>
            <a:ext cx="3219450" cy="1238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同题在三种模式间配对。</a:t>
            </a:r>
            <a:endParaRPr sz="1875" b="0">
              <a:solidFill>
                <a:srgbClr val="273F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8000"/>
              </a:lnSpc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避免用不同题集计算增益。</a:t>
            </a:r>
            <a:endParaRPr sz="1875" b="0">
              <a:solidFill>
                <a:srgbClr val="273F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efined-16"/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重排改善证据覆盖，也增加CPU排序成本</a:t>
            </a:r>
            <a:endParaRPr sz="3300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refined-17"/>
          <p:cNvSpPr>
            <a:spLocks noGrp="1"/>
          </p:cNvSpPr>
          <p:nvPr/>
        </p:nvSpPr>
        <p:spPr>
          <a:xfrm>
            <a:off x="590550" y="1114425"/>
            <a:ext cx="110299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相同60题，历史359片段索引；排序计时排除共享查询编码与LLM</a:t>
            </a:r>
            <a:endParaRPr sz="1725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refined-19"/>
          <p:cNvSpPr>
            <a:spLocks noGrp="1"/>
          </p:cNvSpPr>
          <p:nvPr/>
        </p:nvSpPr>
        <p:spPr>
          <a:xfrm>
            <a:off x="11334750" y="6334125"/>
            <a:ext cx="3333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8000"/>
              </a:lnSpc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10</a:t>
            </a:r>
            <a:endParaRPr sz="1200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rcRect l="1200" t="17300" r="800" b="6500"/>
          <a:stretch>
            <a:fillRect/>
          </a:stretch>
        </p:blipFill>
        <p:spPr>
          <a:xfrm>
            <a:off x="1374635" y="1704975"/>
            <a:ext cx="9442731" cy="4124325"/>
          </a:xfrm>
          <a:prstGeom prst="rect">
            <a:avLst/>
          </a:prstGeom>
        </p:spPr>
      </p:pic>
      <p:sp>
        <p:nvSpPr>
          <p:cNvPr id="6" name="refined-20"/>
          <p:cNvSpPr>
            <a:spLocks noGrp="1"/>
          </p:cNvSpPr>
          <p:nvPr/>
        </p:nvSpPr>
        <p:spPr>
          <a:xfrm>
            <a:off x="600075" y="5943600"/>
            <a:ext cx="1102042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Hit@5：41.67%提高至61.67%     重排平均排序耗时：16.71秒</a:t>
            </a:r>
            <a:endParaRPr sz="1950" b="1">
              <a:solidFill>
                <a:srgbClr val="1689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efined-21"/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配对效应显示增益及其不确定性</a:t>
            </a:r>
            <a:endParaRPr sz="3300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refined-22"/>
          <p:cNvSpPr>
            <a:spLocks noGrp="1"/>
          </p:cNvSpPr>
          <p:nvPr/>
        </p:nvSpPr>
        <p:spPr>
          <a:xfrm>
            <a:off x="590550" y="1114425"/>
            <a:ext cx="110299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60题同题配对，10,000次Bootstrap，95%百分位区间</a:t>
            </a:r>
            <a:endParaRPr sz="1725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refined-24"/>
          <p:cNvSpPr>
            <a:spLocks noGrp="1"/>
          </p:cNvSpPr>
          <p:nvPr/>
        </p:nvSpPr>
        <p:spPr>
          <a:xfrm>
            <a:off x="11334750" y="6334125"/>
            <a:ext cx="3333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8000"/>
              </a:lnSpc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11</a:t>
            </a:r>
            <a:endParaRPr sz="1200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rcRect l="1200" t="16500" r="800" b="8000"/>
          <a:stretch>
            <a:fillRect/>
          </a:stretch>
        </p:blipFill>
        <p:spPr>
          <a:xfrm>
            <a:off x="558473" y="1847850"/>
            <a:ext cx="11056004" cy="3943350"/>
          </a:xfrm>
          <a:prstGeom prst="rect">
            <a:avLst/>
          </a:prstGeom>
        </p:spPr>
      </p:pic>
      <p:sp>
        <p:nvSpPr>
          <p:cNvPr id="6" name="refined-25"/>
          <p:cNvSpPr>
            <a:spLocks noGrp="1"/>
          </p:cNvSpPr>
          <p:nvPr/>
        </p:nvSpPr>
        <p:spPr>
          <a:xfrm>
            <a:off x="600075" y="5943600"/>
            <a:ext cx="11020425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重排相对向量的Hit@5增益为20个百分点；原图横轴以0–1指标差表示。</a:t>
            </a:r>
            <a:endParaRPr sz="1875" b="1">
              <a:solidFill>
                <a:srgbClr val="1689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refined-26"/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流畅性较高，仍需核查事实与引用</a:t>
            </a:r>
            <a:endParaRPr sz="3300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refined-27"/>
          <p:cNvSpPr>
            <a:spLocks noGrp="1"/>
          </p:cNvSpPr>
          <p:nvPr/>
        </p:nvSpPr>
        <p:spPr>
          <a:xfrm>
            <a:off x="590550" y="1114425"/>
            <a:ext cx="110299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60条回答，1–5分评分；流畅性均分4.58，完整性2.98</a:t>
            </a:r>
            <a:endParaRPr sz="1725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refined-29"/>
          <p:cNvSpPr>
            <a:spLocks noGrp="1"/>
          </p:cNvSpPr>
          <p:nvPr/>
        </p:nvSpPr>
        <p:spPr>
          <a:xfrm>
            <a:off x="11334750" y="6334125"/>
            <a:ext cx="3333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8000"/>
              </a:lnSpc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endParaRPr sz="1200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rcRect l="2500" t="18000" r="46000" b="14500"/>
          <a:stretch>
            <a:fillRect/>
          </a:stretch>
        </p:blipFill>
        <p:spPr>
          <a:xfrm>
            <a:off x="937082" y="1781175"/>
            <a:ext cx="5317211" cy="391477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rcRect l="2500" t="51000" r="51500" b="7500"/>
          <a:stretch>
            <a:fillRect/>
          </a:stretch>
        </p:blipFill>
        <p:spPr>
          <a:xfrm>
            <a:off x="7000875" y="2140666"/>
            <a:ext cx="4619625" cy="3138642"/>
          </a:xfrm>
          <a:prstGeom prst="rect">
            <a:avLst/>
          </a:prstGeom>
        </p:spPr>
      </p:pic>
      <p:sp>
        <p:nvSpPr>
          <p:cNvPr id="7" name="refined-30"/>
          <p:cNvSpPr>
            <a:spLocks noGrp="1"/>
          </p:cNvSpPr>
          <p:nvPr/>
        </p:nvSpPr>
        <p:spPr>
          <a:xfrm>
            <a:off x="600075" y="5743575"/>
            <a:ext cx="61912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65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65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65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65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65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65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65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65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65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65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左图颜色由浅到深表示1–5分</a:t>
            </a:r>
            <a:endParaRPr sz="1650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efined-31"/>
          <p:cNvSpPr>
            <a:spLocks noGrp="1"/>
          </p:cNvSpPr>
          <p:nvPr/>
        </p:nvSpPr>
        <p:spPr>
          <a:xfrm>
            <a:off x="600075" y="5981700"/>
            <a:ext cx="1102042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B85B6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875" b="1">
                <a:solidFill>
                  <a:srgbClr val="B85B6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875" b="1">
                <a:solidFill>
                  <a:srgbClr val="B85B6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875" b="1">
                <a:solidFill>
                  <a:srgbClr val="B85B6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875" b="1">
                <a:solidFill>
                  <a:srgbClr val="B85B6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875" b="1">
                <a:solidFill>
                  <a:srgbClr val="B85B6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875" b="1">
                <a:solidFill>
                  <a:srgbClr val="B85B6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875" b="1">
                <a:solidFill>
                  <a:srgbClr val="B85B6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875" b="1">
                <a:solidFill>
                  <a:srgbClr val="B85B6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875" b="1">
                <a:solidFill>
                  <a:srgbClr val="B85B6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875" b="1">
                <a:solidFill>
                  <a:srgbClr val="B85B6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B85B6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13/60条回答流畅性≥4，但正确性≤2</a:t>
            </a:r>
            <a:endParaRPr sz="1875" b="1">
              <a:solidFill>
                <a:srgbClr val="B85B6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refined-32"/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Prompt约束主要改善引用支撑</a:t>
            </a:r>
            <a:endParaRPr sz="3300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refined-33"/>
          <p:cNvSpPr>
            <a:spLocks noGrp="1"/>
          </p:cNvSpPr>
          <p:nvPr/>
        </p:nvSpPr>
        <p:spPr>
          <a:xfrm>
            <a:off x="590550" y="1114425"/>
            <a:ext cx="110299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四道开发题、相同冻结上下文；引用支撑平均提高1.00分</a:t>
            </a:r>
            <a:endParaRPr sz="1725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refined-35"/>
          <p:cNvSpPr>
            <a:spLocks noGrp="1"/>
          </p:cNvSpPr>
          <p:nvPr/>
        </p:nvSpPr>
        <p:spPr>
          <a:xfrm>
            <a:off x="11334750" y="6334125"/>
            <a:ext cx="3333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8000"/>
              </a:lnSpc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13</a:t>
            </a:r>
            <a:endParaRPr sz="1200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rcRect l="1200" t="15000" r="800" b="200"/>
          <a:stretch>
            <a:fillRect/>
          </a:stretch>
        </p:blipFill>
        <p:spPr>
          <a:xfrm>
            <a:off x="730081" y="1724025"/>
            <a:ext cx="10722313" cy="446722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text-145"/>
          <p:cNvSpPr>
            <a:spLocks noGrp="1"/>
          </p:cNvSpPr>
          <p:nvPr/>
        </p:nvSpPr>
        <p:spPr>
          <a:xfrm>
            <a:off x="685800" y="400050"/>
            <a:ext cx="108204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加分设计：按条件约束论文比较</a:t>
            </a:r>
            <a:endParaRPr sz="3300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46"/>
          <p:cNvSpPr>
            <a:spLocks noGrp="1"/>
          </p:cNvSpPr>
          <p:nvPr/>
        </p:nvSpPr>
        <p:spPr>
          <a:xfrm>
            <a:off x="685800" y="1143000"/>
            <a:ext cx="108204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在比较结果中同时核对任务、数据集、指标和训练条件</a:t>
            </a:r>
            <a:endParaRPr sz="1725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-148"/>
          <p:cNvSpPr>
            <a:spLocks noGrp="1"/>
          </p:cNvSpPr>
          <p:nvPr/>
        </p:nvSpPr>
        <p:spPr>
          <a:xfrm>
            <a:off x="11334750" y="632460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8000"/>
              </a:lnSpc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14</a:t>
            </a:r>
            <a:endParaRPr sz="1200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rcRect l="21000" t="2000" r="1000" b="6000"/>
          <a:stretch>
            <a:fillRect/>
          </a:stretch>
        </p:blipFill>
        <p:spPr>
          <a:xfrm>
            <a:off x="4000500" y="1818084"/>
            <a:ext cx="7505700" cy="4221956"/>
          </a:xfrm>
          <a:prstGeom prst="rect">
            <a:avLst/>
          </a:prstGeom>
        </p:spPr>
      </p:pic>
      <p:sp>
        <p:nvSpPr>
          <p:cNvPr id="6" name="text-149"/>
          <p:cNvSpPr>
            <a:spLocks noGrp="1"/>
          </p:cNvSpPr>
          <p:nvPr/>
        </p:nvSpPr>
        <p:spPr>
          <a:xfrm>
            <a:off x="685800" y="2038350"/>
            <a:ext cx="296227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结构化输出</a:t>
            </a:r>
            <a:endParaRPr sz="2175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-150"/>
          <p:cNvSpPr>
            <a:spLocks noGrp="1"/>
          </p:cNvSpPr>
          <p:nvPr/>
        </p:nvSpPr>
        <p:spPr>
          <a:xfrm>
            <a:off x="685800" y="2562225"/>
            <a:ext cx="2962275" cy="1238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按固定行列生成，逐列检查来源与数值。</a:t>
            </a:r>
            <a:endParaRPr sz="1875" b="0">
              <a:solidFill>
                <a:srgbClr val="273F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-151"/>
          <p:cNvSpPr>
            <a:spLocks noGrp="1"/>
          </p:cNvSpPr>
          <p:nvPr/>
        </p:nvSpPr>
        <p:spPr>
          <a:xfrm>
            <a:off x="685800" y="3848100"/>
            <a:ext cx="296227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比较边界</a:t>
            </a:r>
            <a:endParaRPr sz="2175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text-152"/>
          <p:cNvSpPr>
            <a:spLocks noGrp="1"/>
          </p:cNvSpPr>
          <p:nvPr/>
        </p:nvSpPr>
        <p:spPr>
          <a:xfrm>
            <a:off x="685800" y="4371975"/>
            <a:ext cx="2962275" cy="1238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条件不足时保留说明，避免合并不一致的性能数字。</a:t>
            </a:r>
            <a:endParaRPr sz="1875" b="0">
              <a:solidFill>
                <a:srgbClr val="273F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efined-36"/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Bad Case统计与页码校正</a:t>
            </a:r>
            <a:endParaRPr sz="3300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refined-37"/>
          <p:cNvSpPr>
            <a:spLocks noGrp="1"/>
          </p:cNvSpPr>
          <p:nvPr/>
        </p:nvSpPr>
        <p:spPr>
          <a:xfrm>
            <a:off x="590550" y="1114425"/>
            <a:ext cx="110299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60题历史基线评审的错误标签频数，与一项实际修复案例</a:t>
            </a:r>
            <a:endParaRPr sz="1725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refined-39"/>
          <p:cNvSpPr>
            <a:spLocks noGrp="1"/>
          </p:cNvSpPr>
          <p:nvPr/>
        </p:nvSpPr>
        <p:spPr>
          <a:xfrm>
            <a:off x="11334750" y="6334125"/>
            <a:ext cx="3333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8000"/>
              </a:lnSpc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</a:t>
            </a:r>
            <a:endParaRPr sz="1200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fined-40"/>
          <p:cNvSpPr>
            <a:spLocks noGrp="1"/>
          </p:cNvSpPr>
          <p:nvPr/>
        </p:nvSpPr>
        <p:spPr>
          <a:xfrm>
            <a:off x="619125" y="1857375"/>
            <a:ext cx="581025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错误标签频数</a:t>
            </a:r>
            <a:endParaRPr sz="2175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rcRect l="1200" t="21500" r="49000" b="12000"/>
          <a:stretch>
            <a:fillRect/>
          </a:stretch>
        </p:blipFill>
        <p:spPr>
          <a:xfrm>
            <a:off x="1079531" y="2324100"/>
            <a:ext cx="4832288" cy="3505200"/>
          </a:xfrm>
          <a:prstGeom prst="rect">
            <a:avLst/>
          </a:prstGeom>
        </p:spPr>
      </p:pic>
      <p:sp>
        <p:nvSpPr>
          <p:cNvPr id="7" name="refined-41"/>
          <p:cNvSpPr>
            <a:spLocks noGrp="1"/>
          </p:cNvSpPr>
          <p:nvPr/>
        </p:nvSpPr>
        <p:spPr>
          <a:xfrm>
            <a:off x="7029450" y="1952625"/>
            <a:ext cx="4572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4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4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4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4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4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4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4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4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4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24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引用页码修复</a:t>
            </a:r>
            <a:endParaRPr sz="2400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efined-42"/>
          <p:cNvSpPr>
            <a:spLocks noGrp="1"/>
          </p:cNvSpPr>
          <p:nvPr/>
        </p:nvSpPr>
        <p:spPr>
          <a:xfrm>
            <a:off x="7029450" y="2647950"/>
            <a:ext cx="4572000" cy="1162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925" b="1">
                <a:solidFill>
                  <a:srgbClr val="B85B6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925" b="1">
                <a:solidFill>
                  <a:srgbClr val="B85B6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925" b="1">
                <a:solidFill>
                  <a:srgbClr val="B85B6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925" b="1">
                <a:solidFill>
                  <a:srgbClr val="B85B6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925" b="1">
                <a:solidFill>
                  <a:srgbClr val="B85B6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925" b="1">
                <a:solidFill>
                  <a:srgbClr val="B85B6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925" b="1">
                <a:solidFill>
                  <a:srgbClr val="B85B6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925" b="1">
                <a:solidFill>
                  <a:srgbClr val="B85B6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925" b="1">
                <a:solidFill>
                  <a:srgbClr val="B85B6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925" b="1">
                <a:solidFill>
                  <a:srgbClr val="B85B6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2925" b="1">
                <a:solidFill>
                  <a:srgbClr val="B85B6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925" b="1">
                <a:solidFill>
                  <a:srgbClr val="B85B6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错误：第4页</a:t>
            </a:r>
            <a:endParaRPr sz="2925" b="1">
              <a:solidFill>
                <a:srgbClr val="B85B6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8000"/>
              </a:lnSpc>
              <a:buNone/>
              <a:defRPr sz="2925" b="1">
                <a:solidFill>
                  <a:srgbClr val="B85B6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925" b="1">
                <a:solidFill>
                  <a:srgbClr val="B85B6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来源：物理页2</a:t>
            </a:r>
            <a:endParaRPr sz="2925" b="1">
              <a:solidFill>
                <a:srgbClr val="B85B6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efined-43"/>
          <p:cNvSpPr>
            <a:spLocks noGrp="1"/>
          </p:cNvSpPr>
          <p:nvPr/>
        </p:nvSpPr>
        <p:spPr>
          <a:xfrm>
            <a:off x="7029450" y="4143375"/>
            <a:ext cx="4438650" cy="1066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02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02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02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02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02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02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02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02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02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202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服务器使用原文元数据维护页码映射，合并来源逐一核对。</a:t>
            </a:r>
            <a:endParaRPr sz="2025" b="0">
              <a:solidFill>
                <a:srgbClr val="273F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refined-44"/>
          <p:cNvSpPr>
            <a:spLocks noGrp="1"/>
          </p:cNvSpPr>
          <p:nvPr/>
        </p:nvSpPr>
        <p:spPr>
          <a:xfrm>
            <a:off x="7029450" y="5381625"/>
            <a:ext cx="443865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来源存在仍不等于论断受到充分支持。</a:t>
            </a:r>
            <a:endParaRPr sz="1875" b="1">
              <a:solidFill>
                <a:srgbClr val="1689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refined-45"/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本地验收与单次请求的时间构成</a:t>
            </a:r>
            <a:endParaRPr sz="3300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refined-46"/>
          <p:cNvSpPr>
            <a:spLocks noGrp="1"/>
          </p:cNvSpPr>
          <p:nvPr/>
        </p:nvSpPr>
        <p:spPr>
          <a:xfrm>
            <a:off x="590550" y="1114425"/>
            <a:ext cx="110299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2026-10-15，真实模型，独立29片段工作区，127.0.0.1运行</a:t>
            </a:r>
            <a:endParaRPr sz="1725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refined-48"/>
          <p:cNvSpPr>
            <a:spLocks noGrp="1"/>
          </p:cNvSpPr>
          <p:nvPr/>
        </p:nvSpPr>
        <p:spPr>
          <a:xfrm>
            <a:off x="11334750" y="6334125"/>
            <a:ext cx="3333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8000"/>
              </a:lnSpc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16</a:t>
            </a:r>
            <a:endParaRPr sz="1200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fined-49"/>
          <p:cNvSpPr>
            <a:spLocks noGrp="1"/>
          </p:cNvSpPr>
          <p:nvPr/>
        </p:nvSpPr>
        <p:spPr>
          <a:xfrm>
            <a:off x="619125" y="1857375"/>
            <a:ext cx="664845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单次请求的重叠计时范围</a:t>
            </a:r>
            <a:endParaRPr sz="2175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rcRect l="1500" t="21500" r="44500" b="15000"/>
          <a:stretch>
            <a:fillRect/>
          </a:stretch>
        </p:blipFill>
        <p:spPr>
          <a:xfrm>
            <a:off x="1042707" y="2324100"/>
            <a:ext cx="5610786" cy="3543300"/>
          </a:xfrm>
          <a:prstGeom prst="rect">
            <a:avLst/>
          </a:prstGeom>
        </p:spPr>
      </p:pic>
      <p:sp>
        <p:nvSpPr>
          <p:cNvPr id="7" name="refined-50"/>
          <p:cNvSpPr>
            <a:spLocks noGrp="1"/>
          </p:cNvSpPr>
          <p:nvPr/>
        </p:nvSpPr>
        <p:spPr>
          <a:xfrm>
            <a:off x="7820025" y="1914525"/>
            <a:ext cx="36957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40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33项通过</a:t>
            </a:r>
            <a:endParaRPr sz="4050" b="1">
              <a:solidFill>
                <a:srgbClr val="1689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efined-51"/>
          <p:cNvSpPr>
            <a:spLocks noGrp="1"/>
          </p:cNvSpPr>
          <p:nvPr/>
        </p:nvSpPr>
        <p:spPr>
          <a:xfrm>
            <a:off x="7839075" y="2714625"/>
            <a:ext cx="3667125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0项失败</a:t>
            </a:r>
            <a:endParaRPr sz="2175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efined-52"/>
          <p:cNvSpPr>
            <a:spLocks noGrp="1"/>
          </p:cNvSpPr>
          <p:nvPr/>
        </p:nvSpPr>
        <p:spPr>
          <a:xfrm>
            <a:off x="7820025" y="3590925"/>
            <a:ext cx="36957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3537 / 395</a:t>
            </a:r>
            <a:endParaRPr sz="3300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refined-53"/>
          <p:cNvSpPr>
            <a:spLocks noGrp="1"/>
          </p:cNvSpPr>
          <p:nvPr/>
        </p:nvSpPr>
        <p:spPr>
          <a:xfrm>
            <a:off x="7848600" y="4343400"/>
            <a:ext cx="36195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实际输入 / 输出Token</a:t>
            </a:r>
            <a:endParaRPr sz="1875" b="0">
              <a:solidFill>
                <a:srgbClr val="273F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refined-54"/>
          <p:cNvSpPr>
            <a:spLocks noGrp="1"/>
          </p:cNvSpPr>
          <p:nvPr/>
        </p:nvSpPr>
        <p:spPr>
          <a:xfrm>
            <a:off x="7820025" y="5095875"/>
            <a:ext cx="36957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C792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3300" b="1">
                <a:solidFill>
                  <a:srgbClr val="C792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3300" b="1">
                <a:solidFill>
                  <a:srgbClr val="C792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3300" b="1">
                <a:solidFill>
                  <a:srgbClr val="C792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3300" b="1">
                <a:solidFill>
                  <a:srgbClr val="C792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3300" b="1">
                <a:solidFill>
                  <a:srgbClr val="C792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3300" b="1">
                <a:solidFill>
                  <a:srgbClr val="C792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3300" b="1">
                <a:solidFill>
                  <a:srgbClr val="C792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3300" b="1">
                <a:solidFill>
                  <a:srgbClr val="C792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3300" b="1">
                <a:solidFill>
                  <a:srgbClr val="C792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3300" b="1">
                <a:solidFill>
                  <a:srgbClr val="C792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C792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34.15秒</a:t>
            </a:r>
            <a:endParaRPr sz="3300" b="1">
              <a:solidFill>
                <a:srgbClr val="C7923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refined-55"/>
          <p:cNvSpPr>
            <a:spLocks noGrp="1"/>
          </p:cNvSpPr>
          <p:nvPr/>
        </p:nvSpPr>
        <p:spPr>
          <a:xfrm>
            <a:off x="7848600" y="5762625"/>
            <a:ext cx="36195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80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80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80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80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80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80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80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80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80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80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单次端到端问答</a:t>
            </a:r>
            <a:endParaRPr sz="1800" b="0">
              <a:solidFill>
                <a:srgbClr val="273F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efined-56"/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切分策略与索引规模</a:t>
            </a:r>
            <a:endParaRPr sz="3300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refined-57"/>
          <p:cNvSpPr>
            <a:spLocks noGrp="1"/>
          </p:cNvSpPr>
          <p:nvPr/>
        </p:nvSpPr>
        <p:spPr>
          <a:xfrm>
            <a:off x="590550" y="1114425"/>
            <a:ext cx="110299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m3e-base，同一语料、20道开发题，多指标对照</a:t>
            </a:r>
            <a:endParaRPr sz="1725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refined-59"/>
          <p:cNvSpPr>
            <a:spLocks noGrp="1"/>
          </p:cNvSpPr>
          <p:nvPr/>
        </p:nvSpPr>
        <p:spPr>
          <a:xfrm>
            <a:off x="11334750" y="6334125"/>
            <a:ext cx="3333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8000"/>
              </a:lnSpc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19</a:t>
            </a:r>
            <a:endParaRPr sz="1200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rcRect l="1200" t="15000" r="800" b="10000"/>
          <a:stretch>
            <a:fillRect/>
          </a:stretch>
        </p:blipFill>
        <p:spPr>
          <a:xfrm>
            <a:off x="1074052" y="1771650"/>
            <a:ext cx="10034370" cy="4076700"/>
          </a:xfrm>
          <a:prstGeom prst="rect">
            <a:avLst/>
          </a:prstGeom>
        </p:spPr>
      </p:pic>
      <p:sp>
        <p:nvSpPr>
          <p:cNvPr id="6" name="refined-60"/>
          <p:cNvSpPr>
            <a:spLocks noGrp="1"/>
          </p:cNvSpPr>
          <p:nvPr/>
        </p:nvSpPr>
        <p:spPr>
          <a:xfrm>
            <a:off x="600075" y="5953125"/>
            <a:ext cx="1102042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固定1024的Hit@5为0.50；默认配置还需权衡片段数量与检索成本。</a:t>
            </a:r>
            <a:endParaRPr sz="1875" b="1">
              <a:solidFill>
                <a:srgbClr val="1689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refined-61"/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参数变化的质量与生成成本</a:t>
            </a:r>
            <a:endParaRPr sz="3300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refined-62"/>
          <p:cNvSpPr>
            <a:spLocks noGrp="1"/>
          </p:cNvSpPr>
          <p:nvPr/>
        </p:nvSpPr>
        <p:spPr>
          <a:xfrm>
            <a:off x="590550" y="1114425"/>
            <a:ext cx="110299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每条件4道开发题、每题单次</a:t>
            </a:r>
            <a:endParaRPr sz="1725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refined-64"/>
          <p:cNvSpPr>
            <a:spLocks noGrp="1"/>
          </p:cNvSpPr>
          <p:nvPr/>
        </p:nvSpPr>
        <p:spPr>
          <a:xfrm>
            <a:off x="11334750" y="6334125"/>
            <a:ext cx="3333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8000"/>
              </a:lnSpc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</a:t>
            </a:r>
            <a:endParaRPr sz="1200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rcRect l="1200" t="21500" r="800" b="17000"/>
          <a:stretch>
            <a:fillRect/>
          </a:stretch>
        </p:blipFill>
        <p:spPr>
          <a:xfrm>
            <a:off x="485775" y="1871700"/>
            <a:ext cx="11210925" cy="3647999"/>
          </a:xfrm>
          <a:prstGeom prst="rect">
            <a:avLst/>
          </a:prstGeom>
        </p:spPr>
      </p:pic>
      <p:sp>
        <p:nvSpPr>
          <p:cNvPr id="6" name="refined-65"/>
          <p:cNvSpPr>
            <a:spLocks noGrp="1"/>
          </p:cNvSpPr>
          <p:nvPr/>
        </p:nvSpPr>
        <p:spPr>
          <a:xfrm>
            <a:off x="600075" y="5715000"/>
            <a:ext cx="110013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72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72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72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72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72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72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72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72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72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72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273F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五条件平均生成时间 / s：3.255，2.503，1.415，1.705，1.885</a:t>
            </a:r>
            <a:endParaRPr sz="1725" b="0">
              <a:solidFill>
                <a:srgbClr val="273F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refined-66"/>
          <p:cNvSpPr>
            <a:spLocks noGrp="1"/>
          </p:cNvSpPr>
          <p:nvPr/>
        </p:nvSpPr>
        <p:spPr>
          <a:xfrm>
            <a:off x="600075" y="6019800"/>
            <a:ext cx="110013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72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72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72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72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72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72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72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72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72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72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对应平均输出Token / 条：84.25，115.00，59.50，73.25，84.25</a:t>
            </a:r>
            <a:endParaRPr sz="1725" b="1">
              <a:solidFill>
                <a:srgbClr val="1689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efined-67"/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不同题型的检索覆盖</a:t>
            </a:r>
            <a:endParaRPr sz="3300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refined-68"/>
          <p:cNvSpPr>
            <a:spLocks noGrp="1"/>
          </p:cNvSpPr>
          <p:nvPr/>
        </p:nvSpPr>
        <p:spPr>
          <a:xfrm>
            <a:off x="590550" y="1114425"/>
            <a:ext cx="110299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同60道测试题，按事实、比较、综合和推理分层</a:t>
            </a:r>
            <a:endParaRPr sz="1725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refined-70"/>
          <p:cNvSpPr>
            <a:spLocks noGrp="1"/>
          </p:cNvSpPr>
          <p:nvPr/>
        </p:nvSpPr>
        <p:spPr>
          <a:xfrm>
            <a:off x="11334750" y="6334125"/>
            <a:ext cx="3333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8000"/>
              </a:lnSpc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21</a:t>
            </a:r>
            <a:endParaRPr sz="1200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rcRect l="1200" t="16000" r="1000" b="6500"/>
          <a:stretch>
            <a:fillRect/>
          </a:stretch>
        </p:blipFill>
        <p:spPr>
          <a:xfrm>
            <a:off x="731594" y="1752600"/>
            <a:ext cx="10709763" cy="4086225"/>
          </a:xfrm>
          <a:prstGeom prst="rect">
            <a:avLst/>
          </a:prstGeom>
        </p:spPr>
      </p:pic>
      <p:sp>
        <p:nvSpPr>
          <p:cNvPr id="6" name="refined-71"/>
          <p:cNvSpPr>
            <a:spLocks noGrp="1"/>
          </p:cNvSpPr>
          <p:nvPr/>
        </p:nvSpPr>
        <p:spPr>
          <a:xfrm>
            <a:off x="600075" y="5962650"/>
            <a:ext cx="1102042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B85B6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875" b="1">
                <a:solidFill>
                  <a:srgbClr val="B85B6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875" b="1">
                <a:solidFill>
                  <a:srgbClr val="B85B6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875" b="1">
                <a:solidFill>
                  <a:srgbClr val="B85B6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875" b="1">
                <a:solidFill>
                  <a:srgbClr val="B85B6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875" b="1">
                <a:solidFill>
                  <a:srgbClr val="B85B6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875" b="1">
                <a:solidFill>
                  <a:srgbClr val="B85B6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875" b="1">
                <a:solidFill>
                  <a:srgbClr val="B85B6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875" b="1">
                <a:solidFill>
                  <a:srgbClr val="B85B6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875" b="1">
                <a:solidFill>
                  <a:srgbClr val="B85B6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875" b="1">
                <a:solidFill>
                  <a:srgbClr val="B85B6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B85B6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推理题重排后Hit@5仍为45.5%，提示证据覆盖还有明显短板。</a:t>
            </a:r>
            <a:endParaRPr sz="1875" b="1">
              <a:solidFill>
                <a:srgbClr val="B85B6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efined-72"/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综合与推理题的逐题证据排名</a:t>
            </a:r>
            <a:endParaRPr sz="3300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refined-73"/>
          <p:cNvSpPr>
            <a:spLocks noGrp="1"/>
          </p:cNvSpPr>
          <p:nvPr/>
        </p:nvSpPr>
        <p:spPr>
          <a:xfrm>
            <a:off x="590550" y="1114425"/>
            <a:ext cx="110299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两类任务各11道测试题；保留Dense、Hybrid与Rerank的实际名次</a:t>
            </a:r>
            <a:endParaRPr sz="1725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refined-75"/>
          <p:cNvSpPr>
            <a:spLocks noGrp="1"/>
          </p:cNvSpPr>
          <p:nvPr/>
        </p:nvSpPr>
        <p:spPr>
          <a:xfrm>
            <a:off x="11334750" y="6334125"/>
            <a:ext cx="3333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8000"/>
              </a:lnSpc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22</a:t>
            </a:r>
            <a:endParaRPr sz="1200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rcRect l="1200" t="51000" r="800" b="6000"/>
          <a:stretch>
            <a:fillRect/>
          </a:stretch>
        </p:blipFill>
        <p:spPr>
          <a:xfrm>
            <a:off x="447675" y="2202795"/>
            <a:ext cx="11287125" cy="3423960"/>
          </a:xfrm>
          <a:prstGeom prst="rect">
            <a:avLst/>
          </a:prstGeom>
        </p:spPr>
      </p:pic>
      <p:sp>
        <p:nvSpPr>
          <p:cNvPr id="6" name="refined-76"/>
          <p:cNvSpPr>
            <a:spLocks noGrp="1"/>
          </p:cNvSpPr>
          <p:nvPr/>
        </p:nvSpPr>
        <p:spPr>
          <a:xfrm>
            <a:off x="600075" y="5981700"/>
            <a:ext cx="110204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1689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逐题变化可以区分证据救回、排名改善和持续漏召回。</a:t>
            </a:r>
            <a:endParaRPr sz="1950" b="1">
              <a:solidFill>
                <a:srgbClr val="1689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text-197"/>
          <p:cNvSpPr>
            <a:spLocks noGrp="1"/>
          </p:cNvSpPr>
          <p:nvPr/>
        </p:nvSpPr>
        <p:spPr>
          <a:xfrm>
            <a:off x="685800" y="400050"/>
            <a:ext cx="108204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93A5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复现环境与团队</a:t>
            </a:r>
            <a:endParaRPr sz="3300" b="1">
              <a:solidFill>
                <a:srgbClr val="193A5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98"/>
          <p:cNvSpPr>
            <a:spLocks noGrp="1"/>
          </p:cNvSpPr>
          <p:nvPr/>
        </p:nvSpPr>
        <p:spPr>
          <a:xfrm>
            <a:off x="685800" y="1143000"/>
            <a:ext cx="108204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本地推理无需云端API Key，云端兼容接口可按配置切换</a:t>
            </a:r>
            <a:endParaRPr sz="1725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-200"/>
          <p:cNvSpPr>
            <a:spLocks noGrp="1"/>
          </p:cNvSpPr>
          <p:nvPr/>
        </p:nvSpPr>
        <p:spPr>
          <a:xfrm>
            <a:off x="11334750" y="632460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8000"/>
              </a:lnSpc>
              <a:buNone/>
              <a:def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7080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23</a:t>
            </a:r>
            <a:endParaRPr sz="1200" b="0">
              <a:solidFill>
                <a:srgbClr val="70808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5" name="表格 4"/>
          <p:cNvGraphicFramePr/>
          <p:nvPr/>
        </p:nvGraphicFramePr>
        <p:xfrm>
          <a:off x="685800" y="1819275"/>
          <a:ext cx="10820400" cy="1933576"/>
        </p:xfrm>
        <a:graphic>
          <a:graphicData uri="http://schemas.openxmlformats.org/drawingml/2006/table">
            <a:tbl>
              <a:tblPr/>
              <a:tblGrid>
                <a:gridCol w="2286000"/>
                <a:gridCol w="8534400"/>
              </a:tblGrid>
              <a:tr h="48339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组件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95250" marB="76200" anchor="ctr">
                    <a:lnL w="6191">
                      <a:solidFill>
                        <a:srgbClr val="DEE7ED"/>
                      </a:solidFill>
                      <a:prstDash val="solid"/>
                    </a:lnL>
                    <a:lnR w="6191">
                      <a:solidFill>
                        <a:srgbClr val="DEE7ED"/>
                      </a:solidFill>
                      <a:prstDash val="solid"/>
                    </a:lnR>
                    <a:lnT w="6191">
                      <a:solidFill>
                        <a:srgbClr val="DEE7ED"/>
                      </a:solidFill>
                      <a:prstDash val="solid"/>
                    </a:lnT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193A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实际本地配置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95250" marB="76200" anchor="ctr">
                    <a:lnR w="6191">
                      <a:solidFill>
                        <a:srgbClr val="DEE7ED"/>
                      </a:solidFill>
                      <a:prstDash val="solid"/>
                    </a:lnR>
                    <a:lnT w="6191">
                      <a:solidFill>
                        <a:srgbClr val="DEE7ED"/>
                      </a:solidFill>
                      <a:prstDash val="solid"/>
                    </a:lnT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193A56"/>
                    </a:solidFill>
                  </a:tcPr>
                </a:tc>
              </a:tr>
              <a:tr h="483394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生成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95250" marB="76200" anchor="ctr">
                    <a:lnL w="6191">
                      <a:solidFill>
                        <a:srgbClr val="DEE7ED"/>
                      </a:solidFill>
                      <a:prstDash val="solid"/>
                    </a:lnL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Ollama，research-qwen:7b，Q4_K_M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95250" marB="76200" anchor="ctr"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3394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检索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95250" marB="76200" anchor="ctr">
                    <a:lnL w="6191">
                      <a:solidFill>
                        <a:srgbClr val="DEE7ED"/>
                      </a:solidFill>
                      <a:prstDash val="solid"/>
                    </a:lnL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BGE-M3 + bge-reranker-base，CPU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95250" marB="76200" anchor="ctr"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</a:tr>
              <a:tr h="483394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存储与界面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95250" marB="76200" anchor="ctr">
                    <a:lnL w="6191">
                      <a:solidFill>
                        <a:srgbClr val="DEE7ED"/>
                      </a:solidFill>
                      <a:prstDash val="solid"/>
                    </a:lnL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Chroma，FastAPI，Streamlit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95250" marB="76200" anchor="ctr"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表格 5"/>
          <p:cNvGraphicFramePr/>
          <p:nvPr/>
        </p:nvGraphicFramePr>
        <p:xfrm>
          <a:off x="685800" y="4124325"/>
          <a:ext cx="10820400" cy="1933576"/>
        </p:xfrm>
        <a:graphic>
          <a:graphicData uri="http://schemas.openxmlformats.org/drawingml/2006/table">
            <a:tbl>
              <a:tblPr/>
              <a:tblGrid>
                <a:gridCol w="2171700"/>
                <a:gridCol w="3143250"/>
                <a:gridCol w="3333750"/>
                <a:gridCol w="2171700"/>
              </a:tblGrid>
              <a:tr h="48339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成员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95250" marB="76200" anchor="ctr">
                    <a:lnL w="6191">
                      <a:solidFill>
                        <a:srgbClr val="DEE7ED"/>
                      </a:solidFill>
                      <a:prstDash val="solid"/>
                    </a:lnL>
                    <a:lnR w="6191">
                      <a:solidFill>
                        <a:srgbClr val="DEE7ED"/>
                      </a:solidFill>
                      <a:prstDash val="solid"/>
                    </a:lnR>
                    <a:lnT w="6191">
                      <a:solidFill>
                        <a:srgbClr val="DEE7ED"/>
                      </a:solidFill>
                      <a:prstDash val="solid"/>
                    </a:lnT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193A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班级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95250" marB="76200" anchor="ctr">
                    <a:lnR w="6191">
                      <a:solidFill>
                        <a:srgbClr val="DEE7ED"/>
                      </a:solidFill>
                      <a:prstDash val="solid"/>
                    </a:lnR>
                    <a:lnT w="6191">
                      <a:solidFill>
                        <a:srgbClr val="DEE7ED"/>
                      </a:solidFill>
                      <a:prstDash val="solid"/>
                    </a:lnT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193A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学号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95250" marB="76200" anchor="ctr">
                    <a:lnR w="6191">
                      <a:solidFill>
                        <a:srgbClr val="DEE7ED"/>
                      </a:solidFill>
                      <a:prstDash val="solid"/>
                    </a:lnR>
                    <a:lnT w="6191">
                      <a:solidFill>
                        <a:srgbClr val="DEE7ED"/>
                      </a:solidFill>
                      <a:prstDash val="solid"/>
                    </a:lnT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193A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贡献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95250" marB="76200" anchor="ctr">
                    <a:lnR w="6191">
                      <a:solidFill>
                        <a:srgbClr val="DEE7ED"/>
                      </a:solidFill>
                      <a:prstDash val="solid"/>
                    </a:lnR>
                    <a:lnT w="6191">
                      <a:solidFill>
                        <a:srgbClr val="DEE7ED"/>
                      </a:solidFill>
                      <a:prstDash val="solid"/>
                    </a:lnT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193A56"/>
                    </a:solidFill>
                  </a:tcPr>
                </a:tc>
              </a:tr>
              <a:tr h="483394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赵志国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95250" marB="76200" anchor="ctr">
                    <a:lnL w="6191">
                      <a:solidFill>
                        <a:srgbClr val="DEE7ED"/>
                      </a:solidFill>
                      <a:prstDash val="solid"/>
                    </a:lnL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人工智能231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95250" marB="76200" anchor="ctr"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11523122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95250" marB="76200" anchor="ctr"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40%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95250" marB="76200" anchor="ctr"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3394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林骋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95250" marB="76200" anchor="ctr">
                    <a:lnL w="6191">
                      <a:solidFill>
                        <a:srgbClr val="DEE7ED"/>
                      </a:solidFill>
                      <a:prstDash val="solid"/>
                    </a:lnL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人工智能231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95250" marB="76200" anchor="ctr"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11523121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95250" marB="76200" anchor="ctr"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30%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95250" marB="76200" anchor="ctr"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3F7F9"/>
                    </a:solidFill>
                  </a:tcPr>
                </a:tc>
              </a:tr>
              <a:tr h="483394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林弟伟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95250" marB="76200" anchor="ctr">
                    <a:lnL w="6191">
                      <a:solidFill>
                        <a:srgbClr val="DEE7ED"/>
                      </a:solidFill>
                      <a:prstDash val="solid"/>
                    </a:lnL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人工智能232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95250" marB="76200" anchor="ctr"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11523120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95250" marB="76200" anchor="ctr"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73F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30%</a:t>
                      </a:r>
                      <a:endParaRPr sz="1800">
                        <a:solidFill>
                          <a:srgbClr val="273F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33350" marR="114300" marT="95250" marB="76200" anchor="ctr">
                    <a:lnR w="6191">
                      <a:solidFill>
                        <a:srgbClr val="DEE7ED"/>
                      </a:solidFill>
                      <a:prstDash val="solid"/>
                    </a:lnR>
                    <a:lnB w="6191">
                      <a:solidFill>
                        <a:srgbClr val="DEE7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3A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text-182"/>
          <p:cNvSpPr>
            <a:spLocks noGrp="1"/>
          </p:cNvSpPr>
          <p:nvPr/>
        </p:nvSpPr>
        <p:spPr>
          <a:xfrm>
            <a:off x="11334750" y="632460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buNone/>
              <a:defRPr sz="120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buNone/>
              <a:defRPr sz="120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buNone/>
              <a:defRPr sz="120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buNone/>
              <a:defRPr sz="120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buNone/>
              <a:defRPr sz="120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buNone/>
              <a:defRPr sz="120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buNone/>
              <a:defRPr sz="120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buNone/>
              <a:defRPr sz="120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buNone/>
              <a:defRPr sz="120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8000"/>
              </a:lnSpc>
              <a:buNone/>
              <a:defRPr sz="120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18</a:t>
            </a:r>
            <a:endParaRPr sz="1200" b="0">
              <a:solidFill>
                <a:srgbClr val="C6D8E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-183"/>
          <p:cNvSpPr>
            <a:spLocks noGrp="1"/>
          </p:cNvSpPr>
          <p:nvPr/>
        </p:nvSpPr>
        <p:spPr>
          <a:xfrm>
            <a:off x="685800" y="628650"/>
            <a:ext cx="108204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A8D8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3225" b="1">
                <a:solidFill>
                  <a:srgbClr val="A8D8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3225" b="1">
                <a:solidFill>
                  <a:srgbClr val="A8D8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3225" b="1">
                <a:solidFill>
                  <a:srgbClr val="A8D8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3225" b="1">
                <a:solidFill>
                  <a:srgbClr val="A8D8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3225" b="1">
                <a:solidFill>
                  <a:srgbClr val="A8D8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3225" b="1">
                <a:solidFill>
                  <a:srgbClr val="A8D8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3225" b="1">
                <a:solidFill>
                  <a:srgbClr val="A8D8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3225" b="1">
                <a:solidFill>
                  <a:srgbClr val="A8D8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3225" b="1">
                <a:solidFill>
                  <a:srgbClr val="A8D8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3225" b="1">
                <a:solidFill>
                  <a:srgbClr val="A8D8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225" b="1">
                <a:solidFill>
                  <a:srgbClr val="A8D8D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总结</a:t>
            </a:r>
            <a:endParaRPr sz="3225" b="1">
              <a:solidFill>
                <a:srgbClr val="A8D8D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-184"/>
          <p:cNvSpPr>
            <a:spLocks noGrp="1"/>
          </p:cNvSpPr>
          <p:nvPr/>
        </p:nvSpPr>
        <p:spPr>
          <a:xfrm>
            <a:off x="685800" y="1885950"/>
            <a:ext cx="10820400" cy="1647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5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45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45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45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45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45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45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45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45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45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45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45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构建可回查证据的</a:t>
            </a:r>
            <a:endParaRPr sz="45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8000"/>
              </a:lnSpc>
              <a:buNone/>
              <a:defRPr sz="45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45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论文知识库问答系统</a:t>
            </a:r>
            <a:endParaRPr sz="45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-185"/>
          <p:cNvSpPr>
            <a:spLocks noGrp="1"/>
          </p:cNvSpPr>
          <p:nvPr/>
        </p:nvSpPr>
        <p:spPr>
          <a:xfrm>
            <a:off x="723900" y="4086225"/>
            <a:ext cx="10715625" cy="1114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175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175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175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175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175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175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175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175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175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2175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完成文档处理、RAG问答、工具协作与本地运行闭环。</a:t>
            </a:r>
            <a:endParaRPr sz="2175" b="0">
              <a:solidFill>
                <a:srgbClr val="C6D8E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8000"/>
              </a:lnSpc>
              <a:buNone/>
              <a:defRPr sz="2175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0">
                <a:solidFill>
                  <a:srgbClr val="C6D8E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实验显示重排的覆盖收益，也暴露时延与回答质量的短板。</a:t>
            </a:r>
            <a:endParaRPr sz="2175" b="0">
              <a:solidFill>
                <a:srgbClr val="C6D8E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-186"/>
          <p:cNvSpPr>
            <a:spLocks noGrp="1"/>
          </p:cNvSpPr>
          <p:nvPr/>
        </p:nvSpPr>
        <p:spPr>
          <a:xfrm>
            <a:off x="723900" y="5715000"/>
            <a:ext cx="10715625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buNone/>
              <a:defRPr sz="24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buNone/>
              <a:defRPr sz="24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buNone/>
              <a:defRPr sz="24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buNone/>
              <a:defRPr sz="24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buNone/>
              <a:defRPr sz="24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buNone/>
              <a:defRPr sz="24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buNone/>
              <a:defRPr sz="24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buNone/>
              <a:defRPr sz="24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buNone/>
              <a:defRPr sz="24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8000"/>
              </a:lnSpc>
              <a:buNone/>
              <a:defRPr sz="24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请各位老师批评指正</a:t>
            </a:r>
            <a:endParaRPr sz="24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2518</Words>
  <Application>WPS 演示</Application>
  <PresentationFormat>Converted Presentation</PresentationFormat>
  <Paragraphs>418</Paragraphs>
  <Slides>22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30" baseType="lpstr">
      <vt:lpstr>Arial</vt:lpstr>
      <vt:lpstr>宋体</vt:lpstr>
      <vt:lpstr>Wingdings</vt:lpstr>
      <vt:lpstr>微软雅黑</vt:lpstr>
      <vt:lpstr>Arial Unicode MS</vt:lpstr>
      <vt:lpstr>Aptos</vt:lpstr>
      <vt:lpstr>Segoe UI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崛北易</cp:lastModifiedBy>
  <cp:revision>1</cp:revision>
  <dcterms:created xsi:type="dcterms:W3CDTF">2026-10-18T05:59:40Z</dcterms:created>
  <dcterms:modified xsi:type="dcterms:W3CDTF">2026-10-18T05:59:40Z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2052-12.1.0.29161</vt:lpwstr>
  </property>
  <property fmtid="{D5CDD505-2E9C-101B-9397-08002B2CF9AE}" pid="3" name="ICV">
    <vt:lpwstr>E9BA2D3949F74887B6086838BB30C55F_12</vt:lpwstr>
  </property>
</Properties>
</file>