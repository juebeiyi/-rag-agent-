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a7a1554932444d" /><Relationship Type="http://schemas.openxmlformats.org/officeDocument/2006/relationships/extended-properties" Target="/docProps/app.xml" Id="Rd8f8964c19224298" /><Relationship Type="http://schemas.openxmlformats.org/officeDocument/2006/relationships/officeDocument" Target="/ppt/presentation.xml" Id="R7a7913703b3142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fd0fa7718d46f0"/>
  </p:sldMasterIdLst>
  <p:notesMasterIdLst>
    <p:notesMasterId xmlns:r="http://schemas.openxmlformats.org/officeDocument/2006/relationships" r:id="R83a1adc0bbdd40fc"/>
  </p:notesMasterIdLst>
  <p:sldIdLst>
    <p:sldId xmlns:r="http://schemas.openxmlformats.org/officeDocument/2006/relationships" id="256" r:id="R3d6534895107483a"/>
    <p:sldId xmlns:r="http://schemas.openxmlformats.org/officeDocument/2006/relationships" id="257" r:id="R9ed07c0905b445f3"/>
    <p:sldId xmlns:r="http://schemas.openxmlformats.org/officeDocument/2006/relationships" id="258" r:id="R8535bdfd73684b81"/>
    <p:sldId xmlns:r="http://schemas.openxmlformats.org/officeDocument/2006/relationships" id="259" r:id="R917cd6c3d91a4eec"/>
    <p:sldId xmlns:r="http://schemas.openxmlformats.org/officeDocument/2006/relationships" id="260" r:id="Rd2d5707df9a648a0"/>
    <p:sldId xmlns:r="http://schemas.openxmlformats.org/officeDocument/2006/relationships" id="261" r:id="R35597c7b6a55482c"/>
    <p:sldId xmlns:r="http://schemas.openxmlformats.org/officeDocument/2006/relationships" id="262" r:id="Rbca75bc19673443d"/>
    <p:sldId xmlns:r="http://schemas.openxmlformats.org/officeDocument/2006/relationships" id="263" r:id="R0c7e7d91126c462a"/>
    <p:sldId xmlns:r="http://schemas.openxmlformats.org/officeDocument/2006/relationships" id="264" r:id="R8c6678502bea4ce4"/>
    <p:sldId xmlns:r="http://schemas.openxmlformats.org/officeDocument/2006/relationships" id="265" r:id="R7933d506a83c426b"/>
    <p:sldId xmlns:r="http://schemas.openxmlformats.org/officeDocument/2006/relationships" id="266" r:id="R6ed912a93bff414a"/>
    <p:sldId xmlns:r="http://schemas.openxmlformats.org/officeDocument/2006/relationships" id="267" r:id="Rfdcd959261664602"/>
    <p:sldId xmlns:r="http://schemas.openxmlformats.org/officeDocument/2006/relationships" id="268" r:id="Re9930d41575e4639"/>
    <p:sldId xmlns:r="http://schemas.openxmlformats.org/officeDocument/2006/relationships" id="269" r:id="Rd5695085f29a42ce"/>
    <p:sldId xmlns:r="http://schemas.openxmlformats.org/officeDocument/2006/relationships" id="270" r:id="R9f0ef243a547444f"/>
    <p:sldId xmlns:r="http://schemas.openxmlformats.org/officeDocument/2006/relationships" id="271" r:id="Ra981b1fd7c1546b0"/>
    <p:sldId xmlns:r="http://schemas.openxmlformats.org/officeDocument/2006/relationships" id="272" r:id="R18c8862b17844aed"/>
    <p:sldId xmlns:r="http://schemas.openxmlformats.org/officeDocument/2006/relationships" id="273" r:id="R418e4f19818a4dda"/>
    <p:sldId xmlns:r="http://schemas.openxmlformats.org/officeDocument/2006/relationships" id="274" r:id="Reb6a9aeecbd94003"/>
    <p:sldId xmlns:r="http://schemas.openxmlformats.org/officeDocument/2006/relationships" id="275" r:id="R5b9d7600e3734ab7"/>
    <p:sldId xmlns:r="http://schemas.openxmlformats.org/officeDocument/2006/relationships" id="276" r:id="Rcdc0a0f1622f46a6"/>
    <p:sldId xmlns:r="http://schemas.openxmlformats.org/officeDocument/2006/relationships" id="277" r:id="R4fa0ab2a5d0c492b"/>
    <p:sldId xmlns:r="http://schemas.openxmlformats.org/officeDocument/2006/relationships" id="278" r:id="Rf2bae8b38ed143ff"/>
    <p:sldId xmlns:r="http://schemas.openxmlformats.org/officeDocument/2006/relationships" id="279" r:id="Rdb6bb02bf92245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a74baf8f714d23" /><Relationship Type="http://schemas.openxmlformats.org/officeDocument/2006/relationships/slideMaster" Target="/ppt/slideMasters/slideMaster1.xml" Id="Re5fd0fa7718d46f0" /><Relationship Type="http://schemas.openxmlformats.org/officeDocument/2006/relationships/notesMaster" Target="/ppt/notesMasters/notesMaster1.xml" Id="R83a1adc0bbdd40fc" /><Relationship Type="http://schemas.openxmlformats.org/officeDocument/2006/relationships/presProps" Target="/ppt/presProps.xml" Id="R2004bd4b93184a5f" /><Relationship Type="http://schemas.openxmlformats.org/officeDocument/2006/relationships/tableStyles" Target="/ppt/tableStyles.xml" Id="Rc4447fcfd988472c" /><Relationship Type="http://schemas.openxmlformats.org/officeDocument/2006/relationships/slide" Target="/ppt/slides/slide1.xml" Id="R3d6534895107483a" /><Relationship Type="http://schemas.openxmlformats.org/officeDocument/2006/relationships/slide" Target="/ppt/slides/slide2.xml" Id="R9ed07c0905b445f3" /><Relationship Type="http://schemas.openxmlformats.org/officeDocument/2006/relationships/slide" Target="/ppt/slides/slide3.xml" Id="R8535bdfd73684b81" /><Relationship Type="http://schemas.openxmlformats.org/officeDocument/2006/relationships/slide" Target="/ppt/slides/slide4.xml" Id="R917cd6c3d91a4eec" /><Relationship Type="http://schemas.openxmlformats.org/officeDocument/2006/relationships/slide" Target="/ppt/slides/slide5.xml" Id="Rd2d5707df9a648a0" /><Relationship Type="http://schemas.openxmlformats.org/officeDocument/2006/relationships/slide" Target="/ppt/slides/slide6.xml" Id="R35597c7b6a55482c" /><Relationship Type="http://schemas.openxmlformats.org/officeDocument/2006/relationships/slide" Target="/ppt/slides/slide7.xml" Id="Rbca75bc19673443d" /><Relationship Type="http://schemas.openxmlformats.org/officeDocument/2006/relationships/slide" Target="/ppt/slides/slide8.xml" Id="R0c7e7d91126c462a" /><Relationship Type="http://schemas.openxmlformats.org/officeDocument/2006/relationships/slide" Target="/ppt/slides/slide9.xml" Id="R8c6678502bea4ce4" /><Relationship Type="http://schemas.openxmlformats.org/officeDocument/2006/relationships/slide" Target="/ppt/slides/slide10.xml" Id="R7933d506a83c426b" /><Relationship Type="http://schemas.openxmlformats.org/officeDocument/2006/relationships/slide" Target="/ppt/slides/slide11.xml" Id="R6ed912a93bff414a" /><Relationship Type="http://schemas.openxmlformats.org/officeDocument/2006/relationships/slide" Target="/ppt/slides/slide12.xml" Id="Rfdcd959261664602" /><Relationship Type="http://schemas.openxmlformats.org/officeDocument/2006/relationships/slide" Target="/ppt/slides/slide13.xml" Id="Re9930d41575e4639" /><Relationship Type="http://schemas.openxmlformats.org/officeDocument/2006/relationships/slide" Target="/ppt/slides/slide14.xml" Id="Rd5695085f29a42ce" /><Relationship Type="http://schemas.openxmlformats.org/officeDocument/2006/relationships/slide" Target="/ppt/slides/slide15.xml" Id="R9f0ef243a547444f" /><Relationship Type="http://schemas.openxmlformats.org/officeDocument/2006/relationships/slide" Target="/ppt/slides/slide16.xml" Id="Ra981b1fd7c1546b0" /><Relationship Type="http://schemas.openxmlformats.org/officeDocument/2006/relationships/slide" Target="/ppt/slides/slide17.xml" Id="R18c8862b17844aed" /><Relationship Type="http://schemas.openxmlformats.org/officeDocument/2006/relationships/slide" Target="/ppt/slides/slide18.xml" Id="R418e4f19818a4dda" /><Relationship Type="http://schemas.openxmlformats.org/officeDocument/2006/relationships/slide" Target="/ppt/slides/slide19.xml" Id="Reb6a9aeecbd94003" /><Relationship Type="http://schemas.openxmlformats.org/officeDocument/2006/relationships/slide" Target="/ppt/slides/slide20.xml" Id="R5b9d7600e3734ab7" /><Relationship Type="http://schemas.openxmlformats.org/officeDocument/2006/relationships/slide" Target="/ppt/slides/slide21.xml" Id="Rcdc0a0f1622f46a6" /><Relationship Type="http://schemas.openxmlformats.org/officeDocument/2006/relationships/slide" Target="/ppt/slides/slide22.xml" Id="R4fa0ab2a5d0c492b" /><Relationship Type="http://schemas.openxmlformats.org/officeDocument/2006/relationships/slide" Target="/ppt/slides/slide23.xml" Id="Rf2bae8b38ed143ff" /><Relationship Type="http://schemas.openxmlformats.org/officeDocument/2006/relationships/slide" Target="/ppt/slides/slide24.xml" Id="Rdb6bb02bf92245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3520fa8b204b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a82cc0dc634821" /><Relationship Type="http://schemas.openxmlformats.org/officeDocument/2006/relationships/notesMaster" Target="/ppt/notesMasters/notesMaster1.xml" Id="Rd79fa591596047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04bbccf6ee4667" /><Relationship Type="http://schemas.openxmlformats.org/officeDocument/2006/relationships/notesMaster" Target="/ppt/notesMasters/notesMaster1.xml" Id="R76c02c210dde49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f7957c82754c55" /><Relationship Type="http://schemas.openxmlformats.org/officeDocument/2006/relationships/notesMaster" Target="/ppt/notesMasters/notesMaster1.xml" Id="Rfccf07042bf54b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ef8877318994d21" /><Relationship Type="http://schemas.openxmlformats.org/officeDocument/2006/relationships/notesMaster" Target="/ppt/notesMasters/notesMaster1.xml" Id="Rf45ed69d5f434c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b915c742ab24a19" /><Relationship Type="http://schemas.openxmlformats.org/officeDocument/2006/relationships/notesMaster" Target="/ppt/notesMasters/notesMaster1.xml" Id="R860353472aea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9a76ebb391411e" /><Relationship Type="http://schemas.openxmlformats.org/officeDocument/2006/relationships/notesMaster" Target="/ppt/notesMasters/notesMaster1.xml" Id="Rdee1dd3a5acd4d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ae95c631e54fa0" /><Relationship Type="http://schemas.openxmlformats.org/officeDocument/2006/relationships/notesMaster" Target="/ppt/notesMasters/notesMaster1.xml" Id="Rc05b86ac47ed42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1fe5d6a32754805" /><Relationship Type="http://schemas.openxmlformats.org/officeDocument/2006/relationships/notesMaster" Target="/ppt/notesMasters/notesMaster1.xml" Id="R9210596677e14c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51e8f5496340e8" /><Relationship Type="http://schemas.openxmlformats.org/officeDocument/2006/relationships/notesMaster" Target="/ppt/notesMasters/notesMaster1.xml" Id="Rda8dbffe0bb94e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64d8c505234861" /><Relationship Type="http://schemas.openxmlformats.org/officeDocument/2006/relationships/notesMaster" Target="/ppt/notesMasters/notesMaster1.xml" Id="Rd262b3483b5640a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bf2d499e95345ad" /><Relationship Type="http://schemas.openxmlformats.org/officeDocument/2006/relationships/notesMaster" Target="/ppt/notesMasters/notesMaster1.xml" Id="Refe21b77d8ef4f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fbd25f9b9e45a3" /><Relationship Type="http://schemas.openxmlformats.org/officeDocument/2006/relationships/notesMaster" Target="/ppt/notesMasters/notesMaster1.xml" Id="Rebe81e38124446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b06ce889014072" /><Relationship Type="http://schemas.openxmlformats.org/officeDocument/2006/relationships/notesMaster" Target="/ppt/notesMasters/notesMaster1.xml" Id="Rcaf1dabe6a104c8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a265286a33e4d89" /><Relationship Type="http://schemas.openxmlformats.org/officeDocument/2006/relationships/notesMaster" Target="/ppt/notesMasters/notesMaster1.xml" Id="R74d58d46b80344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1b8178679cf4a47" /><Relationship Type="http://schemas.openxmlformats.org/officeDocument/2006/relationships/notesMaster" Target="/ppt/notesMasters/notesMaster1.xml" Id="Rb09f4d99959147a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86f30b49f943b2" /><Relationship Type="http://schemas.openxmlformats.org/officeDocument/2006/relationships/notesMaster" Target="/ppt/notesMasters/notesMaster1.xml" Id="R23bc9a229f95450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f68606096649b3" /><Relationship Type="http://schemas.openxmlformats.org/officeDocument/2006/relationships/notesMaster" Target="/ppt/notesMasters/notesMaster1.xml" Id="Rb89a535092f446a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f779046054a458b" /><Relationship Type="http://schemas.openxmlformats.org/officeDocument/2006/relationships/notesMaster" Target="/ppt/notesMasters/notesMaster1.xml" Id="R8dbf490bc1b9424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04b5aba795d4c63" /><Relationship Type="http://schemas.openxmlformats.org/officeDocument/2006/relationships/notesMaster" Target="/ppt/notesMasters/notesMaster1.xml" Id="R537fcb33001b4ca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2634eca09694196" /><Relationship Type="http://schemas.openxmlformats.org/officeDocument/2006/relationships/notesMaster" Target="/ppt/notesMasters/notesMaster1.xml" Id="Rb524c5acba98452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85f5c0a15f42ed" /><Relationship Type="http://schemas.openxmlformats.org/officeDocument/2006/relationships/notesMaster" Target="/ppt/notesMasters/notesMaster1.xml" Id="Rfeb865b4ae54440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5193bd7f2b4209" /><Relationship Type="http://schemas.openxmlformats.org/officeDocument/2006/relationships/notesMaster" Target="/ppt/notesMasters/notesMaster1.xml" Id="R1dff96d81ecc40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abe10620c26480f" /><Relationship Type="http://schemas.openxmlformats.org/officeDocument/2006/relationships/notesMaster" Target="/ppt/notesMasters/notesMaster1.xml" Id="Rdd053168c04540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ad7b87007f2457b" /><Relationship Type="http://schemas.openxmlformats.org/officeDocument/2006/relationships/notesMaster" Target="/ppt/notesMasters/notesMaster1.xml" Id="Ra350706294eb44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们的课设题目是智能科研助理。系统面向论文知识库，组合检索增强生成与工具调用，支持论文导入、证据问答、跨论文比较和执行记录回放。接下来围绕实现方法、实际实验结果和仍需改进的地方进行汇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artifacts/course-report/main.tex；用户提供的成员姓名、班级、学号与贡献比例。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汇报约10–12分钟。主体18页，备答6页。</a:t>
            </a:r>
          </a:p>
          <a:p xmlns:a="http://schemas.openxmlformats.org/drawingml/2006/main">
            <a:br/>
            <a:br/>
            <a:r>
              <a:t>报告图件：artifacts/course-report/figures/fig19_rank_matrix.pdf、fig19_rank_matrix.png。选用封面背景缩览。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figure），修改图内数据请更新报告源图后替换。完整60题图谱保存在报告中，备答展示综合与推理题两个面板。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希望解决的是论文阅读过程中反复定位证据和核查回答的问题。这里的问题只是应用场景示例。系统需要先找到相关论文证据，再根据证据回答，最后允许使用者回到原始物理页核对。计算和论文比较等操作则由专门工具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README.md 项目能力；src/frontend；src/agent；artifacts/course-report/main.tex 项目概述。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系统面向通用论文知识库，视觉Transformer用于本次可控评测，不表示课程强制限定领域。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库是工作流起点。文档导入后异步解析，界面显示状态并允许失败重试。用户可以维护元信息、下载原件和查看片段。这里展示真实历史界面，截图中的359片段只代表当时快照，后面会区分当前生产索引和正式评测索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artifacts/course-report/figures/original-ui/新版论文库.jpg；src/frontend/sections_library.py。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当前生产索引342片段，正式历史检索评测359片段，独立本地验收29片段，三者分别记录。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分成交互、服务、控制逻辑与知识处理。Streamlit通过FastAPI调用系统，SSE返回流式结果。核心是手写路由和Agent控制器，以及来源传播和混合检索链路。图中用模块位置概括职责，横向连接表示主要数据或调用联系，完整实现细节可以在代码和报告中核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src/frontend；src/api；src/services/application.py；src/agent/react_loop.py；src/retrieval；artifacts/course-report/figures/fig01_architecture.pdf。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本地模型标签research-qwen:7b。Embedding为BGE-M3，重排模型为bge-reranker-base，图中未展开所有内部依赖。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种解析器均在同一组10篇PDF上运行。PyPDF2累计耗时较短，但119个锚点中恢复114个。我们保留多方案对照，不把字符数量或速度当作全部解析质量。切分支持固定、递归和句段边界。超长编码使用原始token-ID分窗，避免decode后重新编码造成长度膨胀，同时保留完整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artifacts/course-report/data/report-data.json tables.parsers / parser_records / chunking；src/retrieval/token_windows.py。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分块大小采用项目定义的轻量文本计数单位，不直接等同模型供应商token。句段边界切分不称为向量聚类语义分块。</a:t>
            </a:r>
          </a:p>
          <a:p xmlns:a="http://schemas.openxmlformats.org/drawingml/2006/main">
            <a:br/>
            <a:br/>
            <a:r>
              <a:t>报告图件：artifacts/course-report/figures/fig03_parsers.pdf、fig03_parsers.png。选用A、B两个完整面板。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nse和BM25分别利用语义和关键词信息，手写RRF根据名次融合，不直接相加不同尺度的分数。重排模型再联合判断问题与候选片段。生成阶段约束回答使用给定来源，服务端将来源编号映射到原文位置，并检查未知引用与不受支持的数字。这些检查提高可核查性，但不能证明每个论断语义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src/retrieval/hybrid.py；src/retrieval/reranker.py；src/generation/rag_pipeline.py；artifacts/course-report/main.tex 检索与引用设计。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公式对参与融合的各检索列表求和。不同检索模式可在界面中选择。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并非对所有问题都多轮规划。计算、时间、元信息和已明确范围的任务可以快捷路由，复杂任务才进入动作与观察循环。八种工具均有参数结构和校验，执行受最大步数、超时和重试次数约束。实际五类路由探针均匹配，但小样本路由正确不等于开放任务总体准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src/agent/registry.py；src/agent/router.py；src/agent/react_loop.py；src/agent/tools/local.py；report-data.json tables.agent。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示例仅说明工具用途，不将课程背景中的80% Token节省写成本项目结果。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展示两类真实界面。问答侧保存回答、引用和执行过程，证据侧可以选择文档、查看物理页并预览原始PDF。来源存在与论断被充分支持是两件事，我们把原页回查作为必要的人机协同环节。现场演示时，可选一条现有回答，打开来源，再回到运行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artifacts/course-report/figures/original-ui/新版科研问答.jpg；artifacts/course-report/figures/original-ui/新版原文证据.jpg；src/frontend/sections_chat.py。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截图保留实际页面内容，物理页与印刷页码可能不同。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语料固定为10篇视觉Transformer论文，共169个物理页。80道题按事实、比较、综合和推理划分，20道开发题用于配置选择，60道测试题用于冻结结果。后面的正式检索表基于359片段历史索引，而当前生产索引是342片段，不能把它们混为同一次完整复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tables.dataset / corpus / experimental_scopes；reports/datasets/dataset_manifest.json。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主题用于可控实验。尚未完成跨专题泛化评价与最新版统一60题端到端复测。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同一60道测试题和359片段索引下，重排模式Hit@5达到61.67%，比向量检索提高20个百分点，MRR和Recall@5也提高。但平均CPU排序时间约16.71秒，向量和混合分别约3.20和8.27毫秒。我们因此保留可选择的模式，而不声称重排在所有交互场景都更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tables.retrieval_test / retrieval_records；reports/experiments/retrieval。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MRR为保存候选深度下的倒数排名均值，不标为MRR@5。耗时不含共享查询编码和生成，不能与本地34.15秒总时延直接相减。</a:t>
            </a:r>
          </a:p>
          <a:p xmlns:a="http://schemas.openxmlformats.org/drawingml/2006/main">
            <a:br/>
            <a:br/>
            <a:r>
              <a:t>报告图件：artifacts/course-report/figures/fig07_retrieval.pdf、fig07_retrieval.png。选用质量与实际排序耗时分布两个面板。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为了避免只看总体均值，我们将同一道题在不同方法下的结果配对，再对题号进行一万次重采样。重排相对向量的Hit@5平均增益为20个百分点，对应95%区间约10到31.67个百分点。混合相对向量的区间包含零，说明这个小幅均值变化受题目构成影响。这里描述不确定性，不据此作多重显著性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artifacts/course-report/data/advanced-statistics.json paired_bootstrap；build_advanced_figures.py derive_statistics。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左图与右表均明确使用百分点。60题全部同题配对。</a:t>
            </a:r>
          </a:p>
          <a:p xmlns:a="http://schemas.openxmlformats.org/drawingml/2006/main">
            <a:br/>
            <a:br/>
            <a:r>
              <a:t>报告图件：artifacts/course-report/figures/fig18_paired_effects.pdf、fig18_paired_effects.png。选用Hit@5、MRR、Recall@5三个面板。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figure），修改图内数据请更新报告源图后替换。保留原量纲，0.20对应20个百分点，不能直接把横轴0.20写作0.20个百分点。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60条基线回答接受同一套1到5分AI辅助评审。流畅性均分4.58，而完整性和引用支撑约为2.98和3.03，差距说明语言通顺不能替代事实和证据。逐题统计中，有13条回答虽然流畅性至少4分，正确性却不超过2分。评分没有独立人工复核，因此我们将其作为探索性质量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tables.baseline_ai_quality / baseline_ai_scores；advanced-statistics.json ai_quality。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使用有序量表的均值作描述性汇总，不推断独立人工一致性或评分因果关系。</a:t>
            </a:r>
          </a:p>
          <a:p xmlns:a="http://schemas.openxmlformats.org/drawingml/2006/main">
            <a:br/>
            <a:br/>
            <a:r>
              <a:t>报告图件：artifacts/course-report/figures/fig11_ai_quality.pdf、fig11_ai_quality.png。选用A评分档位分布，等级图例用PPT文字补充。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  <a:p xmlns:a="http://schemas.openxmlformats.org/drawingml/2006/main">
            <a:br/>
            <a:br/>
            <a:r>
              <a:t>报告图件：artifacts/course-report/figures/fig20_quality_association.pdf、fig20_quality_association.png。选用C流畅性与正确性的离散计数气泡。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figure），修改图内数据请更新报告源图后替换。气泡面积表示题目数，不以连续密度替代离散有序评分。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提示词实验保持冻结检索上下文相同，每个条件只有四道题。引用支撑均分从2.50提高到3.50，但四题变化分别为加4、加1、不变和减1，正确性均值都为4.25。因此我们认为约束改善了部分引用行为，而不能宣布总体回答能力稳定提高。参数温度为零的条件仍出现事实错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tables.prompt_ai_quality / quality_conditions；advanced-statistics.json prompt_pairs。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参数比较只覆盖四题单次、未固定采样种子，不能宣称稳定最优。</a:t>
            </a:r>
          </a:p>
          <a:p xmlns:a="http://schemas.openxmlformats.org/drawingml/2006/main">
            <a:br/>
            <a:br/>
            <a:r>
              <a:t>报告图件：artifacts/course-report/figures/fig21_prompt_pairs.pdf、fig21_prompt_pairs.png。选用四维逐题配对与共用图例。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个扩展设计是条件约束的论文比较。论文中的准确率经常对应不同数据集、任务或训练条件，直接并列数字容易误导。我们使用结构化输出并逐列检查来源与数值，条件不足时给出比较边界。输出结构可用并不等于语义已经正确，仍需要来源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src/agent/tools/local.py compare_papers；artifacts/course-report/figures/original-ui/新版论文对比.jpg；report-data.json tables.bad_cases BC-GENERATION-01。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历史线上前后样例的关注点存在变化，仅作诊断证据，不作为受控因果性能比较。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一个具体Bad Case来自Swin回答。模型把来源S1写为第4页，但服务器保存的S1来自物理页2。我们将页码映射从模型自由生成改为服务器根据原文元数据维护，合并来源也逐一展开检查。回归测试证明已知错误能够校正，但论断是否被来源充分支持仍是语义问题，需要人工或更严格的评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tables.bad_cases BC-CITATION-01；reports/testing/ui-final-critical-20261010.xml；src/generation。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之前展示的原文截图只是功能例，不冒充本案例的受控修复前后截图。</a:t>
            </a:r>
          </a:p>
          <a:p xmlns:a="http://schemas.openxmlformats.org/drawingml/2006/main">
            <a:br/>
            <a:br/>
            <a:r>
              <a:t>报告图件：artifacts/course-report/figures/fig17_badcase.pdf、fig17_badcase.png。选用A错误标签频数。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figure），修改图内数据请更新报告源图后替换。多标签统计与右侧个案承担不同证据作用，不构造同题优化效果量。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部分是2026年10月15日真实本地验收，使用独立CvT论文工作区和真实本地模型，demo为false。33类独立检查全部通过，覆盖上传、索引、SSE生成、原件哈希、物理页预览和记录保存。该次问答端到端34.15秒，输入3537、输出395个Token。仍有五条质量核查提示，因此流程通过不代表答案语义全部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local_runtime；reports/deployment/local-20261015/runtime-record.json；artifacts/course-report/figures/ui05_local.jpg。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120是含轮询的通过日志条数，不作为120项独立功能。按用户要求采用本地验收，Docker与重启验收未执行。</a:t>
            </a:r>
          </a:p>
          <a:p xmlns:a="http://schemas.openxmlformats.org/drawingml/2006/main">
            <a:br/>
            <a:br/>
            <a:r>
              <a:t>报告图件：artifacts/course-report/figures/fig16_local_run.pdf、fig16_local_run.png。选用A重叠计时范围。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figure），修改图内数据请更新报告源图后替换。33为独立检查项，120只是含轮询的通过日志条数。未实施Docker或重启验收。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二个扩展设计是版本感知的结果保存。仅保存一个分数不足以复现，我们还保留语料、索引、模型和配置指纹，以及运行耗时与工具轨迹。当前交付包含代码、报告、图表和实际验收记录。最近GitHub云端回归185项通过、4项跳过。独立人工复核、最新索引的统一端到端复测和跨专题评测仍需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production_index / source_hashes；artifacts/course-report/data/document-checks.json；https://github.com/JueBeiYi/-RAG-Agent-/actions/runs/39044437479；README.md。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报告总计26图含21学术图与5界面图。CI测试通过不替代真实模型质量评价，未宣称所有课程验收证据均齐备。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的主要成果是把论文导入、混合检索、证据生成、工具协作和原文回查接成可运行的系统，并保留实验和运行证据。实测结果说明重排能够改善前五条证据覆盖，也显示CPU时延、完整性和引用支撑仍有限制。下一步优先开展独立人工复核和统一新版复测。以上是我们的汇报，请各位老师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artifacts/course-report/main.tex 总结与展望；report-data.json；当前项目README。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发集上固定1024的Hit@5为0.50，而不同方案的其他指标并不一致。保持相同342个递归片段时，m3e的Hit@5较高，BGE-large-zh的MRR略高。这些都是20题开发集的小样本结果，不能宣称某模型通用领先。当前生产使用BGE-M3，其配置选择不等于本表中的公平对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tables.chunking / embeddings；reports/experiments/retrieval。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切分大小是项目文本计数单位，标为512不代表provider token精确等长。</a:t>
            </a:r>
          </a:p>
          <a:p xmlns:a="http://schemas.openxmlformats.org/drawingml/2006/main">
            <a:br/>
            <a:br/>
            <a:r>
              <a:t>报告图件：artifacts/course-report/figures/fig04_chunking.pdf、fig04_chunking.png。选用五种切分变体的质量与索引规模四面板。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数实验包含温度、top-p和生成采样top-k的变化。表中质量是四题的AI辅助均分，而不是准确率。基线与采样top-k为20的均值相同，但逐题错误构成不同。由于单次、小样本且没有固定采样种子，不能依据这些均分宣布稳定最优配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tables.quality_conditions / quality_records；reports/experiments/generation/quality-comparison。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生成参数top-k和检索返回Top-K具有不同含义。</a:t>
            </a:r>
          </a:p>
          <a:p xmlns:a="http://schemas.openxmlformats.org/drawingml/2006/main">
            <a:br/>
            <a:br/>
            <a:r>
              <a:t>报告图件：artifacts/course-report/figures/fig12_gen_parameters.pdf、fig12_gen_parameters.png。选用五种单因素配置的四维评分热图。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figure），修改图内数据请更新报告源图后替换。底部成本顺序与图中五个参数条件的行顺序一致。采样Top-k不等于检索Top-K。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按题型看三种检索模式。事实、比较和综合任务在重排后均有覆盖改善，推理题的Hit@5仍约45.5%。四类题目的样本数分别是22、16、11和11，题目难度也不相同。因此我们用这些结果定位错误分布，不直接比较所谓题型固有难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artifacts/course-report/figures/fig09_retrieval_categories.pdf；report-data.json tables.retrieval_category。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固定359片段历史索引，60道测试题。</a:t>
            </a:r>
          </a:p>
          <a:p xmlns:a="http://schemas.openxmlformats.org/drawingml/2006/main">
            <a:br/>
            <a:br/>
            <a:r>
              <a:t>报告图件：artifacts/course-report/figures/fig09_retrieval_categories.pdf、fig09_retrieval_categories.png。选用完整题型热图及样本量。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保留综合与推理两组全部测试题，并没有挑选少量成功个案。数字表示保存候选Top20内首个相关项的名次，灰格和短横线表示未找到。即使某些问题没有达到Top5命中，也可能在后续候选中出现相关项。逐题图帮助我们定位持续失败和重排后证据救回的具体问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artifacts/course-report/figures/fig19_rank_matrix.pdf；advanced-statistics.json rank_matrix。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这里只展示综合与推理共22题，完整60题图谱保存在报告中。</a:t>
            </a:r>
          </a:p>
          <a:p xmlns:a="http://schemas.openxmlformats.org/drawingml/2006/main">
            <a:br/>
            <a:br/>
            <a:r>
              <a:t>报告图件：artifacts/course-report/figures/fig19_rank_matrix.pdf、fig19_rank_matrix.png。选用C综合和D推理两个完整面板及共用图例。</a:t>
            </a:r>
            <a:br/>
            <a:r>
              <a:t>原图数据与标注保持不变，通过幻灯片原生裁剪去除重复总标题或通用脚注，来源文件未修改。此为嵌入的报告原图（non-editable source figure），修改图内数据请更新报告源图后替换。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本地标准运行采用Ollama中的research-qwen:7b，对应Qwen2.5-7B-Instruct的Q4_K_M量化版本。Embedding和重排在CPU执行，生成使用本机已准备环境。成员姓名、学号和贡献比例按提供信息填写，具体职责细分还需成员确认。若老师追问工具效率：十个配对本地工具探针单线程24.125毫秒、双线程21.161毫秒，排除LLM和检索；缓存仅有一个完全重复查询探针，不推断总体命中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report-data.json local_runtime / environment_snapshot / tables.parallel / tables.cache；artifacts/course-report/main.tex 团队及运行环境；docs/模型与API配置.md。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现有硬件为Windows11，RTX4060 Laptop用于本地模型环境，不将编码或重排的CPU实测值解释为GPU实测性能。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五个常见问题是我们自行实现了什么。项目代码负责来源位置传播、手写RRF、原token-ID分窗、工具注册和参数校验、有界路由、引用规则、缓存指纹与准入以及条件约束比较。PDF解析器、BM25、向量库和基础模型由成熟依赖提供。另一问是Docker：本次按用户要求采用127.0.0.1本地实际验收，不将配置文件存在写成容器已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数据与图像来源：</a:t>
            </a:r>
          </a:p>
          <a:p xmlns:a="http://schemas.openxmlformats.org/drawingml/2006/main">
            <a:r>
              <a:t>src/agent；src/retrieval；src/generation；artifacts/course-report/main.tex；report-data.json。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解释范围：</a:t>
            </a:r>
          </a:p>
          <a:p xmlns:a="http://schemas.openxmlformats.org/drawingml/2006/main">
            <a:r>
              <a:t>五类路由探针仅为功能样本，AI均分不是独立人工盲评，单专题不证明跨领域泛化。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1a450e66e64e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723f078d444f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3f58c0c8074d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6a26b398b41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4108cc53f4a7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ed01d04f80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A146E-7DFA-4AA0-82C8-E6CDA14E61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12972D9-B067-423C-8931-A415603101F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A90841-6096-4CE8-9C58-692BE0A784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4AAD56-68EC-4468-ACC6-58E11CCF29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9C7C946-2A02-4B15-8251-13F4BDEAFA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D99C623-9DD9-4047-857C-A3A2EA994A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3524CE-C44F-4FA6-B060-AE717DF094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3A90B4F-12B9-4A23-8119-807AEB23DA1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C95213F-EE84-4D5B-BE57-07F7D9C97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57B2A90-49CE-46A6-8F22-DCDDA0C6A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8d47a287ba4451a" /><Relationship Type="http://schemas.openxmlformats.org/officeDocument/2006/relationships/slideLayout" Target="/ppt/slideLayouts/slideLayout1.xml" Id="Re5b163d9934f477d" /><Relationship Type="http://schemas.openxmlformats.org/officeDocument/2006/relationships/slideLayout" Target="/ppt/slideLayouts/slideLayout2.xml" Id="Rdfbced4dfcd7443d" /><Relationship Type="http://schemas.openxmlformats.org/officeDocument/2006/relationships/slideLayout" Target="/ppt/slideLayouts/slideLayout3.xml" Id="R170a72afdd2e4df3" /><Relationship Type="http://schemas.openxmlformats.org/officeDocument/2006/relationships/slideLayout" Target="/ppt/slideLayouts/slideLayout4.xml" Id="R933b022310db4fd0" /><Relationship Type="http://schemas.openxmlformats.org/officeDocument/2006/relationships/slideLayout" Target="/ppt/slideLayouts/slideLayout5.xml" Id="R1ac16d0b62084120" /><Relationship Type="http://schemas.openxmlformats.org/officeDocument/2006/relationships/slideLayout" Target="/ppt/slideLayouts/slideLayout6.xml" Id="R3c6369cfe0c343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163d9934f477d"/>
    <p:sldLayoutId xmlns:r="http://schemas.openxmlformats.org/officeDocument/2006/relationships" id="2147483650" r:id="Rdfbced4dfcd7443d"/>
    <p:sldLayoutId xmlns:r="http://schemas.openxmlformats.org/officeDocument/2006/relationships" id="2147483651" r:id="R170a72afdd2e4df3"/>
    <p:sldLayoutId xmlns:r="http://schemas.openxmlformats.org/officeDocument/2006/relationships" id="2147483652" r:id="R933b022310db4fd0"/>
    <p:sldLayoutId xmlns:r="http://schemas.openxmlformats.org/officeDocument/2006/relationships" id="2147483653" r:id="R1ac16d0b62084120"/>
    <p:sldLayoutId xmlns:r="http://schemas.openxmlformats.org/officeDocument/2006/relationships" id="2147483654" r:id="R3c6369cfe0c343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ebfdb2091141a7" /><Relationship Type="http://schemas.openxmlformats.org/officeDocument/2006/relationships/image" Target="/ppt/media/image.png" Id="R1b5610743a9540bb" /><Relationship Type="http://schemas.openxmlformats.org/officeDocument/2006/relationships/notesSlide" Target="/ppt/notesSlides/notesSlide1.xml" Id="Rf1009283d6e247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0547aff3bb4375" /><Relationship Type="http://schemas.openxmlformats.org/officeDocument/2006/relationships/notesSlide" Target="/ppt/notesSlides/notesSlide2.xml" Id="R659caa6349d1466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3955816f224186" /><Relationship Type="http://schemas.openxmlformats.org/officeDocument/2006/relationships/image" Target="/ppt/media/image.jpeg" Id="Rb34cbe4a37be4ff3" /><Relationship Type="http://schemas.openxmlformats.org/officeDocument/2006/relationships/notesSlide" Target="/ppt/notesSlides/notesSlide3.xml" Id="Rb4ba941fc1b141b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1f1f32d151453b" /><Relationship Type="http://schemas.openxmlformats.org/officeDocument/2006/relationships/notesSlide" Target="/ppt/notesSlides/notesSlide4.xml" Id="Re46bea12f04e447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9ea7f1d8fb4fbe" /><Relationship Type="http://schemas.openxmlformats.org/officeDocument/2006/relationships/image" Target="/ppt/media/image2.png" Id="R56b626ad893b49fd" /><Relationship Type="http://schemas.openxmlformats.org/officeDocument/2006/relationships/notesSlide" Target="/ppt/notesSlides/notesSlide5.xml" Id="R6aa91858808a47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551ba71c404669" /><Relationship Type="http://schemas.openxmlformats.org/officeDocument/2006/relationships/notesSlide" Target="/ppt/notesSlides/notesSlide6.xml" Id="R50cb06f4631f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390daa308a4602" /><Relationship Type="http://schemas.openxmlformats.org/officeDocument/2006/relationships/notesSlide" Target="/ppt/notesSlides/notesSlide7.xml" Id="Rc76bbefef45c40f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70f8fa8d594c8a" /><Relationship Type="http://schemas.openxmlformats.org/officeDocument/2006/relationships/image" Target="/ppt/media/image2.jpeg" Id="R5e3b45562ec945de" /><Relationship Type="http://schemas.openxmlformats.org/officeDocument/2006/relationships/image" Target="/ppt/media/image3.jpeg" Id="R9c5d22241d204459" /><Relationship Type="http://schemas.openxmlformats.org/officeDocument/2006/relationships/notesSlide" Target="/ppt/notesSlides/notesSlide8.xml" Id="R8ed0ce52944747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e0f24a7da84a84" /><Relationship Type="http://schemas.openxmlformats.org/officeDocument/2006/relationships/chart" Target="/ppt/slides/charts/chart1.xml" Id="R665cd78b50d04dd7" /><Relationship Type="http://schemas.openxmlformats.org/officeDocument/2006/relationships/notesSlide" Target="/ppt/notesSlides/notesSlide9.xml" Id="Rc6de5ae1712e464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5952d6c57a49d4" /><Relationship Type="http://schemas.openxmlformats.org/officeDocument/2006/relationships/image" Target="/ppt/media/image3.png" Id="R7775c4fae64e4339" /><Relationship Type="http://schemas.openxmlformats.org/officeDocument/2006/relationships/notesSlide" Target="/ppt/notesSlides/notesSlide10.xml" Id="Rfb07c54c72d94c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a5b00638234152" /><Relationship Type="http://schemas.openxmlformats.org/officeDocument/2006/relationships/image" Target="/ppt/media/image4.png" Id="R043bf896826c4a3d" /><Relationship Type="http://schemas.openxmlformats.org/officeDocument/2006/relationships/notesSlide" Target="/ppt/notesSlides/notesSlide11.xml" Id="R6b671671dd4040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99c65f8ec4919" /><Relationship Type="http://schemas.openxmlformats.org/officeDocument/2006/relationships/image" Target="/ppt/media/image5.png" Id="Rc3ba1f70da4b440f" /><Relationship Type="http://schemas.openxmlformats.org/officeDocument/2006/relationships/image" Target="/ppt/media/image6.png" Id="R478384f80f9c400c" /><Relationship Type="http://schemas.openxmlformats.org/officeDocument/2006/relationships/notesSlide" Target="/ppt/notesSlides/notesSlide12.xml" Id="R5e97182bc62a47a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c4a7c01e7b4e47" /><Relationship Type="http://schemas.openxmlformats.org/officeDocument/2006/relationships/image" Target="/ppt/media/image7.png" Id="R18c2137682d2462a" /><Relationship Type="http://schemas.openxmlformats.org/officeDocument/2006/relationships/notesSlide" Target="/ppt/notesSlides/notesSlide13.xml" Id="Rc77283e93c7a45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ec1e5a94c04366" /><Relationship Type="http://schemas.openxmlformats.org/officeDocument/2006/relationships/image" Target="/ppt/media/image4.jpeg" Id="R9086926df49e4cb1" /><Relationship Type="http://schemas.openxmlformats.org/officeDocument/2006/relationships/notesSlide" Target="/ppt/notesSlides/notesSlide14.xml" Id="Rd04666769edf4ec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97441c20a4eec" /><Relationship Type="http://schemas.openxmlformats.org/officeDocument/2006/relationships/image" Target="/ppt/media/image8.png" Id="R2b18e29119db48cf" /><Relationship Type="http://schemas.openxmlformats.org/officeDocument/2006/relationships/notesSlide" Target="/ppt/notesSlides/notesSlide15.xml" Id="R11925ed1e5d54a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be54a5ee514a9b" /><Relationship Type="http://schemas.openxmlformats.org/officeDocument/2006/relationships/image" Target="/ppt/media/image9.png" Id="R5f5d02478ee645bc" /><Relationship Type="http://schemas.openxmlformats.org/officeDocument/2006/relationships/notesSlide" Target="/ppt/notesSlides/notesSlide16.xml" Id="Rd705c987fb514a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b9c3d6fec7470b" /><Relationship Type="http://schemas.openxmlformats.org/officeDocument/2006/relationships/notesSlide" Target="/ppt/notesSlides/notesSlide17.xml" Id="R6eac7b37742f4fc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8a0634c7c7490d" /><Relationship Type="http://schemas.openxmlformats.org/officeDocument/2006/relationships/notesSlide" Target="/ppt/notesSlides/notesSlide18.xml" Id="R8a05f52e67834fb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7d61f030234780" /><Relationship Type="http://schemas.openxmlformats.org/officeDocument/2006/relationships/image" Target="/ppt/media/image10.png" Id="R4b52ed7acaae4cbb" /><Relationship Type="http://schemas.openxmlformats.org/officeDocument/2006/relationships/notesSlide" Target="/ppt/notesSlides/notesSlide19.xml" Id="Raad983d77edb4a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c31ba168da4266" /><Relationship Type="http://schemas.openxmlformats.org/officeDocument/2006/relationships/image" Target="/ppt/media/image11.png" Id="R9abc650ca6ed4cfd" /><Relationship Type="http://schemas.openxmlformats.org/officeDocument/2006/relationships/notesSlide" Target="/ppt/notesSlides/notesSlide20.xml" Id="Rb6bb656dc11142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077c0295014952" /><Relationship Type="http://schemas.openxmlformats.org/officeDocument/2006/relationships/image" Target="/ppt/media/image12.png" Id="R2e7f3d123e1a49ef" /><Relationship Type="http://schemas.openxmlformats.org/officeDocument/2006/relationships/notesSlide" Target="/ppt/notesSlides/notesSlide21.xml" Id="R5538bcf43c5d4f3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ae2b01fc64a10" /><Relationship Type="http://schemas.openxmlformats.org/officeDocument/2006/relationships/image" Target="/ppt/media/image13.png" Id="R44a1d421208a4bc8" /><Relationship Type="http://schemas.openxmlformats.org/officeDocument/2006/relationships/notesSlide" Target="/ppt/notesSlides/notesSlide22.xml" Id="Rc2abc5cfa1f1454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c6b53a5fc5410d" /><Relationship Type="http://schemas.openxmlformats.org/officeDocument/2006/relationships/notesSlide" Target="/ppt/notesSlides/notesSlide23.xml" Id="R9ba267bb5849414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79feb574924068" /><Relationship Type="http://schemas.openxmlformats.org/officeDocument/2006/relationships/notesSlide" Target="/ppt/notesSlides/notesSlide24.xml" Id="R95d20447acfa4d4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开发集</c:v>
          </c:tx>
          <c:spPr>
            <a:solidFill xmlns:a="http://schemas.openxmlformats.org/drawingml/2006/main">
              <a:srgbClr val="C7923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事实</c:v>
                </c:pt>
                <c:pt idx="1">
                  <c:v>比较</c:v>
                </c:pt>
                <c:pt idx="2">
                  <c:v>综合</c:v>
                </c:pt>
                <c:pt idx="3">
                  <c:v>推理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8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</c:ser>
        <c:ser>
          <c:idx val="1"/>
          <c:order val="1"/>
          <c:tx>
            <c:v>测试集</c:v>
          </c:tx>
          <c:spPr>
            <a:solidFill xmlns:a="http://schemas.openxmlformats.org/drawingml/2006/main">
              <a:srgbClr val="168980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事实</c:v>
                </c:pt>
                <c:pt idx="1">
                  <c:v>比较</c:v>
                </c:pt>
                <c:pt idx="2">
                  <c:v>综合</c:v>
                </c:pt>
                <c:pt idx="3">
                  <c:v>推理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22</c:v>
                </c:pt>
                <c:pt idx="1">
                  <c:v>16</c:v>
                </c:pt>
                <c:pt idx="2">
                  <c:v>11</c:v>
                </c:pt>
                <c:pt idx="3">
                  <c:v>11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5715">
            <a:solidFill>
              <a:srgbClr val="DEE7ED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E7ED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1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273F50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9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fined-3">
            <a:extLst xmlns:a="http://schemas.openxmlformats.org/drawingml/2006/main">
              <a:ext uri="{FF2B5EF4-FFF2-40B4-BE49-F238E27FC236}">
                <a16:creationId xmlns:a16="http://schemas.microsoft.com/office/drawing/2014/main" id="{8FE4C53B-C75F-4874-876A-8E013153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647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南京农业大学</a:t>
            </a:r>
          </a:p>
        </p:txBody>
      </p:sp>
      <p:sp>
        <p:nvSpPr>
          <p:cNvPr id="2" name="refined-4">
            <a:extLst xmlns:a="http://schemas.openxmlformats.org/drawingml/2006/main">
              <a:ext uri="{FF2B5EF4-FFF2-40B4-BE49-F238E27FC236}">
                <a16:creationId xmlns:a16="http://schemas.microsoft.com/office/drawing/2014/main" id="{CB020D23-114D-4219-A4EA-2EBDD0EF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14425"/>
            <a:ext cx="647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智慧农业学院（人工智能学院）</a:t>
            </a:r>
          </a:p>
        </p:txBody>
      </p:sp>
      <p:sp>
        <p:nvSpPr>
          <p:cNvPr id="3" name="refined-5">
            <a:extLst xmlns:a="http://schemas.openxmlformats.org/drawingml/2006/main">
              <a:ext uri="{FF2B5EF4-FFF2-40B4-BE49-F238E27FC236}">
                <a16:creationId xmlns:a16="http://schemas.microsoft.com/office/drawing/2014/main" id="{3321A268-C694-493A-B3A1-16F2904DF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69056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智能科研助理</a:t>
            </a:r>
          </a:p>
        </p:txBody>
      </p:sp>
      <p:sp>
        <p:nvSpPr>
          <p:cNvPr id="4" name="refined-6">
            <a:extLst xmlns:a="http://schemas.openxmlformats.org/drawingml/2006/main">
              <a:ext uri="{FF2B5EF4-FFF2-40B4-BE49-F238E27FC236}">
                <a16:creationId xmlns:a16="http://schemas.microsoft.com/office/drawing/2014/main" id="{AFD7E130-5D61-4BB4-AB6D-95C29CF25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95650"/>
            <a:ext cx="647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基于 RAG + Agent 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论文知识库问答系统</a:t>
            </a:r>
          </a:p>
        </p:txBody>
      </p:sp>
      <p:sp>
        <p:nvSpPr>
          <p:cNvPr id="5" name="refined-7">
            <a:extLst xmlns:a="http://schemas.openxmlformats.org/drawingml/2006/main">
              <a:ext uri="{FF2B5EF4-FFF2-40B4-BE49-F238E27FC236}">
                <a16:creationId xmlns:a16="http://schemas.microsoft.com/office/drawing/2014/main" id="{15C40278-31AA-466A-8DE4-8AF81F89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课程设计答辩</a:t>
            </a:r>
          </a:p>
        </p:txBody>
      </p:sp>
      <p:sp>
        <p:nvSpPr>
          <p:cNvPr id="6" name="refined-8">
            <a:extLst xmlns:a="http://schemas.openxmlformats.org/drawingml/2006/main">
              <a:ext uri="{FF2B5EF4-FFF2-40B4-BE49-F238E27FC236}">
                <a16:creationId xmlns:a16="http://schemas.microsoft.com/office/drawing/2014/main" id="{6CECCF4C-15DE-48DD-AD26-3F19142F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48350"/>
            <a:ext cx="6810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赵志国   林骋   林弟伟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D40C21-F5DF-435C-BC96-8CCB115614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610743a9540bb"/>
          <a:srcRect xmlns:a="http://schemas.openxmlformats.org/drawingml/2006/main" l="1800" t="14500" r="1800" b="6000"/>
          <a:stretch xmlns:a="http://schemas.openxmlformats.org/drawingml/2006/main"/>
        </p:blipFill>
        <p:spPr>
          <a:xfrm xmlns:a="http://schemas.openxmlformats.org/drawingml/2006/main">
            <a:off x="7639050" y="2370178"/>
            <a:ext cx="3981450" cy="2270044"/>
          </a:xfrm>
          <a:prstGeom xmlns:a="http://schemas.openxmlformats.org/drawingml/2006/main" prst="rect">
            <a:avLst/>
          </a:prstGeom>
        </p:spPr>
      </p:pic>
      <p:sp>
        <p:nvSpPr>
          <p:cNvPr id="8" name="refined-9">
            <a:extLst xmlns:a="http://schemas.openxmlformats.org/drawingml/2006/main">
              <a:ext uri="{FF2B5EF4-FFF2-40B4-BE49-F238E27FC236}">
                <a16:creationId xmlns:a16="http://schemas.microsoft.com/office/drawing/2014/main" id="{CC871D64-B484-467E-A6CF-F2D4E9F6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673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真实评测与逐题证据</a:t>
            </a:r>
          </a:p>
        </p:txBody>
      </p:sp>
      <p:sp>
        <p:nvSpPr>
          <p:cNvPr id="9" name="refined-10">
            <a:extLst xmlns:a="http://schemas.openxmlformats.org/drawingml/2006/main">
              <a:ext uri="{FF2B5EF4-FFF2-40B4-BE49-F238E27FC236}">
                <a16:creationId xmlns:a16="http://schemas.microsoft.com/office/drawing/2014/main" id="{9CDBF913-B077-4D9D-9460-8942CE6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333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136251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7">
            <a:extLst xmlns:a="http://schemas.openxmlformats.org/drawingml/2006/main">
              <a:ext uri="{FF2B5EF4-FFF2-40B4-BE49-F238E27FC236}">
                <a16:creationId xmlns:a16="http://schemas.microsoft.com/office/drawing/2014/main" id="{A44033E4-2B2A-46FB-A8AA-CF8D6BFE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项目问题与目标</a:t>
            </a:r>
          </a:p>
        </p:txBody>
      </p:sp>
      <p:sp>
        <p:nvSpPr>
          <p:cNvPr id="2" name="text-8">
            <a:extLst xmlns:a="http://schemas.openxmlformats.org/drawingml/2006/main">
              <a:ext uri="{FF2B5EF4-FFF2-40B4-BE49-F238E27FC236}">
                <a16:creationId xmlns:a16="http://schemas.microsoft.com/office/drawing/2014/main" id="{F23D91F4-CE4D-4D77-AE83-8AA17E2A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科研问答需要同时给出回答、来源和可回查的执行记录</a:t>
            </a:r>
          </a:p>
        </p:txBody>
      </p:sp>
      <p:sp>
        <p:nvSpPr>
          <p:cNvPr id="3" name="text-9">
            <a:extLst xmlns:a="http://schemas.openxmlformats.org/drawingml/2006/main">
              <a:ext uri="{FF2B5EF4-FFF2-40B4-BE49-F238E27FC236}">
                <a16:creationId xmlns:a16="http://schemas.microsoft.com/office/drawing/2014/main" id="{92AA9AF3-95BB-4A02-8CF5-25D9210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text-10">
            <a:extLst xmlns:a="http://schemas.openxmlformats.org/drawingml/2006/main">
              <a:ext uri="{FF2B5EF4-FFF2-40B4-BE49-F238E27FC236}">
                <a16:creationId xmlns:a16="http://schemas.microsoft.com/office/drawing/2014/main" id="{8D1B7EB5-2D86-4670-A43D-D7B618EB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“ViT 与 CvT 的结构设计有哪些差异？”</a:t>
            </a:r>
          </a:p>
        </p:txBody>
      </p:sp>
      <p:sp>
        <p:nvSpPr>
          <p:cNvPr id="5" name="text-11">
            <a:extLst xmlns:a="http://schemas.openxmlformats.org/drawingml/2006/main">
              <a:ext uri="{FF2B5EF4-FFF2-40B4-BE49-F238E27FC236}">
                <a16:creationId xmlns:a16="http://schemas.microsoft.com/office/drawing/2014/main" id="{3933060F-12BE-445F-8F26-39540DBF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text-12">
            <a:extLst xmlns:a="http://schemas.openxmlformats.org/drawingml/2006/main">
              <a:ext uri="{FF2B5EF4-FFF2-40B4-BE49-F238E27FC236}">
                <a16:creationId xmlns:a16="http://schemas.microsoft.com/office/drawing/2014/main" id="{488445CE-63EC-4C67-B942-9B84930E9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证据定位</a:t>
            </a:r>
          </a:p>
        </p:txBody>
      </p:sp>
      <p:sp>
        <p:nvSpPr>
          <p:cNvPr id="7" name="text-13">
            <a:extLst xmlns:a="http://schemas.openxmlformats.org/drawingml/2006/main">
              <a:ext uri="{FF2B5EF4-FFF2-40B4-BE49-F238E27FC236}">
                <a16:creationId xmlns:a16="http://schemas.microsoft.com/office/drawing/2014/main" id="{2C6E0282-EEC0-45CD-A562-C1F88C93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跨论文查找相关段落，保留文档和物理页位置。</a:t>
            </a:r>
          </a:p>
        </p:txBody>
      </p:sp>
      <p:sp>
        <p:nvSpPr>
          <p:cNvPr id="8" name="text-14">
            <a:extLst xmlns:a="http://schemas.openxmlformats.org/drawingml/2006/main">
              <a:ext uri="{FF2B5EF4-FFF2-40B4-BE49-F238E27FC236}">
                <a16:creationId xmlns:a16="http://schemas.microsoft.com/office/drawing/2014/main" id="{41482879-14C3-4E02-94BB-12328E97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text-15">
            <a:extLst xmlns:a="http://schemas.openxmlformats.org/drawingml/2006/main">
              <a:ext uri="{FF2B5EF4-FFF2-40B4-BE49-F238E27FC236}">
                <a16:creationId xmlns:a16="http://schemas.microsoft.com/office/drawing/2014/main" id="{1F428ACF-0044-4145-933E-3D917F2E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证据约束生成</a:t>
            </a:r>
          </a:p>
        </p:txBody>
      </p:sp>
      <p:sp>
        <p:nvSpPr>
          <p:cNvPr id="10" name="text-16">
            <a:extLst xmlns:a="http://schemas.openxmlformats.org/drawingml/2006/main">
              <a:ext uri="{FF2B5EF4-FFF2-40B4-BE49-F238E27FC236}">
                <a16:creationId xmlns:a16="http://schemas.microsoft.com/office/drawing/2014/main" id="{24C837A1-850A-4559-8819-55F540D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根据检索结果组织回答，并检查来源编号与数字。</a:t>
            </a:r>
          </a:p>
        </p:txBody>
      </p:sp>
      <p:sp>
        <p:nvSpPr>
          <p:cNvPr id="11" name="text-17">
            <a:extLst xmlns:a="http://schemas.openxmlformats.org/drawingml/2006/main">
              <a:ext uri="{FF2B5EF4-FFF2-40B4-BE49-F238E27FC236}">
                <a16:creationId xmlns:a16="http://schemas.microsoft.com/office/drawing/2014/main" id="{B6590727-533B-4A2A-83E8-F683C3ED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099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text-18">
            <a:extLst xmlns:a="http://schemas.openxmlformats.org/drawingml/2006/main">
              <a:ext uri="{FF2B5EF4-FFF2-40B4-BE49-F238E27FC236}">
                <a16:creationId xmlns:a16="http://schemas.microsoft.com/office/drawing/2014/main" id="{E1224569-0A4D-4D7D-90F9-9F67ACA6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338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工具协作</a:t>
            </a:r>
          </a:p>
        </p:txBody>
      </p:sp>
      <p:sp>
        <p:nvSpPr>
          <p:cNvPr id="13" name="text-19">
            <a:extLst xmlns:a="http://schemas.openxmlformats.org/drawingml/2006/main">
              <a:ext uri="{FF2B5EF4-FFF2-40B4-BE49-F238E27FC236}">
                <a16:creationId xmlns:a16="http://schemas.microsoft.com/office/drawing/2014/main" id="{D9EB1769-C201-4DED-91E8-FDA453DD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577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计算、论文信息和条件约束比较分别调用对应工具。</a:t>
            </a:r>
          </a:p>
        </p:txBody>
      </p:sp>
    </p:spTree>
    <p:extLst>
      <p:ext uri="{BB962C8B-B14F-4D97-AF65-F5344CB8AC3E}">
        <p14:creationId xmlns:p14="http://schemas.microsoft.com/office/powerpoint/2010/main" val="19533218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038E9D89-3BA7-472F-8BAD-A41314F9E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论文库与用户工作流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97F0B30F-A7E4-4C4B-9B2A-D37CF061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导入文档后，系统持续记录处理状态，并保留原件与索引信息</a:t>
            </a:r>
          </a:p>
        </p:txBody>
      </p:sp>
      <p:sp>
        <p:nvSpPr>
          <p:cNvPr id="3" name="text-22">
            <a:extLst xmlns:a="http://schemas.openxmlformats.org/drawingml/2006/main">
              <a:ext uri="{FF2B5EF4-FFF2-40B4-BE49-F238E27FC236}">
                <a16:creationId xmlns:a16="http://schemas.microsoft.com/office/drawing/2014/main" id="{49395D16-1F31-446C-A171-7F4289B7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实际项目界面，2026-10-10历史记录。页面数字属于截图当时的索引快照。</a:t>
            </a:r>
          </a:p>
        </p:txBody>
      </p:sp>
      <p:sp>
        <p:nvSpPr>
          <p:cNvPr id="4" name="text-23">
            <a:extLst xmlns:a="http://schemas.openxmlformats.org/drawingml/2006/main">
              <a:ext uri="{FF2B5EF4-FFF2-40B4-BE49-F238E27FC236}">
                <a16:creationId xmlns:a16="http://schemas.microsoft.com/office/drawing/2014/main" id="{AB263FDF-7FE6-4322-8C71-4A5520F2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77D8C-6762-4C5E-817C-89314999DC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cbe4a37be4ff3"/>
          <a:srcRect xmlns:a="http://schemas.openxmlformats.org/drawingml/2006/main" l="12000" t="1500" r="1500" b="1500"/>
          <a:stretch xmlns:a="http://schemas.openxmlformats.org/drawingml/2006/main"/>
        </p:blipFill>
        <p:spPr>
          <a:xfrm xmlns:a="http://schemas.openxmlformats.org/drawingml/2006/main">
            <a:off x="3679825" y="1809750"/>
            <a:ext cx="7823200" cy="4400550"/>
          </a:xfrm>
          <a:prstGeom xmlns:a="http://schemas.openxmlformats.org/drawingml/2006/main" prst="rect">
            <a:avLst/>
          </a:prstGeom>
        </p:spPr>
      </p:pic>
      <p:sp>
        <p:nvSpPr>
          <p:cNvPr id="6" name="text-24">
            <a:extLst xmlns:a="http://schemas.openxmlformats.org/drawingml/2006/main">
              <a:ext uri="{FF2B5EF4-FFF2-40B4-BE49-F238E27FC236}">
                <a16:creationId xmlns:a16="http://schemas.microsoft.com/office/drawing/2014/main" id="{0BE58867-ECFB-404D-AFEF-438BA6B8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多格式导入</a:t>
            </a:r>
          </a:p>
        </p:txBody>
      </p:sp>
      <p:sp>
        <p:nvSpPr>
          <p:cNvPr id="7" name="text-25">
            <a:extLst xmlns:a="http://schemas.openxmlformats.org/drawingml/2006/main">
              <a:ext uri="{FF2B5EF4-FFF2-40B4-BE49-F238E27FC236}">
                <a16:creationId xmlns:a16="http://schemas.microsoft.com/office/drawing/2014/main" id="{0A8EC2F4-C8EB-4FA3-9844-2A1A15A5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PDF、DOCX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TXT、Markdown</a:t>
            </a:r>
          </a:p>
        </p:txBody>
      </p:sp>
      <p:sp>
        <p:nvSpPr>
          <p:cNvPr id="8" name="text-26">
            <a:extLst xmlns:a="http://schemas.openxmlformats.org/drawingml/2006/main">
              <a:ext uri="{FF2B5EF4-FFF2-40B4-BE49-F238E27FC236}">
                <a16:creationId xmlns:a16="http://schemas.microsoft.com/office/drawing/2014/main" id="{95B8BA0E-CCAC-4763-8895-68670E31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状态与恢复</a:t>
            </a:r>
          </a:p>
        </p:txBody>
      </p:sp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62F34E08-8B19-405D-A517-7837E632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00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批量导入与进度跟踪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处理失败可以重试</a:t>
            </a:r>
          </a:p>
        </p:txBody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B0C0245C-C356-41F4-99F0-588B1A17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2714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原件与元信息</a:t>
            </a:r>
          </a:p>
        </p:txBody>
      </p:sp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0489C9FE-222F-415C-8061-B824D932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9725"/>
            <a:ext cx="27146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论文信息编辑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原件下载与片段预览</a:t>
            </a:r>
          </a:p>
        </p:txBody>
      </p:sp>
    </p:spTree>
    <p:extLst>
      <p:ext uri="{BB962C8B-B14F-4D97-AF65-F5344CB8AC3E}">
        <p14:creationId xmlns:p14="http://schemas.microsoft.com/office/powerpoint/2010/main" val="13415318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339B95-59C6-4453-B38F-82CAFB692A9A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57425" y="2800350"/>
            <a:ext cx="3838575" cy="533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70808C"/>
            </a:solidFill>
            <a:tailEnd type="triangle" w="med" len="med"/>
          </a:ln>
        </p:spPr>
      </p:cxnSp>
      <p:sp>
        <p:nvSpPr>
          <p:cNvPr id="41" name="text-30">
            <a:extLst xmlns:a="http://schemas.openxmlformats.org/drawingml/2006/main">
              <a:ext uri="{FF2B5EF4-FFF2-40B4-BE49-F238E27FC236}">
                <a16:creationId xmlns:a16="http://schemas.microsoft.com/office/drawing/2014/main" id="{959D49D0-781E-46B0-BF53-9140EC4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系统总体架构</a:t>
            </a:r>
          </a:p>
        </p:txBody>
      </p:sp>
      <p:sp>
        <p:nvSpPr>
          <p:cNvPr id="2" name="text-31">
            <a:extLst xmlns:a="http://schemas.openxmlformats.org/drawingml/2006/main">
              <a:ext uri="{FF2B5EF4-FFF2-40B4-BE49-F238E27FC236}">
                <a16:creationId xmlns:a16="http://schemas.microsoft.com/office/drawing/2014/main" id="{4E9A0214-A885-43B6-925A-4DB45952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前端与服务分离，核心路由、证据处理和运行记录由项目代码控制</a:t>
            </a:r>
          </a:p>
        </p:txBody>
      </p:sp>
      <p:sp>
        <p:nvSpPr>
          <p:cNvPr id="3" name="text-32">
            <a:extLst xmlns:a="http://schemas.openxmlformats.org/drawingml/2006/main">
              <a:ext uri="{FF2B5EF4-FFF2-40B4-BE49-F238E27FC236}">
                <a16:creationId xmlns:a16="http://schemas.microsoft.com/office/drawing/2014/main" id="{D1AF3ED9-A6F5-45E4-95F5-5D8F6FA5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核心依赖关系示意。基础模型、解析器与向量库由成熟依赖提供。</a:t>
            </a:r>
          </a:p>
        </p:txBody>
      </p:sp>
      <p:sp>
        <p:nvSpPr>
          <p:cNvPr id="4" name="text-33">
            <a:extLst xmlns:a="http://schemas.openxmlformats.org/drawingml/2006/main">
              <a:ext uri="{FF2B5EF4-FFF2-40B4-BE49-F238E27FC236}">
                <a16:creationId xmlns:a16="http://schemas.microsoft.com/office/drawing/2014/main" id="{411F53B9-B62B-4276-8062-F1CE4338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diagram-node-34">
            <a:extLst xmlns:a="http://schemas.openxmlformats.org/drawingml/2006/main">
              <a:ext uri="{FF2B5EF4-FFF2-40B4-BE49-F238E27FC236}">
                <a16:creationId xmlns:a16="http://schemas.microsoft.com/office/drawing/2014/main" id="{244B985D-503B-474E-B32A-9A3E0579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6" name="text-35">
            <a:extLst xmlns:a="http://schemas.openxmlformats.org/drawingml/2006/main">
              <a:ext uri="{FF2B5EF4-FFF2-40B4-BE49-F238E27FC236}">
                <a16:creationId xmlns:a16="http://schemas.microsoft.com/office/drawing/2014/main" id="{5AD8E6A1-6C53-4798-ADF2-FA6CB8DB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Streamlit 交互</a:t>
            </a:r>
          </a:p>
        </p:txBody>
      </p:sp>
      <p:sp>
        <p:nvSpPr>
          <p:cNvPr id="7" name="text-36">
            <a:extLst xmlns:a="http://schemas.openxmlformats.org/drawingml/2006/main">
              <a:ext uri="{FF2B5EF4-FFF2-40B4-BE49-F238E27FC236}">
                <a16:creationId xmlns:a16="http://schemas.microsoft.com/office/drawing/2014/main" id="{DBDC30AF-DAA3-4F3E-A01A-EE88B1A9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论文库、问答、比较、记录</a:t>
            </a:r>
          </a:p>
        </p:txBody>
      </p:sp>
      <p:sp>
        <p:nvSpPr>
          <p:cNvPr id="8" name="diagram-node-37">
            <a:extLst xmlns:a="http://schemas.openxmlformats.org/drawingml/2006/main">
              <a:ext uri="{FF2B5EF4-FFF2-40B4-BE49-F238E27FC236}">
                <a16:creationId xmlns:a16="http://schemas.microsoft.com/office/drawing/2014/main" id="{36055564-DBA1-4850-BDBF-46E5EE07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9" name="text-38">
            <a:extLst xmlns:a="http://schemas.openxmlformats.org/drawingml/2006/main">
              <a:ext uri="{FF2B5EF4-FFF2-40B4-BE49-F238E27FC236}">
                <a16:creationId xmlns:a16="http://schemas.microsoft.com/office/drawing/2014/main" id="{D1765CAD-70B4-4EE9-88A1-72206373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FastAPI 服务</a:t>
            </a:r>
          </a:p>
        </p:txBody>
      </p:sp>
      <p:sp>
        <p:nvSpPr>
          <p:cNvPr id="10" name="text-39">
            <a:extLst xmlns:a="http://schemas.openxmlformats.org/drawingml/2006/main">
              <a:ext uri="{FF2B5EF4-FFF2-40B4-BE49-F238E27FC236}">
                <a16:creationId xmlns:a16="http://schemas.microsoft.com/office/drawing/2014/main" id="{3120821E-F931-4C51-BB7F-6165BAA15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REST 接口与 SSE 流式响应</a:t>
            </a:r>
          </a:p>
        </p:txBody>
      </p:sp>
      <p:sp>
        <p:nvSpPr>
          <p:cNvPr id="11" name="diagram-node-40">
            <a:extLst xmlns:a="http://schemas.openxmlformats.org/drawingml/2006/main">
              <a:ext uri="{FF2B5EF4-FFF2-40B4-BE49-F238E27FC236}">
                <a16:creationId xmlns:a16="http://schemas.microsoft.com/office/drawing/2014/main" id="{B2FB8D70-7F27-4C97-9F6A-8E061D29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2" name="text-41">
            <a:extLst xmlns:a="http://schemas.openxmlformats.org/drawingml/2006/main">
              <a:ext uri="{FF2B5EF4-FFF2-40B4-BE49-F238E27FC236}">
                <a16:creationId xmlns:a16="http://schemas.microsoft.com/office/drawing/2014/main" id="{2C3B054B-F263-4593-B218-DC9EC920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运行观测</a:t>
            </a:r>
          </a:p>
        </p:txBody>
      </p:sp>
      <p:sp>
        <p:nvSpPr>
          <p:cNvPr id="13" name="text-42">
            <a:extLst xmlns:a="http://schemas.openxmlformats.org/drawingml/2006/main">
              <a:ext uri="{FF2B5EF4-FFF2-40B4-BE49-F238E27FC236}">
                <a16:creationId xmlns:a16="http://schemas.microsoft.com/office/drawing/2014/main" id="{25BFB28D-C29D-40CE-8053-4071DF934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会话、用量与工具轨迹</a:t>
            </a:r>
          </a:p>
        </p:txBody>
      </p:sp>
      <p:sp>
        <p:nvSpPr>
          <p:cNvPr id="14" name="diagram-node-43">
            <a:extLst xmlns:a="http://schemas.openxmlformats.org/drawingml/2006/main">
              <a:ext uri="{FF2B5EF4-FFF2-40B4-BE49-F238E27FC236}">
                <a16:creationId xmlns:a16="http://schemas.microsoft.com/office/drawing/2014/main" id="{8520D12B-FB6A-4AE1-8F63-10B96C479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5" name="text-44">
            <a:extLst xmlns:a="http://schemas.openxmlformats.org/drawingml/2006/main">
              <a:ext uri="{FF2B5EF4-FFF2-40B4-BE49-F238E27FC236}">
                <a16:creationId xmlns:a16="http://schemas.microsoft.com/office/drawing/2014/main" id="{98B49A59-8935-4690-B246-D089AA269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Agent 控制器</a:t>
            </a:r>
          </a:p>
        </p:txBody>
      </p:sp>
      <p:sp>
        <p:nvSpPr>
          <p:cNvPr id="16" name="text-45">
            <a:extLst xmlns:a="http://schemas.openxmlformats.org/drawingml/2006/main">
              <a:ext uri="{FF2B5EF4-FFF2-40B4-BE49-F238E27FC236}">
                <a16:creationId xmlns:a16="http://schemas.microsoft.com/office/drawing/2014/main" id="{65FA8799-278F-4B43-AAA7-89F4572E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路由、工具、记忆、有界重试</a:t>
            </a:r>
          </a:p>
        </p:txBody>
      </p:sp>
      <p:sp>
        <p:nvSpPr>
          <p:cNvPr id="17" name="diagram-node-46">
            <a:extLst xmlns:a="http://schemas.openxmlformats.org/drawingml/2006/main">
              <a:ext uri="{FF2B5EF4-FFF2-40B4-BE49-F238E27FC236}">
                <a16:creationId xmlns:a16="http://schemas.microsoft.com/office/drawing/2014/main" id="{AC4B2B4D-2C69-456F-BCAC-28AA07D6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8" name="text-47">
            <a:extLst xmlns:a="http://schemas.openxmlformats.org/drawingml/2006/main">
              <a:ext uri="{FF2B5EF4-FFF2-40B4-BE49-F238E27FC236}">
                <a16:creationId xmlns:a16="http://schemas.microsoft.com/office/drawing/2014/main" id="{0D581643-CF5B-41BE-B366-64260AB65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RAG 与检索</a:t>
            </a:r>
          </a:p>
        </p:txBody>
      </p:sp>
      <p:sp>
        <p:nvSpPr>
          <p:cNvPr id="19" name="text-48">
            <a:extLst xmlns:a="http://schemas.openxmlformats.org/drawingml/2006/main">
              <a:ext uri="{FF2B5EF4-FFF2-40B4-BE49-F238E27FC236}">
                <a16:creationId xmlns:a16="http://schemas.microsoft.com/office/drawing/2014/main" id="{49D37DAF-D9A2-4F99-9518-047979AE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Dense、BM25、RRF、重排</a:t>
            </a:r>
          </a:p>
        </p:txBody>
      </p:sp>
      <p:sp>
        <p:nvSpPr>
          <p:cNvPr id="20" name="diagram-node-49">
            <a:extLst xmlns:a="http://schemas.openxmlformats.org/drawingml/2006/main">
              <a:ext uri="{FF2B5EF4-FFF2-40B4-BE49-F238E27FC236}">
                <a16:creationId xmlns:a16="http://schemas.microsoft.com/office/drawing/2014/main" id="{5CC67B33-6AAB-44F3-8CBD-A97E46F0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1" name="text-50">
            <a:extLst xmlns:a="http://schemas.openxmlformats.org/drawingml/2006/main">
              <a:ext uri="{FF2B5EF4-FFF2-40B4-BE49-F238E27FC236}">
                <a16:creationId xmlns:a16="http://schemas.microsoft.com/office/drawing/2014/main" id="{9FA6673A-0101-404A-96F9-8BE890E0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rPr>
              <a:t>Ollama 本地模型</a:t>
            </a:r>
          </a:p>
        </p:txBody>
      </p:sp>
      <p:sp>
        <p:nvSpPr>
          <p:cNvPr id="22" name="text-51">
            <a:extLst xmlns:a="http://schemas.openxmlformats.org/drawingml/2006/main">
              <a:ext uri="{FF2B5EF4-FFF2-40B4-BE49-F238E27FC236}">
                <a16:creationId xmlns:a16="http://schemas.microsoft.com/office/drawing/2014/main" id="{4494B2B8-AFCA-48AA-8E79-8C97EA8A0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4810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Qwen2.5-7B-Instruct</a:t>
            </a:r>
          </a:p>
        </p:txBody>
      </p:sp>
      <p:sp>
        <p:nvSpPr>
          <p:cNvPr id="23" name="diagram-node-52">
            <a:extLst xmlns:a="http://schemas.openxmlformats.org/drawingml/2006/main">
              <a:ext uri="{FF2B5EF4-FFF2-40B4-BE49-F238E27FC236}">
                <a16:creationId xmlns:a16="http://schemas.microsoft.com/office/drawing/2014/main" id="{4E24C8E6-3D25-4949-80B6-3DE8EC047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4" name="text-53">
            <a:extLst xmlns:a="http://schemas.openxmlformats.org/drawingml/2006/main">
              <a:ext uri="{FF2B5EF4-FFF2-40B4-BE49-F238E27FC236}">
                <a16:creationId xmlns:a16="http://schemas.microsoft.com/office/drawing/2014/main" id="{C2EE0A7F-00A3-4D78-B16A-5CF270CA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文档处理</a:t>
            </a:r>
          </a:p>
        </p:txBody>
      </p:sp>
      <p:sp>
        <p:nvSpPr>
          <p:cNvPr id="25" name="text-54">
            <a:extLst xmlns:a="http://schemas.openxmlformats.org/drawingml/2006/main">
              <a:ext uri="{FF2B5EF4-FFF2-40B4-BE49-F238E27FC236}">
                <a16:creationId xmlns:a16="http://schemas.microsoft.com/office/drawing/2014/main" id="{BE165722-55D5-4B52-BCDE-DBAC4C48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解析、分块、原文位置传播</a:t>
            </a:r>
          </a:p>
        </p:txBody>
      </p:sp>
      <p:sp>
        <p:nvSpPr>
          <p:cNvPr id="26" name="diagram-node-55">
            <a:extLst xmlns:a="http://schemas.openxmlformats.org/drawingml/2006/main">
              <a:ext uri="{FF2B5EF4-FFF2-40B4-BE49-F238E27FC236}">
                <a16:creationId xmlns:a16="http://schemas.microsoft.com/office/drawing/2014/main" id="{F2A7E495-4A91-4F44-BD09-22D397C4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27" name="text-56">
            <a:extLst xmlns:a="http://schemas.openxmlformats.org/drawingml/2006/main">
              <a:ext uri="{FF2B5EF4-FFF2-40B4-BE49-F238E27FC236}">
                <a16:creationId xmlns:a16="http://schemas.microsoft.com/office/drawing/2014/main" id="{CE7FC732-28DA-4D10-8DAC-B5A5A59C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索引与模型</a:t>
            </a:r>
          </a:p>
        </p:txBody>
      </p:sp>
      <p:sp>
        <p:nvSpPr>
          <p:cNvPr id="28" name="text-57">
            <a:extLst xmlns:a="http://schemas.openxmlformats.org/drawingml/2006/main">
              <a:ext uri="{FF2B5EF4-FFF2-40B4-BE49-F238E27FC236}">
                <a16:creationId xmlns:a16="http://schemas.microsoft.com/office/drawing/2014/main" id="{1E3FA26E-5A9A-45EF-97D6-73ED7A39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Chroma / FAISS、BGE-M3</a:t>
            </a:r>
          </a:p>
        </p:txBody>
      </p:sp>
      <p:sp>
        <p:nvSpPr>
          <p:cNvPr id="29" name="diagram-node-58">
            <a:extLst xmlns:a="http://schemas.openxmlformats.org/drawingml/2006/main">
              <a:ext uri="{FF2B5EF4-FFF2-40B4-BE49-F238E27FC236}">
                <a16:creationId xmlns:a16="http://schemas.microsoft.com/office/drawing/2014/main" id="{92463A90-04CA-4953-BE27-A5C9C61B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14900"/>
            <a:ext cx="3143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30" name="text-59">
            <a:extLst xmlns:a="http://schemas.openxmlformats.org/drawingml/2006/main">
              <a:ext uri="{FF2B5EF4-FFF2-40B4-BE49-F238E27FC236}">
                <a16:creationId xmlns:a16="http://schemas.microsoft.com/office/drawing/2014/main" id="{E09787BC-F3AB-4463-835F-203EC1E7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29200"/>
            <a:ext cx="2800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原件与元数据</a:t>
            </a:r>
          </a:p>
        </p:txBody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C355DB5C-96A4-4B81-A855-53EDBC1C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429250"/>
            <a:ext cx="28003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物理页、文档ID、内容哈希</a:t>
            </a:r>
          </a:p>
        </p:txBody>
      </p:sp>
      <p:sp>
        <p:nvSpPr>
          <p:cNvPr id="32" name="diagram-link-61">
            <a:extLst xmlns:a="http://schemas.openxmlformats.org/drawingml/2006/main">
              <a:ext uri="{FF2B5EF4-FFF2-40B4-BE49-F238E27FC236}">
                <a16:creationId xmlns:a16="http://schemas.microsoft.com/office/drawing/2014/main" id="{EB90B935-6E94-40FD-9227-1C366965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812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3" name="diagram-link-62">
            <a:extLst xmlns:a="http://schemas.openxmlformats.org/drawingml/2006/main">
              <a:ext uri="{FF2B5EF4-FFF2-40B4-BE49-F238E27FC236}">
                <a16:creationId xmlns:a16="http://schemas.microsoft.com/office/drawing/2014/main" id="{9B48FDD2-37CA-4B2C-885B-DEB2F91D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812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4" name="diagram-link-63">
            <a:extLst xmlns:a="http://schemas.openxmlformats.org/drawingml/2006/main">
              <a:ext uri="{FF2B5EF4-FFF2-40B4-BE49-F238E27FC236}">
                <a16:creationId xmlns:a16="http://schemas.microsoft.com/office/drawing/2014/main" id="{26227E70-3332-402A-9B41-D9381163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6237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5" name="diagram-link-64">
            <a:extLst xmlns:a="http://schemas.openxmlformats.org/drawingml/2006/main">
              <a:ext uri="{FF2B5EF4-FFF2-40B4-BE49-F238E27FC236}">
                <a16:creationId xmlns:a16="http://schemas.microsoft.com/office/drawing/2014/main" id="{BA313825-734E-4F47-9B63-0E9E4FA0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76237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6" name="diagram-link-65">
            <a:extLst xmlns:a="http://schemas.openxmlformats.org/drawingml/2006/main">
              <a:ext uri="{FF2B5EF4-FFF2-40B4-BE49-F238E27FC236}">
                <a16:creationId xmlns:a16="http://schemas.microsoft.com/office/drawing/2014/main" id="{195C916A-67C8-40B1-818B-E353A3B4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435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7" name="diagram-link-66">
            <a:extLst xmlns:a="http://schemas.openxmlformats.org/drawingml/2006/main">
              <a:ext uri="{FF2B5EF4-FFF2-40B4-BE49-F238E27FC236}">
                <a16:creationId xmlns:a16="http://schemas.microsoft.com/office/drawing/2014/main" id="{85D845DE-94D1-4E99-9D4A-8CFD12BA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343525"/>
            <a:ext cx="352425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8" name="diagram-link-67">
            <a:extLst xmlns:a="http://schemas.openxmlformats.org/drawingml/2006/main">
              <a:ext uri="{FF2B5EF4-FFF2-40B4-BE49-F238E27FC236}">
                <a16:creationId xmlns:a16="http://schemas.microsoft.com/office/drawing/2014/main" id="{6B7FBF6F-057D-4D49-84D2-9971C1B45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92417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39" name="diagram-link-68">
            <a:extLst xmlns:a="http://schemas.openxmlformats.org/drawingml/2006/main">
              <a:ext uri="{FF2B5EF4-FFF2-40B4-BE49-F238E27FC236}">
                <a16:creationId xmlns:a16="http://schemas.microsoft.com/office/drawing/2014/main" id="{7ACD7EA8-674F-44B8-851B-79574110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505325"/>
            <a:ext cx="266700" cy="2762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5526001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11">
            <a:extLst xmlns:a="http://schemas.openxmlformats.org/drawingml/2006/main">
              <a:ext uri="{FF2B5EF4-FFF2-40B4-BE49-F238E27FC236}">
                <a16:creationId xmlns:a16="http://schemas.microsoft.com/office/drawing/2014/main" id="{D89762CE-9350-473B-B3ED-BEB81E68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文档处理兼顾效率与来源锚点</a:t>
            </a:r>
          </a:p>
        </p:txBody>
      </p:sp>
      <p:sp>
        <p:nvSpPr>
          <p:cNvPr id="2" name="refined-12">
            <a:extLst xmlns:a="http://schemas.openxmlformats.org/drawingml/2006/main">
              <a:ext uri="{FF2B5EF4-FFF2-40B4-BE49-F238E27FC236}">
                <a16:creationId xmlns:a16="http://schemas.microsoft.com/office/drawing/2014/main" id="{E70CFBA2-3D98-40E2-8D7F-2D88DEF6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同10篇PDF，三种解析器各10次真实逐文档测量</a:t>
            </a:r>
          </a:p>
        </p:txBody>
      </p:sp>
      <p:sp>
        <p:nvSpPr>
          <p:cNvPr id="3" name="refined-13">
            <a:extLst xmlns:a="http://schemas.openxmlformats.org/drawingml/2006/main">
              <a:ext uri="{FF2B5EF4-FFF2-40B4-BE49-F238E27FC236}">
                <a16:creationId xmlns:a16="http://schemas.microsoft.com/office/drawing/2014/main" id="{89DAEE0D-0761-4B98-BC85-4ED7F1B5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来源：报告fig03。锚点恢复是解析代理指标，不等同公式、表格和语义均完整。</a:t>
            </a:r>
          </a:p>
        </p:txBody>
      </p:sp>
      <p:sp>
        <p:nvSpPr>
          <p:cNvPr id="4" name="refined-14">
            <a:extLst xmlns:a="http://schemas.openxmlformats.org/drawingml/2006/main">
              <a:ext uri="{FF2B5EF4-FFF2-40B4-BE49-F238E27FC236}">
                <a16:creationId xmlns:a16="http://schemas.microsoft.com/office/drawing/2014/main" id="{3FFA50C7-511D-4505-9557-97AFE1D64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FA031-1A92-46EB-A43E-6107E83FC7A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b626ad893b49fd"/>
          <a:srcRect xmlns:a="http://schemas.openxmlformats.org/drawingml/2006/main" l="1200" t="17500" r="800" b="12000"/>
          <a:stretch xmlns:a="http://schemas.openxmlformats.org/drawingml/2006/main"/>
        </p:blipFill>
        <p:spPr>
          <a:xfrm xmlns:a="http://schemas.openxmlformats.org/drawingml/2006/main">
            <a:off x="705301" y="1752600"/>
            <a:ext cx="10800449" cy="4076700"/>
          </a:xfrm>
          <a:prstGeom xmlns:a="http://schemas.openxmlformats.org/drawingml/2006/main" prst="rect">
            <a:avLst/>
          </a:prstGeom>
        </p:spPr>
      </p:pic>
      <p:sp>
        <p:nvSpPr>
          <p:cNvPr id="6" name="refined-15">
            <a:extLst xmlns:a="http://schemas.openxmlformats.org/drawingml/2006/main">
              <a:ext uri="{FF2B5EF4-FFF2-40B4-BE49-F238E27FC236}">
                <a16:creationId xmlns:a16="http://schemas.microsoft.com/office/drawing/2014/main" id="{68D5A041-872D-4D8C-AE3B-1EFD544F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15025"/>
            <a:ext cx="11020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位置传播贯穿解析、分块与检索；长文本保留原始token-ID边界。</a:t>
            </a:r>
          </a:p>
        </p:txBody>
      </p:sp>
    </p:spTree>
    <p:extLst>
      <p:ext uri="{BB962C8B-B14F-4D97-AF65-F5344CB8AC3E}">
        <p14:creationId xmlns:p14="http://schemas.microsoft.com/office/powerpoint/2010/main" val="11003211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77">
            <a:extLst xmlns:a="http://schemas.openxmlformats.org/drawingml/2006/main">
              <a:ext uri="{FF2B5EF4-FFF2-40B4-BE49-F238E27FC236}">
                <a16:creationId xmlns:a16="http://schemas.microsoft.com/office/drawing/2014/main" id="{9E63BA31-B824-4527-9E30-7E6E1312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混合检索与证据约束生成</a:t>
            </a:r>
          </a:p>
        </p:txBody>
      </p:sp>
      <p:sp>
        <p:nvSpPr>
          <p:cNvPr id="2" name="text-78">
            <a:extLst xmlns:a="http://schemas.openxmlformats.org/drawingml/2006/main">
              <a:ext uri="{FF2B5EF4-FFF2-40B4-BE49-F238E27FC236}">
                <a16:creationId xmlns:a16="http://schemas.microsoft.com/office/drawing/2014/main" id="{7DECF145-9DAD-4D77-B425-75FC69D2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语义召回和关键词召回先融合，再按需调用交叉编码重排</a:t>
            </a:r>
          </a:p>
        </p:txBody>
      </p:sp>
      <p:sp>
        <p:nvSpPr>
          <p:cNvPr id="3" name="text-79">
            <a:extLst xmlns:a="http://schemas.openxmlformats.org/drawingml/2006/main">
              <a:ext uri="{FF2B5EF4-FFF2-40B4-BE49-F238E27FC236}">
                <a16:creationId xmlns:a16="http://schemas.microsoft.com/office/drawing/2014/main" id="{08FB965C-1075-46F9-90B7-90D88EC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默认参数：RRF常数60，候选20条，返回Top-5。各实验配置另行记录。</a:t>
            </a:r>
          </a:p>
        </p:txBody>
      </p:sp>
      <p:sp>
        <p:nvSpPr>
          <p:cNvPr id="4" name="text-80">
            <a:extLst xmlns:a="http://schemas.openxmlformats.org/drawingml/2006/main">
              <a:ext uri="{FF2B5EF4-FFF2-40B4-BE49-F238E27FC236}">
                <a16:creationId xmlns:a16="http://schemas.microsoft.com/office/drawing/2014/main" id="{4AFF41D6-DE65-4EC6-B0D1-FA1B1A4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diagram-node-81">
            <a:extLst xmlns:a="http://schemas.openxmlformats.org/drawingml/2006/main">
              <a:ext uri="{FF2B5EF4-FFF2-40B4-BE49-F238E27FC236}">
                <a16:creationId xmlns:a16="http://schemas.microsoft.com/office/drawing/2014/main" id="{E37EDA7A-2096-4EAB-A270-2C3B725F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6" name="text-82">
            <a:extLst xmlns:a="http://schemas.openxmlformats.org/drawingml/2006/main">
              <a:ext uri="{FF2B5EF4-FFF2-40B4-BE49-F238E27FC236}">
                <a16:creationId xmlns:a16="http://schemas.microsoft.com/office/drawing/2014/main" id="{81FD5DB5-6C00-4FC1-9746-0C49877DB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两路召回</a:t>
            </a:r>
          </a:p>
        </p:txBody>
      </p:sp>
      <p:sp>
        <p:nvSpPr>
          <p:cNvPr id="7" name="text-83">
            <a:extLst xmlns:a="http://schemas.openxmlformats.org/drawingml/2006/main">
              <a:ext uri="{FF2B5EF4-FFF2-40B4-BE49-F238E27FC236}">
                <a16:creationId xmlns:a16="http://schemas.microsoft.com/office/drawing/2014/main" id="{C66076DD-D23A-4771-A325-F722BFB3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Dense 语义检索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BM25 关键词检索</a:t>
            </a:r>
          </a:p>
        </p:txBody>
      </p:sp>
      <p:sp>
        <p:nvSpPr>
          <p:cNvPr id="8" name="diagram-link-84">
            <a:extLst xmlns:a="http://schemas.openxmlformats.org/drawingml/2006/main">
              <a:ext uri="{FF2B5EF4-FFF2-40B4-BE49-F238E27FC236}">
                <a16:creationId xmlns:a16="http://schemas.microsoft.com/office/drawing/2014/main" id="{D655BAF2-7115-4E48-835F-C69A30605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9" name="diagram-node-85">
            <a:extLst xmlns:a="http://schemas.openxmlformats.org/drawingml/2006/main">
              <a:ext uri="{FF2B5EF4-FFF2-40B4-BE49-F238E27FC236}">
                <a16:creationId xmlns:a16="http://schemas.microsoft.com/office/drawing/2014/main" id="{AACD6EE3-C0DC-449F-B25D-66357DF3D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0" name="text-86">
            <a:extLst xmlns:a="http://schemas.openxmlformats.org/drawingml/2006/main">
              <a:ext uri="{FF2B5EF4-FFF2-40B4-BE49-F238E27FC236}">
                <a16:creationId xmlns:a16="http://schemas.microsoft.com/office/drawing/2014/main" id="{7D4451E0-A909-40E6-BA44-354BE9FD1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RRF 融合</a:t>
            </a:r>
          </a:p>
        </p:txBody>
      </p:sp>
      <p:sp>
        <p:nvSpPr>
          <p:cNvPr id="11" name="text-87">
            <a:extLst xmlns:a="http://schemas.openxmlformats.org/drawingml/2006/main">
              <a:ext uri="{FF2B5EF4-FFF2-40B4-BE49-F238E27FC236}">
                <a16:creationId xmlns:a16="http://schemas.microsoft.com/office/drawing/2014/main" id="{D471B131-7C66-462D-B8FE-36B6322AA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按候选名次融合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减少分数尺度差异</a:t>
            </a:r>
          </a:p>
        </p:txBody>
      </p:sp>
      <p:sp>
        <p:nvSpPr>
          <p:cNvPr id="12" name="diagram-link-88">
            <a:extLst xmlns:a="http://schemas.openxmlformats.org/drawingml/2006/main">
              <a:ext uri="{FF2B5EF4-FFF2-40B4-BE49-F238E27FC236}">
                <a16:creationId xmlns:a16="http://schemas.microsoft.com/office/drawing/2014/main" id="{06230703-E46A-4F57-B7CC-8D99389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13" name="diagram-node-89">
            <a:extLst xmlns:a="http://schemas.openxmlformats.org/drawingml/2006/main">
              <a:ext uri="{FF2B5EF4-FFF2-40B4-BE49-F238E27FC236}">
                <a16:creationId xmlns:a16="http://schemas.microsoft.com/office/drawing/2014/main" id="{FEC39BDC-BB62-4FE1-8FF0-898173C4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4" name="text-90">
            <a:extLst xmlns:a="http://schemas.openxmlformats.org/drawingml/2006/main">
              <a:ext uri="{FF2B5EF4-FFF2-40B4-BE49-F238E27FC236}">
                <a16:creationId xmlns:a16="http://schemas.microsoft.com/office/drawing/2014/main" id="{28C289FD-5CF8-4BDE-8D4C-9101659F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rPr>
              <a:t>交叉编码重排</a:t>
            </a:r>
          </a:p>
        </p:txBody>
      </p:sp>
      <p:sp>
        <p:nvSpPr>
          <p:cNvPr id="15" name="text-91">
            <a:extLst xmlns:a="http://schemas.openxmlformats.org/drawingml/2006/main">
              <a:ext uri="{FF2B5EF4-FFF2-40B4-BE49-F238E27FC236}">
                <a16:creationId xmlns:a16="http://schemas.microsoft.com/office/drawing/2014/main" id="{25931289-660C-4D0A-BA6D-FC8FAB5E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联合编码问题与片段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重新计算相关性</a:t>
            </a:r>
          </a:p>
        </p:txBody>
      </p:sp>
      <p:sp>
        <p:nvSpPr>
          <p:cNvPr id="16" name="diagram-link-92">
            <a:extLst xmlns:a="http://schemas.openxmlformats.org/drawingml/2006/main">
              <a:ext uri="{FF2B5EF4-FFF2-40B4-BE49-F238E27FC236}">
                <a16:creationId xmlns:a16="http://schemas.microsoft.com/office/drawing/2014/main" id="{2778C782-C96E-43D7-BB89-3EF0F4CC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695575"/>
            <a:ext cx="228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0808C"/>
          </a:solidFill>
          <a:ln xmlns:a="http://schemas.openxmlformats.org/drawingml/2006/main" w="0">
            <a:noFill/>
          </a:ln>
        </p:spPr>
      </p:sp>
      <p:sp>
        <p:nvSpPr>
          <p:cNvPr id="17" name="diagram-node-93">
            <a:extLst xmlns:a="http://schemas.openxmlformats.org/drawingml/2006/main">
              <a:ext uri="{FF2B5EF4-FFF2-40B4-BE49-F238E27FC236}">
                <a16:creationId xmlns:a16="http://schemas.microsoft.com/office/drawing/2014/main" id="{97880B3F-07A7-4DFF-9967-68C97F7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19300"/>
            <a:ext cx="241935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9"/>
          </a:solidFill>
          <a:ln xmlns:a="http://schemas.openxmlformats.org/drawingml/2006/main" w="9525">
            <a:solidFill>
              <a:srgbClr val="DEE7ED"/>
            </a:solidFill>
          </a:ln>
        </p:spPr>
      </p:sp>
      <p:sp>
        <p:nvSpPr>
          <p:cNvPr id="18" name="text-94">
            <a:extLst xmlns:a="http://schemas.openxmlformats.org/drawingml/2006/main">
              <a:ext uri="{FF2B5EF4-FFF2-40B4-BE49-F238E27FC236}">
                <a16:creationId xmlns:a16="http://schemas.microsoft.com/office/drawing/2014/main" id="{BB3B1BD6-701B-47C2-8882-0943AC89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33600"/>
            <a:ext cx="2076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证据约束生成</a:t>
            </a:r>
          </a:p>
        </p:txBody>
      </p:sp>
      <p:sp>
        <p:nvSpPr>
          <p:cNvPr id="19" name="text-95">
            <a:extLst xmlns:a="http://schemas.openxmlformats.org/drawingml/2006/main">
              <a:ext uri="{FF2B5EF4-FFF2-40B4-BE49-F238E27FC236}">
                <a16:creationId xmlns:a16="http://schemas.microsoft.com/office/drawing/2014/main" id="{239326BA-E5A8-4630-9134-EEA9B636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533650"/>
            <a:ext cx="207645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来源编号绑定原文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规则审校后返回</a:t>
            </a:r>
          </a:p>
        </p:txBody>
      </p:sp>
      <p:sp>
        <p:nvSpPr>
          <p:cNvPr id="20" name="text-96">
            <a:extLst xmlns:a="http://schemas.openxmlformats.org/drawingml/2006/main">
              <a:ext uri="{FF2B5EF4-FFF2-40B4-BE49-F238E27FC236}">
                <a16:creationId xmlns:a16="http://schemas.microsoft.com/office/drawing/2014/main" id="{492EDC4C-37F0-46D4-BA6F-36F1F539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RRF(d) = Σ 1 / (k + rank(d))</a:t>
            </a:r>
          </a:p>
        </p:txBody>
      </p:sp>
      <p:sp>
        <p:nvSpPr>
          <p:cNvPr id="21" name="text-97">
            <a:extLst xmlns:a="http://schemas.openxmlformats.org/drawingml/2006/main">
              <a:ext uri="{FF2B5EF4-FFF2-40B4-BE49-F238E27FC236}">
                <a16:creationId xmlns:a16="http://schemas.microsoft.com/office/drawing/2014/main" id="{11224136-95E5-4371-9B21-8ADD4F2E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超出证据支持范围的问题保留核查提示，来源编号映射由服务器维护。</a:t>
            </a:r>
          </a:p>
        </p:txBody>
      </p:sp>
    </p:spTree>
    <p:extLst>
      <p:ext uri="{BB962C8B-B14F-4D97-AF65-F5344CB8AC3E}">
        <p14:creationId xmlns:p14="http://schemas.microsoft.com/office/powerpoint/2010/main" val="186456757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8">
            <a:extLst xmlns:a="http://schemas.openxmlformats.org/drawingml/2006/main">
              <a:ext uri="{FF2B5EF4-FFF2-40B4-BE49-F238E27FC236}">
                <a16:creationId xmlns:a16="http://schemas.microsoft.com/office/drawing/2014/main" id="{4213C986-131B-49C4-B2CE-8046C203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Agent 路由与八类工具</a:t>
            </a:r>
          </a:p>
        </p:txBody>
      </p:sp>
      <p:sp>
        <p:nvSpPr>
          <p:cNvPr id="2" name="text-99">
            <a:extLst xmlns:a="http://schemas.openxmlformats.org/drawingml/2006/main">
              <a:ext uri="{FF2B5EF4-FFF2-40B4-BE49-F238E27FC236}">
                <a16:creationId xmlns:a16="http://schemas.microsoft.com/office/drawing/2014/main" id="{F733C2EE-946D-4BC7-9E0A-D403F784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简单任务走快捷路由，复杂任务进入有界的动作与观察循环</a:t>
            </a:r>
          </a:p>
        </p:txBody>
      </p:sp>
      <p:sp>
        <p:nvSpPr>
          <p:cNvPr id="3" name="text-100">
            <a:extLst xmlns:a="http://schemas.openxmlformats.org/drawingml/2006/main">
              <a:ext uri="{FF2B5EF4-FFF2-40B4-BE49-F238E27FC236}">
                <a16:creationId xmlns:a16="http://schemas.microsoft.com/office/drawing/2014/main" id="{8E042EC8-8240-4D9B-AF74-AFA829E3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执行限制覆盖步数、超时、重试次数与参数校验。五个路由探针仅作为功能样本。</a:t>
            </a:r>
          </a:p>
        </p:txBody>
      </p:sp>
      <p:sp>
        <p:nvSpPr>
          <p:cNvPr id="4" name="text-101">
            <a:extLst xmlns:a="http://schemas.openxmlformats.org/drawingml/2006/main">
              <a:ext uri="{FF2B5EF4-FFF2-40B4-BE49-F238E27FC236}">
                <a16:creationId xmlns:a16="http://schemas.microsoft.com/office/drawing/2014/main" id="{B5EB2055-972C-4136-80B3-C17207515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15F50-552A-4B13-A455-0B2918166D95}"/>
              </a:ext>
            </a:extLst>
          </p:cNvPr>
          <p:cNvGraphicFramePr/>
          <p:nvPr/>
        </p:nvGraphicFramePr>
        <p:xfrm>
          <a:off xmlns:a="http://schemas.openxmlformats.org/drawingml/2006/main" x="685800" y="1752600"/>
          <a:ext xmlns:a="http://schemas.openxmlformats.org/drawingml/2006/main" cx="10820400" cy="42767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3867150"/>
                <a:gridCol w="4781550"/>
              </a:tblGrid>
              <a:tr h="47519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用途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任务示例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知识库问答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检索证据并生成回答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说明论文方法与原文依据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论文摘要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聚合论文主要内容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概括方法、实验和局限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论文信息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读取结构化元信息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查询作者、年份和论文标题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论文比较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约束条件的结构化对照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按相同任务和指标比较论文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关键词提取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提取文本关键词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概括一段文本的主题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数值计算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受限表达式计算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计算 3.14 × 2.56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日期与时间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返回服务器日期和时间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查询当前日期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192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文献目录检索</a:t>
                      </a:r>
                    </a:p>
                  </a:txBody>
                  <a:tcPr marL="133350" marR="114300" marT="66675" marB="47625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查询已入库文献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按标题关键词确定论文范围</a:t>
                      </a:r>
                    </a:p>
                  </a:txBody>
                  <a:tcPr marL="133350" marR="114300" marT="66675" marB="47625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18849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02">
            <a:extLst xmlns:a="http://schemas.openxmlformats.org/drawingml/2006/main">
              <a:ext uri="{FF2B5EF4-FFF2-40B4-BE49-F238E27FC236}">
                <a16:creationId xmlns:a16="http://schemas.microsoft.com/office/drawing/2014/main" id="{C7F2518A-243F-47CF-B357-BF7F05E4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回答与原文证据回查</a:t>
            </a:r>
          </a:p>
        </p:txBody>
      </p:sp>
      <p:sp>
        <p:nvSpPr>
          <p:cNvPr id="2" name="text-103">
            <a:extLst xmlns:a="http://schemas.openxmlformats.org/drawingml/2006/main">
              <a:ext uri="{FF2B5EF4-FFF2-40B4-BE49-F238E27FC236}">
                <a16:creationId xmlns:a16="http://schemas.microsoft.com/office/drawing/2014/main" id="{0E90263F-14A1-452F-9D56-9F02F38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来源编号关联文档与物理页，用户可以打开原件核对</a:t>
            </a:r>
          </a:p>
        </p:txBody>
      </p:sp>
      <p:sp>
        <p:nvSpPr>
          <p:cNvPr id="3" name="text-104">
            <a:extLst xmlns:a="http://schemas.openxmlformats.org/drawingml/2006/main">
              <a:ext uri="{FF2B5EF4-FFF2-40B4-BE49-F238E27FC236}">
                <a16:creationId xmlns:a16="http://schemas.microsoft.com/office/drawing/2014/main" id="{BE05843E-B56A-4119-9A8F-13F47B842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真实界面，2026-10-10历史记录。两图用于功能说明，不构造同题受控前后对照。</a:t>
            </a:r>
          </a:p>
        </p:txBody>
      </p:sp>
      <p:sp>
        <p:nvSpPr>
          <p:cNvPr id="4" name="text-105">
            <a:extLst xmlns:a="http://schemas.openxmlformats.org/drawingml/2006/main">
              <a:ext uri="{FF2B5EF4-FFF2-40B4-BE49-F238E27FC236}">
                <a16:creationId xmlns:a16="http://schemas.microsoft.com/office/drawing/2014/main" id="{74B2082D-25BE-4971-B679-26145D52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text-106">
            <a:extLst xmlns:a="http://schemas.openxmlformats.org/drawingml/2006/main">
              <a:ext uri="{FF2B5EF4-FFF2-40B4-BE49-F238E27FC236}">
                <a16:creationId xmlns:a16="http://schemas.microsoft.com/office/drawing/2014/main" id="{CC035B35-D188-4D91-9FAC-C81A34A31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科研问答</a:t>
            </a:r>
          </a:p>
        </p:txBody>
      </p:sp>
      <p:sp>
        <p:nvSpPr>
          <p:cNvPr id="6" name="text-107">
            <a:extLst xmlns:a="http://schemas.openxmlformats.org/drawingml/2006/main">
              <a:ext uri="{FF2B5EF4-FFF2-40B4-BE49-F238E27FC236}">
                <a16:creationId xmlns:a16="http://schemas.microsoft.com/office/drawing/2014/main" id="{A4B49723-05A6-472D-A466-1D4A1862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762125"/>
            <a:ext cx="5191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原文证据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B0765-0760-423B-9B83-596F8243E1F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b45562ec945de"/>
          <a:srcRect xmlns:a="http://schemas.openxmlformats.org/drawingml/2006/main" l="22000" t="0" r="1500" b="6000"/>
          <a:stretch xmlns:a="http://schemas.openxmlformats.org/drawingml/2006/main"/>
        </p:blipFill>
        <p:spPr>
          <a:xfrm xmlns:a="http://schemas.openxmlformats.org/drawingml/2006/main">
            <a:off x="685800" y="2308027"/>
            <a:ext cx="5238750" cy="2946797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3206F1-AE0D-43B6-B06E-5E71A03397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d22241d20445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315075" y="2321421"/>
            <a:ext cx="5191125" cy="2920008"/>
          </a:xfrm>
          <a:prstGeom xmlns:a="http://schemas.openxmlformats.org/drawingml/2006/main" prst="rect">
            <a:avLst/>
          </a:prstGeom>
        </p:spPr>
      </p:pic>
      <p:sp>
        <p:nvSpPr>
          <p:cNvPr id="9" name="text-108">
            <a:extLst xmlns:a="http://schemas.openxmlformats.org/drawingml/2006/main">
              <a:ext uri="{FF2B5EF4-FFF2-40B4-BE49-F238E27FC236}">
                <a16:creationId xmlns:a16="http://schemas.microsoft.com/office/drawing/2014/main" id="{4ADF2019-DC4D-40FA-A16C-C6C44CCBA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53075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回答、来源与执行过程同时保留</a:t>
            </a:r>
          </a:p>
        </p:txBody>
      </p:sp>
      <p:sp>
        <p:nvSpPr>
          <p:cNvPr id="10" name="text-109">
            <a:extLst xmlns:a="http://schemas.openxmlformats.org/drawingml/2006/main">
              <a:ext uri="{FF2B5EF4-FFF2-40B4-BE49-F238E27FC236}">
                <a16:creationId xmlns:a16="http://schemas.microsoft.com/office/drawing/2014/main" id="{4BC52AED-061B-4786-9787-4E5F55B85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5553075"/>
            <a:ext cx="5191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原文页预览与片段位置相互核对</a:t>
            </a:r>
          </a:p>
        </p:txBody>
      </p:sp>
    </p:spTree>
    <p:extLst>
      <p:ext uri="{BB962C8B-B14F-4D97-AF65-F5344CB8AC3E}">
        <p14:creationId xmlns:p14="http://schemas.microsoft.com/office/powerpoint/2010/main" val="1406052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47738D57-5B6A-4519-AD33-12425B6C0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评测设计与数据划分</a:t>
            </a:r>
          </a:p>
        </p:txBody>
      </p:sp>
      <p:sp>
        <p:nvSpPr>
          <p:cNvPr id="2" name="text-111">
            <a:extLst xmlns:a="http://schemas.openxmlformats.org/drawingml/2006/main">
              <a:ext uri="{FF2B5EF4-FFF2-40B4-BE49-F238E27FC236}">
                <a16:creationId xmlns:a16="http://schemas.microsoft.com/office/drawing/2014/main" id="{E650E944-DDD0-47FA-AD1E-D0A82CB5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固定10篇视觉Transformer论文，以20道开发题选配置、60道测试题记录结果</a:t>
            </a:r>
          </a:p>
        </p:txBody>
      </p:sp>
      <p:sp>
        <p:nvSpPr>
          <p:cNvPr id="3" name="text-112">
            <a:extLst xmlns:a="http://schemas.openxmlformats.org/drawingml/2006/main">
              <a:ext uri="{FF2B5EF4-FFF2-40B4-BE49-F238E27FC236}">
                <a16:creationId xmlns:a16="http://schemas.microsoft.com/office/drawing/2014/main" id="{074D629E-DE45-4815-A3A6-D9C31C70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共80题、169物理页。测试集评测使用历史冻结的359片段索引。</a:t>
            </a:r>
          </a:p>
        </p:txBody>
      </p:sp>
      <p:sp>
        <p:nvSpPr>
          <p:cNvPr id="4" name="text-113">
            <a:extLst xmlns:a="http://schemas.openxmlformats.org/drawingml/2006/main">
              <a:ext uri="{FF2B5EF4-FFF2-40B4-BE49-F238E27FC236}">
                <a16:creationId xmlns:a16="http://schemas.microsoft.com/office/drawing/2014/main" id="{94F37A46-71B7-4B02-9C7F-D69470A3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BEB31C0B-D67C-4FBC-BB9A-45CBE634CA3B}"/>
              </a:ext>
            </a:extLst>
          </p:cNvPr>
          <p:cNvGraphicFramePr/>
          <p:nvPr/>
        </p:nvGraphicFramePr>
        <p:xfrm>
          <a:off xmlns:a="http://schemas.openxmlformats.org/drawingml/2006/main" x="571500" y="1847850"/>
          <a:ext xmlns:a="http://schemas.openxmlformats.org/drawingml/2006/main" cx="7200900" cy="4124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5cd78b50d04dd7"/>
          </a:graphicData>
        </a:graphic>
      </p:graphicFrame>
      <p:sp>
        <p:nvSpPr>
          <p:cNvPr id="6" name="text-114">
            <a:extLst xmlns:a="http://schemas.openxmlformats.org/drawingml/2006/main">
              <a:ext uri="{FF2B5EF4-FFF2-40B4-BE49-F238E27FC236}">
                <a16:creationId xmlns:a16="http://schemas.microsoft.com/office/drawing/2014/main" id="{56D49F20-9F60-46E1-B2A4-23DB0487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5265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三类结果分别解释</a:t>
            </a:r>
          </a:p>
        </p:txBody>
      </p:sp>
      <p:sp>
        <p:nvSpPr>
          <p:cNvPr id="7" name="text-115">
            <a:extLst xmlns:a="http://schemas.openxmlformats.org/drawingml/2006/main">
              <a:ext uri="{FF2B5EF4-FFF2-40B4-BE49-F238E27FC236}">
                <a16:creationId xmlns:a16="http://schemas.microsoft.com/office/drawing/2014/main" id="{DCC0F0D6-AAA9-4B2D-A7BD-59635C332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76525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开发实验、正式检索评测、本地工作流验收分别保存配置。</a:t>
            </a:r>
          </a:p>
        </p:txBody>
      </p:sp>
      <p:sp>
        <p:nvSpPr>
          <p:cNvPr id="8" name="text-116">
            <a:extLst xmlns:a="http://schemas.openxmlformats.org/drawingml/2006/main">
              <a:ext uri="{FF2B5EF4-FFF2-40B4-BE49-F238E27FC236}">
                <a16:creationId xmlns:a16="http://schemas.microsoft.com/office/drawing/2014/main" id="{621D651F-249C-47A5-ABAE-EEE64ED9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3219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题号配对比较</a:t>
            </a:r>
          </a:p>
        </p:txBody>
      </p:sp>
      <p:sp>
        <p:nvSpPr>
          <p:cNvPr id="9" name="text-117">
            <a:extLst xmlns:a="http://schemas.openxmlformats.org/drawingml/2006/main">
              <a:ext uri="{FF2B5EF4-FFF2-40B4-BE49-F238E27FC236}">
                <a16:creationId xmlns:a16="http://schemas.microsoft.com/office/drawing/2014/main" id="{CBCED5DA-B1E9-4126-A2EE-99A1626C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81525"/>
            <a:ext cx="32194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同题在三种模式间配对。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避免用不同题集计算增益。</a:t>
            </a:r>
          </a:p>
        </p:txBody>
      </p:sp>
    </p:spTree>
    <p:extLst>
      <p:ext uri="{BB962C8B-B14F-4D97-AF65-F5344CB8AC3E}">
        <p14:creationId xmlns:p14="http://schemas.microsoft.com/office/powerpoint/2010/main" val="8459847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16">
            <a:extLst xmlns:a="http://schemas.openxmlformats.org/drawingml/2006/main">
              <a:ext uri="{FF2B5EF4-FFF2-40B4-BE49-F238E27FC236}">
                <a16:creationId xmlns:a16="http://schemas.microsoft.com/office/drawing/2014/main" id="{D3B6F478-B11B-4543-B924-AC6E973A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重排改善证据覆盖，也增加CPU排序成本</a:t>
            </a:r>
          </a:p>
        </p:txBody>
      </p:sp>
      <p:sp>
        <p:nvSpPr>
          <p:cNvPr id="2" name="refined-17">
            <a:extLst xmlns:a="http://schemas.openxmlformats.org/drawingml/2006/main">
              <a:ext uri="{FF2B5EF4-FFF2-40B4-BE49-F238E27FC236}">
                <a16:creationId xmlns:a16="http://schemas.microsoft.com/office/drawing/2014/main" id="{66465764-6D1D-4631-9A6D-AFBCF717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相同60题，历史359片段索引；排序计时排除共享查询编码与LLM</a:t>
            </a:r>
          </a:p>
        </p:txBody>
      </p:sp>
      <p:sp>
        <p:nvSpPr>
          <p:cNvPr id="3" name="refined-18">
            <a:extLst xmlns:a="http://schemas.openxmlformats.org/drawingml/2006/main">
              <a:ext uri="{FF2B5EF4-FFF2-40B4-BE49-F238E27FC236}">
                <a16:creationId xmlns:a16="http://schemas.microsoft.com/office/drawing/2014/main" id="{395CF518-B9A5-4E25-83E0-897FFE35B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来源：报告fig07。图中耗时为排序环节，不是完整在线问答耗时。</a:t>
            </a:r>
          </a:p>
        </p:txBody>
      </p:sp>
      <p:sp>
        <p:nvSpPr>
          <p:cNvPr id="4" name="refined-19">
            <a:extLst xmlns:a="http://schemas.openxmlformats.org/drawingml/2006/main">
              <a:ext uri="{FF2B5EF4-FFF2-40B4-BE49-F238E27FC236}">
                <a16:creationId xmlns:a16="http://schemas.microsoft.com/office/drawing/2014/main" id="{5D37B913-2E5E-47E4-AC91-622DE929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A67D6-92A0-4154-B605-2BDB9E47169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5c4fae64e4339"/>
          <a:srcRect xmlns:a="http://schemas.openxmlformats.org/drawingml/2006/main" l="1200" t="17300" r="800" b="6500"/>
          <a:stretch xmlns:a="http://schemas.openxmlformats.org/drawingml/2006/main"/>
        </p:blipFill>
        <p:spPr>
          <a:xfrm xmlns:a="http://schemas.openxmlformats.org/drawingml/2006/main">
            <a:off x="1374635" y="1704975"/>
            <a:ext cx="9442731" cy="4124325"/>
          </a:xfrm>
          <a:prstGeom xmlns:a="http://schemas.openxmlformats.org/drawingml/2006/main" prst="rect">
            <a:avLst/>
          </a:prstGeom>
        </p:spPr>
      </p:pic>
      <p:sp>
        <p:nvSpPr>
          <p:cNvPr id="6" name="refined-20">
            <a:extLst xmlns:a="http://schemas.openxmlformats.org/drawingml/2006/main">
              <a:ext uri="{FF2B5EF4-FFF2-40B4-BE49-F238E27FC236}">
                <a16:creationId xmlns:a16="http://schemas.microsoft.com/office/drawing/2014/main" id="{57F5E8A6-331A-42D3-B478-63A049D0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43600"/>
            <a:ext cx="1102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Hit@5：41.67%提高至61.67%     重排平均排序耗时：16.71秒</a:t>
            </a:r>
          </a:p>
        </p:txBody>
      </p:sp>
    </p:spTree>
    <p:extLst>
      <p:ext uri="{BB962C8B-B14F-4D97-AF65-F5344CB8AC3E}">
        <p14:creationId xmlns:p14="http://schemas.microsoft.com/office/powerpoint/2010/main" val="167359505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21">
            <a:extLst xmlns:a="http://schemas.openxmlformats.org/drawingml/2006/main">
              <a:ext uri="{FF2B5EF4-FFF2-40B4-BE49-F238E27FC236}">
                <a16:creationId xmlns:a16="http://schemas.microsoft.com/office/drawing/2014/main" id="{3D449C10-FC01-49A9-9189-441CFFA0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配对效应显示增益及其不确定性</a:t>
            </a:r>
          </a:p>
        </p:txBody>
      </p:sp>
      <p:sp>
        <p:nvSpPr>
          <p:cNvPr id="2" name="refined-22">
            <a:extLst xmlns:a="http://schemas.openxmlformats.org/drawingml/2006/main">
              <a:ext uri="{FF2B5EF4-FFF2-40B4-BE49-F238E27FC236}">
                <a16:creationId xmlns:a16="http://schemas.microsoft.com/office/drawing/2014/main" id="{5250953A-69AE-45F3-A161-F40D948A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60题同题配对，10,000次Bootstrap，95%百分位区间</a:t>
            </a:r>
          </a:p>
        </p:txBody>
      </p:sp>
      <p:sp>
        <p:nvSpPr>
          <p:cNvPr id="3" name="refined-23">
            <a:extLst xmlns:a="http://schemas.openxmlformats.org/drawingml/2006/main">
              <a:ext uri="{FF2B5EF4-FFF2-40B4-BE49-F238E27FC236}">
                <a16:creationId xmlns:a16="http://schemas.microsoft.com/office/drawing/2014/main" id="{EF90E7B4-7B28-4852-A839-D2EAB4218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来源：报告fig18。区间描述题目抽样不确定性，不表示重复模型运行方差。</a:t>
            </a:r>
          </a:p>
        </p:txBody>
      </p:sp>
      <p:sp>
        <p:nvSpPr>
          <p:cNvPr id="4" name="refined-24">
            <a:extLst xmlns:a="http://schemas.openxmlformats.org/drawingml/2006/main">
              <a:ext uri="{FF2B5EF4-FFF2-40B4-BE49-F238E27FC236}">
                <a16:creationId xmlns:a16="http://schemas.microsoft.com/office/drawing/2014/main" id="{81D9E9D5-E2DE-4B97-BFC0-118B4432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F0358F-0E72-4832-AFB9-121CE295A4A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3bf896826c4a3d"/>
          <a:srcRect xmlns:a="http://schemas.openxmlformats.org/drawingml/2006/main" l="1200" t="16500" r="800" b="8000"/>
          <a:stretch xmlns:a="http://schemas.openxmlformats.org/drawingml/2006/main"/>
        </p:blipFill>
        <p:spPr>
          <a:xfrm xmlns:a="http://schemas.openxmlformats.org/drawingml/2006/main">
            <a:off x="558473" y="1847850"/>
            <a:ext cx="11056004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refined-25">
            <a:extLst xmlns:a="http://schemas.openxmlformats.org/drawingml/2006/main">
              <a:ext uri="{FF2B5EF4-FFF2-40B4-BE49-F238E27FC236}">
                <a16:creationId xmlns:a16="http://schemas.microsoft.com/office/drawing/2014/main" id="{10CE2DA9-3B5D-4329-A9B9-C100FF8E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43600"/>
            <a:ext cx="110204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重排相对向量的Hit@5增益为20个百分点；原图横轴以0–1指标差表示。</a:t>
            </a:r>
          </a:p>
        </p:txBody>
      </p:sp>
    </p:spTree>
    <p:extLst>
      <p:ext uri="{BB962C8B-B14F-4D97-AF65-F5344CB8AC3E}">
        <p14:creationId xmlns:p14="http://schemas.microsoft.com/office/powerpoint/2010/main" val="3655466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fined-26">
            <a:extLst xmlns:a="http://schemas.openxmlformats.org/drawingml/2006/main">
              <a:ext uri="{FF2B5EF4-FFF2-40B4-BE49-F238E27FC236}">
                <a16:creationId xmlns:a16="http://schemas.microsoft.com/office/drawing/2014/main" id="{E0E80446-ED3E-4543-A9D8-B2D3321F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流畅性较高，仍需核查事实与引用</a:t>
            </a:r>
          </a:p>
        </p:txBody>
      </p:sp>
      <p:sp>
        <p:nvSpPr>
          <p:cNvPr id="2" name="refined-27">
            <a:extLst xmlns:a="http://schemas.openxmlformats.org/drawingml/2006/main">
              <a:ext uri="{FF2B5EF4-FFF2-40B4-BE49-F238E27FC236}">
                <a16:creationId xmlns:a16="http://schemas.microsoft.com/office/drawing/2014/main" id="{8C873A3B-824D-45A9-AF49-A4155EF7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60条回答，AI辅助1–5分评分；流畅性均分4.58，完整性2.98</a:t>
            </a:r>
          </a:p>
        </p:txBody>
      </p:sp>
      <p:sp>
        <p:nvSpPr>
          <p:cNvPr id="3" name="refined-28">
            <a:extLst xmlns:a="http://schemas.openxmlformats.org/drawingml/2006/main">
              <a:ext uri="{FF2B5EF4-FFF2-40B4-BE49-F238E27FC236}">
                <a16:creationId xmlns:a16="http://schemas.microsoft.com/office/drawing/2014/main" id="{28EFF612-5FD2-411A-B628-69255B18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来源：报告fig11-A、fig20-C。尚无独立人工评分；有序量表均分不解释为正确率。</a:t>
            </a:r>
          </a:p>
        </p:txBody>
      </p:sp>
      <p:sp>
        <p:nvSpPr>
          <p:cNvPr id="4" name="refined-29">
            <a:extLst xmlns:a="http://schemas.openxmlformats.org/drawingml/2006/main">
              <a:ext uri="{FF2B5EF4-FFF2-40B4-BE49-F238E27FC236}">
                <a16:creationId xmlns:a16="http://schemas.microsoft.com/office/drawing/2014/main" id="{16708134-19EA-4C99-A37B-195AB581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3FEDBD-9132-45FB-B202-CF99B1F77C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a1f70da4b440f"/>
          <a:srcRect xmlns:a="http://schemas.openxmlformats.org/drawingml/2006/main" l="2500" t="18000" r="46000" b="14500"/>
          <a:stretch xmlns:a="http://schemas.openxmlformats.org/drawingml/2006/main"/>
        </p:blipFill>
        <p:spPr>
          <a:xfrm xmlns:a="http://schemas.openxmlformats.org/drawingml/2006/main">
            <a:off x="937082" y="1781175"/>
            <a:ext cx="5317211" cy="3914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8178F6-2150-45E9-9E37-9310823680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384f80f9c400c"/>
          <a:srcRect xmlns:a="http://schemas.openxmlformats.org/drawingml/2006/main" l="2500" t="51000" r="51500" b="7500"/>
          <a:stretch xmlns:a="http://schemas.openxmlformats.org/drawingml/2006/main"/>
        </p:blipFill>
        <p:spPr>
          <a:xfrm xmlns:a="http://schemas.openxmlformats.org/drawingml/2006/main">
            <a:off x="7000875" y="2140666"/>
            <a:ext cx="4619625" cy="3138642"/>
          </a:xfrm>
          <a:prstGeom xmlns:a="http://schemas.openxmlformats.org/drawingml/2006/main" prst="rect">
            <a:avLst/>
          </a:prstGeom>
        </p:spPr>
      </p:pic>
      <p:sp>
        <p:nvSpPr>
          <p:cNvPr id="7" name="refined-30">
            <a:extLst xmlns:a="http://schemas.openxmlformats.org/drawingml/2006/main">
              <a:ext uri="{FF2B5EF4-FFF2-40B4-BE49-F238E27FC236}">
                <a16:creationId xmlns:a16="http://schemas.microsoft.com/office/drawing/2014/main" id="{E6DCC0BB-131A-4D18-8D97-814F9A68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43575"/>
            <a:ext cx="6191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左图颜色由浅到深表示1–5分</a:t>
            </a:r>
          </a:p>
        </p:txBody>
      </p:sp>
      <p:sp>
        <p:nvSpPr>
          <p:cNvPr id="8" name="refined-31">
            <a:extLst xmlns:a="http://schemas.openxmlformats.org/drawingml/2006/main">
              <a:ext uri="{FF2B5EF4-FFF2-40B4-BE49-F238E27FC236}">
                <a16:creationId xmlns:a16="http://schemas.microsoft.com/office/drawing/2014/main" id="{E3335CD9-5DB3-4894-9E09-505F7393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81700"/>
            <a:ext cx="110204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13/60条回答流畅性≥4，但正确性≤2</a:t>
            </a:r>
          </a:p>
        </p:txBody>
      </p:sp>
    </p:spTree>
    <p:extLst>
      <p:ext uri="{BB962C8B-B14F-4D97-AF65-F5344CB8AC3E}">
        <p14:creationId xmlns:p14="http://schemas.microsoft.com/office/powerpoint/2010/main" val="10705783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fined-32">
            <a:extLst xmlns:a="http://schemas.openxmlformats.org/drawingml/2006/main">
              <a:ext uri="{FF2B5EF4-FFF2-40B4-BE49-F238E27FC236}">
                <a16:creationId xmlns:a16="http://schemas.microsoft.com/office/drawing/2014/main" id="{B1B0EBFE-5C2F-4F69-A7F2-20515BDA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Prompt约束主要改善引用支撑</a:t>
            </a:r>
          </a:p>
        </p:txBody>
      </p:sp>
      <p:sp>
        <p:nvSpPr>
          <p:cNvPr id="2" name="refined-33">
            <a:extLst xmlns:a="http://schemas.openxmlformats.org/drawingml/2006/main">
              <a:ext uri="{FF2B5EF4-FFF2-40B4-BE49-F238E27FC236}">
                <a16:creationId xmlns:a16="http://schemas.microsoft.com/office/drawing/2014/main" id="{0F97A0D8-CB26-4D5F-BBF8-F7F2C787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四道开发题、相同冻结上下文；引用支撑平均提高1.00分</a:t>
            </a:r>
          </a:p>
        </p:txBody>
      </p:sp>
      <p:sp>
        <p:nvSpPr>
          <p:cNvPr id="3" name="refined-34">
            <a:extLst xmlns:a="http://schemas.openxmlformats.org/drawingml/2006/main">
              <a:ext uri="{FF2B5EF4-FFF2-40B4-BE49-F238E27FC236}">
                <a16:creationId xmlns:a16="http://schemas.microsoft.com/office/drawing/2014/main" id="{969AD05E-1619-4650-80E5-EA7592623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来源：报告fig21。每题每条件单次生成，当前Prompt复用既有基线，均值提高不代表每题改善。</a:t>
            </a:r>
          </a:p>
        </p:txBody>
      </p:sp>
      <p:sp>
        <p:nvSpPr>
          <p:cNvPr id="4" name="refined-35">
            <a:extLst xmlns:a="http://schemas.openxmlformats.org/drawingml/2006/main">
              <a:ext uri="{FF2B5EF4-FFF2-40B4-BE49-F238E27FC236}">
                <a16:creationId xmlns:a16="http://schemas.microsoft.com/office/drawing/2014/main" id="{A7D63FF6-48F6-4140-B467-435C76D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B5083-0C28-443C-84EF-F585693F84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2137682d2462a"/>
          <a:srcRect xmlns:a="http://schemas.openxmlformats.org/drawingml/2006/main" l="1200" t="15000" r="800" b="200"/>
          <a:stretch xmlns:a="http://schemas.openxmlformats.org/drawingml/2006/main"/>
        </p:blipFill>
        <p:spPr>
          <a:xfrm xmlns:a="http://schemas.openxmlformats.org/drawingml/2006/main">
            <a:off x="730081" y="1724025"/>
            <a:ext cx="10722313" cy="44672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8665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145">
            <a:extLst xmlns:a="http://schemas.openxmlformats.org/drawingml/2006/main">
              <a:ext uri="{FF2B5EF4-FFF2-40B4-BE49-F238E27FC236}">
                <a16:creationId xmlns:a16="http://schemas.microsoft.com/office/drawing/2014/main" id="{BE7FA5C4-2F6A-4535-861B-30678E6C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加分设计：按条件约束论文比较</a:t>
            </a:r>
          </a:p>
        </p:txBody>
      </p:sp>
      <p:sp>
        <p:nvSpPr>
          <p:cNvPr id="2" name="text-146">
            <a:extLst xmlns:a="http://schemas.openxmlformats.org/drawingml/2006/main">
              <a:ext uri="{FF2B5EF4-FFF2-40B4-BE49-F238E27FC236}">
                <a16:creationId xmlns:a16="http://schemas.microsoft.com/office/drawing/2014/main" id="{C5925ECA-9ECF-4B12-92FE-DE7E08DE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在比较结果中同时核对任务、数据集、指标和训练条件</a:t>
            </a:r>
          </a:p>
        </p:txBody>
      </p:sp>
      <p:sp>
        <p:nvSpPr>
          <p:cNvPr id="3" name="text-147">
            <a:extLst xmlns:a="http://schemas.openxmlformats.org/drawingml/2006/main">
              <a:ext uri="{FF2B5EF4-FFF2-40B4-BE49-F238E27FC236}">
                <a16:creationId xmlns:a16="http://schemas.microsoft.com/office/drawing/2014/main" id="{D760E343-6A87-4BAD-9B1C-19F4B94C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真实论文比较界面，2026-10-10历史记录。结构有效仍需逐项语义核查。</a:t>
            </a:r>
          </a:p>
        </p:txBody>
      </p:sp>
      <p:sp>
        <p:nvSpPr>
          <p:cNvPr id="4" name="text-148">
            <a:extLst xmlns:a="http://schemas.openxmlformats.org/drawingml/2006/main">
              <a:ext uri="{FF2B5EF4-FFF2-40B4-BE49-F238E27FC236}">
                <a16:creationId xmlns:a16="http://schemas.microsoft.com/office/drawing/2014/main" id="{778A0CE5-02A6-4FA7-83AD-D8E3FEEC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33CC1-CEC2-40E5-9F08-1DC36BB78C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6926df49e4cb1"/>
          <a:srcRect xmlns:a="http://schemas.openxmlformats.org/drawingml/2006/main" l="21000" t="2000" r="1000" b="6000"/>
          <a:stretch xmlns:a="http://schemas.openxmlformats.org/drawingml/2006/main"/>
        </p:blipFill>
        <p:spPr>
          <a:xfrm xmlns:a="http://schemas.openxmlformats.org/drawingml/2006/main">
            <a:off x="4000500" y="1818084"/>
            <a:ext cx="7505700" cy="4221956"/>
          </a:xfrm>
          <a:prstGeom xmlns:a="http://schemas.openxmlformats.org/drawingml/2006/main" prst="rect">
            <a:avLst/>
          </a:prstGeom>
        </p:spPr>
      </p:pic>
      <p:sp>
        <p:nvSpPr>
          <p:cNvPr id="6" name="text-149">
            <a:extLst xmlns:a="http://schemas.openxmlformats.org/drawingml/2006/main">
              <a:ext uri="{FF2B5EF4-FFF2-40B4-BE49-F238E27FC236}">
                <a16:creationId xmlns:a16="http://schemas.microsoft.com/office/drawing/2014/main" id="{72F5F618-2C16-43DB-904C-5E700B3F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2962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</a:p>
        </p:txBody>
      </p:sp>
      <p:sp>
        <p:nvSpPr>
          <p:cNvPr id="7" name="text-150">
            <a:extLst xmlns:a="http://schemas.openxmlformats.org/drawingml/2006/main">
              <a:ext uri="{FF2B5EF4-FFF2-40B4-BE49-F238E27FC236}">
                <a16:creationId xmlns:a16="http://schemas.microsoft.com/office/drawing/2014/main" id="{BBABD7D7-9EA1-4A46-90E4-1644CD9A5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29622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按固定行列生成，逐列检查来源与数值。</a:t>
            </a:r>
          </a:p>
        </p:txBody>
      </p:sp>
      <p:sp>
        <p:nvSpPr>
          <p:cNvPr id="8" name="text-151">
            <a:extLst xmlns:a="http://schemas.openxmlformats.org/drawingml/2006/main">
              <a:ext uri="{FF2B5EF4-FFF2-40B4-BE49-F238E27FC236}">
                <a16:creationId xmlns:a16="http://schemas.microsoft.com/office/drawing/2014/main" id="{DAD76B29-B2FB-43B0-83FB-ACEA8058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9622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比较边界</a:t>
            </a:r>
          </a:p>
        </p:txBody>
      </p:sp>
      <p:sp>
        <p:nvSpPr>
          <p:cNvPr id="9" name="text-152">
            <a:extLst xmlns:a="http://schemas.openxmlformats.org/drawingml/2006/main">
              <a:ext uri="{FF2B5EF4-FFF2-40B4-BE49-F238E27FC236}">
                <a16:creationId xmlns:a16="http://schemas.microsoft.com/office/drawing/2014/main" id="{B39F9F0F-A9C6-49CF-8C5E-3BC92A89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29622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条件不足时保留说明，避免合并不一致的性能数字。</a:t>
            </a:r>
          </a:p>
        </p:txBody>
      </p:sp>
    </p:spTree>
    <p:extLst>
      <p:ext uri="{BB962C8B-B14F-4D97-AF65-F5344CB8AC3E}">
        <p14:creationId xmlns:p14="http://schemas.microsoft.com/office/powerpoint/2010/main" val="13494786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fined-36">
            <a:extLst xmlns:a="http://schemas.openxmlformats.org/drawingml/2006/main">
              <a:ext uri="{FF2B5EF4-FFF2-40B4-BE49-F238E27FC236}">
                <a16:creationId xmlns:a16="http://schemas.microsoft.com/office/drawing/2014/main" id="{BA318828-F7C7-4D26-9AC3-7A3981C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Bad Case统计与页码校正</a:t>
            </a:r>
          </a:p>
        </p:txBody>
      </p:sp>
      <p:sp>
        <p:nvSpPr>
          <p:cNvPr id="2" name="refined-37">
            <a:extLst xmlns:a="http://schemas.openxmlformats.org/drawingml/2006/main">
              <a:ext uri="{FF2B5EF4-FFF2-40B4-BE49-F238E27FC236}">
                <a16:creationId xmlns:a16="http://schemas.microsoft.com/office/drawing/2014/main" id="{E81ACBB3-E45A-4C3E-AB2B-8B8526FA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60题历史基线评审的错误标签频数，与一项实际修复案例</a:t>
            </a:r>
          </a:p>
        </p:txBody>
      </p:sp>
      <p:sp>
        <p:nvSpPr>
          <p:cNvPr id="3" name="refined-38">
            <a:extLst xmlns:a="http://schemas.openxmlformats.org/drawingml/2006/main">
              <a:ext uri="{FF2B5EF4-FFF2-40B4-BE49-F238E27FC236}">
                <a16:creationId xmlns:a16="http://schemas.microsoft.com/office/drawing/2014/main" id="{89906FF3-83C2-4603-9AFF-35136708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来源：报告fig17-A及BC-CITATION-01。标签可重叠，Agent零标签不说明专项Agent没有错误。</a:t>
            </a:r>
          </a:p>
        </p:txBody>
      </p:sp>
      <p:sp>
        <p:nvSpPr>
          <p:cNvPr id="4" name="refined-39">
            <a:extLst xmlns:a="http://schemas.openxmlformats.org/drawingml/2006/main">
              <a:ext uri="{FF2B5EF4-FFF2-40B4-BE49-F238E27FC236}">
                <a16:creationId xmlns:a16="http://schemas.microsoft.com/office/drawing/2014/main" id="{C6FF09FC-FEBB-47F8-A9FC-29B6A12C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efined-40">
            <a:extLst xmlns:a="http://schemas.openxmlformats.org/drawingml/2006/main">
              <a:ext uri="{FF2B5EF4-FFF2-40B4-BE49-F238E27FC236}">
                <a16:creationId xmlns:a16="http://schemas.microsoft.com/office/drawing/2014/main" id="{70437BCE-A4D4-4811-AB39-15F85AE6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5810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错误标签频数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D02882-ECD0-43D5-BF39-978D758716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18e29119db48cf"/>
          <a:srcRect xmlns:a="http://schemas.openxmlformats.org/drawingml/2006/main" l="1200" t="21500" r="49000" b="12000"/>
          <a:stretch xmlns:a="http://schemas.openxmlformats.org/drawingml/2006/main"/>
        </p:blipFill>
        <p:spPr>
          <a:xfrm xmlns:a="http://schemas.openxmlformats.org/drawingml/2006/main">
            <a:off x="1079531" y="2324100"/>
            <a:ext cx="4832288" cy="3505200"/>
          </a:xfrm>
          <a:prstGeom xmlns:a="http://schemas.openxmlformats.org/drawingml/2006/main" prst="rect">
            <a:avLst/>
          </a:prstGeom>
        </p:spPr>
      </p:pic>
      <p:sp>
        <p:nvSpPr>
          <p:cNvPr id="7" name="refined-41">
            <a:extLst xmlns:a="http://schemas.openxmlformats.org/drawingml/2006/main">
              <a:ext uri="{FF2B5EF4-FFF2-40B4-BE49-F238E27FC236}">
                <a16:creationId xmlns:a16="http://schemas.microsoft.com/office/drawing/2014/main" id="{32C02C7E-81C3-4DDB-8E07-CD329275B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引用页码修复</a:t>
            </a:r>
          </a:p>
        </p:txBody>
      </p:sp>
      <p:sp>
        <p:nvSpPr>
          <p:cNvPr id="8" name="refined-42">
            <a:extLst xmlns:a="http://schemas.openxmlformats.org/drawingml/2006/main">
              <a:ext uri="{FF2B5EF4-FFF2-40B4-BE49-F238E27FC236}">
                <a16:creationId xmlns:a16="http://schemas.microsoft.com/office/drawing/2014/main" id="{288D7FF1-FD99-4247-9A23-449020A4B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47950"/>
            <a:ext cx="45720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错误：第4页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来源：物理页2</a:t>
            </a:r>
          </a:p>
        </p:txBody>
      </p:sp>
      <p:sp>
        <p:nvSpPr>
          <p:cNvPr id="9" name="refined-43">
            <a:extLst xmlns:a="http://schemas.openxmlformats.org/drawingml/2006/main">
              <a:ext uri="{FF2B5EF4-FFF2-40B4-BE49-F238E27FC236}">
                <a16:creationId xmlns:a16="http://schemas.microsoft.com/office/drawing/2014/main" id="{62D8C6A4-B823-4705-9BE6-09D3C84F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43375"/>
            <a:ext cx="44386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服务器使用原文元数据维护页码映射，合并来源逐一核对。</a:t>
            </a:r>
          </a:p>
        </p:txBody>
      </p:sp>
      <p:sp>
        <p:nvSpPr>
          <p:cNvPr id="10" name="refined-44">
            <a:extLst xmlns:a="http://schemas.openxmlformats.org/drawingml/2006/main">
              <a:ext uri="{FF2B5EF4-FFF2-40B4-BE49-F238E27FC236}">
                <a16:creationId xmlns:a16="http://schemas.microsoft.com/office/drawing/2014/main" id="{EC389F3A-9419-4689-83C1-F856CF05C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381625"/>
            <a:ext cx="4438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来源存在仍不等于论断受到充分支持。</a:t>
            </a:r>
          </a:p>
        </p:txBody>
      </p:sp>
    </p:spTree>
    <p:extLst>
      <p:ext uri="{BB962C8B-B14F-4D97-AF65-F5344CB8AC3E}">
        <p14:creationId xmlns:p14="http://schemas.microsoft.com/office/powerpoint/2010/main" val="20421666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fined-45">
            <a:extLst xmlns:a="http://schemas.openxmlformats.org/drawingml/2006/main">
              <a:ext uri="{FF2B5EF4-FFF2-40B4-BE49-F238E27FC236}">
                <a16:creationId xmlns:a16="http://schemas.microsoft.com/office/drawing/2014/main" id="{7FF728A2-4414-48F4-8C4B-018BB0FA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本地验收与单次请求的时间构成</a:t>
            </a:r>
          </a:p>
        </p:txBody>
      </p:sp>
      <p:sp>
        <p:nvSpPr>
          <p:cNvPr id="2" name="refined-46">
            <a:extLst xmlns:a="http://schemas.openxmlformats.org/drawingml/2006/main">
              <a:ext uri="{FF2B5EF4-FFF2-40B4-BE49-F238E27FC236}">
                <a16:creationId xmlns:a16="http://schemas.microsoft.com/office/drawing/2014/main" id="{D2A70F72-6134-45BC-AEFE-18167317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2026-10-15，真实模型，独立29片段工作区，127.0.0.1运行</a:t>
            </a:r>
          </a:p>
        </p:txBody>
      </p:sp>
      <p:sp>
        <p:nvSpPr>
          <p:cNvPr id="3" name="refined-47">
            <a:extLst xmlns:a="http://schemas.openxmlformats.org/drawingml/2006/main">
              <a:ext uri="{FF2B5EF4-FFF2-40B4-BE49-F238E27FC236}">
                <a16:creationId xmlns:a16="http://schemas.microsoft.com/office/drawing/2014/main" id="{46F96816-F4E5-4E92-ACD0-D81ED65B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来源：报告fig16-A与本地记录。计时范围重叠，不可相加；流程通过不等于语义质量全部通过。</a:t>
            </a:r>
          </a:p>
        </p:txBody>
      </p:sp>
      <p:sp>
        <p:nvSpPr>
          <p:cNvPr id="4" name="refined-48">
            <a:extLst xmlns:a="http://schemas.openxmlformats.org/drawingml/2006/main">
              <a:ext uri="{FF2B5EF4-FFF2-40B4-BE49-F238E27FC236}">
                <a16:creationId xmlns:a16="http://schemas.microsoft.com/office/drawing/2014/main" id="{E08A1629-D554-4A9D-8FFB-132D5D11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refined-49">
            <a:extLst xmlns:a="http://schemas.openxmlformats.org/drawingml/2006/main">
              <a:ext uri="{FF2B5EF4-FFF2-40B4-BE49-F238E27FC236}">
                <a16:creationId xmlns:a16="http://schemas.microsoft.com/office/drawing/2014/main" id="{1D765415-E9D5-44B2-A0E9-0979941C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57375"/>
            <a:ext cx="66484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单次请求的重叠计时范围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4FBCE-0765-4604-B20A-DF3C7EE8D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5d02478ee645bc"/>
          <a:srcRect xmlns:a="http://schemas.openxmlformats.org/drawingml/2006/main" l="1500" t="21500" r="44500" b="15000"/>
          <a:stretch xmlns:a="http://schemas.openxmlformats.org/drawingml/2006/main"/>
        </p:blipFill>
        <p:spPr>
          <a:xfrm xmlns:a="http://schemas.openxmlformats.org/drawingml/2006/main">
            <a:off x="1042707" y="2324100"/>
            <a:ext cx="5610786" cy="3543300"/>
          </a:xfrm>
          <a:prstGeom xmlns:a="http://schemas.openxmlformats.org/drawingml/2006/main" prst="rect">
            <a:avLst/>
          </a:prstGeom>
        </p:spPr>
      </p:pic>
      <p:sp>
        <p:nvSpPr>
          <p:cNvPr id="7" name="refined-50">
            <a:extLst xmlns:a="http://schemas.openxmlformats.org/drawingml/2006/main">
              <a:ext uri="{FF2B5EF4-FFF2-40B4-BE49-F238E27FC236}">
                <a16:creationId xmlns:a16="http://schemas.microsoft.com/office/drawing/2014/main" id="{CAEAA9F3-D31A-44CC-AF08-A9E030BC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1914525"/>
            <a:ext cx="3695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33项通过</a:t>
            </a:r>
          </a:p>
        </p:txBody>
      </p:sp>
      <p:sp>
        <p:nvSpPr>
          <p:cNvPr id="8" name="refined-51">
            <a:extLst xmlns:a="http://schemas.openxmlformats.org/drawingml/2006/main">
              <a:ext uri="{FF2B5EF4-FFF2-40B4-BE49-F238E27FC236}">
                <a16:creationId xmlns:a16="http://schemas.microsoft.com/office/drawing/2014/main" id="{8DF16C21-91F6-4EFD-B0D4-BAEE2E1C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714625"/>
            <a:ext cx="3667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0项失败</a:t>
            </a:r>
          </a:p>
        </p:txBody>
      </p:sp>
      <p:sp>
        <p:nvSpPr>
          <p:cNvPr id="9" name="refined-52">
            <a:extLst xmlns:a="http://schemas.openxmlformats.org/drawingml/2006/main">
              <a:ext uri="{FF2B5EF4-FFF2-40B4-BE49-F238E27FC236}">
                <a16:creationId xmlns:a16="http://schemas.microsoft.com/office/drawing/2014/main" id="{9703082C-2A04-4591-97D8-B0B6DD5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90925"/>
            <a:ext cx="3695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3537 / 395</a:t>
            </a:r>
          </a:p>
        </p:txBody>
      </p:sp>
      <p:sp>
        <p:nvSpPr>
          <p:cNvPr id="10" name="refined-53">
            <a:extLst xmlns:a="http://schemas.openxmlformats.org/drawingml/2006/main">
              <a:ext uri="{FF2B5EF4-FFF2-40B4-BE49-F238E27FC236}">
                <a16:creationId xmlns:a16="http://schemas.microsoft.com/office/drawing/2014/main" id="{1A90EF4E-10D2-4812-8582-9D76689E3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3434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实际输入 / 输出Token</a:t>
            </a:r>
          </a:p>
        </p:txBody>
      </p:sp>
      <p:sp>
        <p:nvSpPr>
          <p:cNvPr id="11" name="refined-54">
            <a:extLst xmlns:a="http://schemas.openxmlformats.org/drawingml/2006/main">
              <a:ext uri="{FF2B5EF4-FFF2-40B4-BE49-F238E27FC236}">
                <a16:creationId xmlns:a16="http://schemas.microsoft.com/office/drawing/2014/main" id="{8E4CB677-D1E1-49F4-90D8-08064CBA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095875"/>
            <a:ext cx="36957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C7923A"/>
                </a:solidFill>
                <a:latin typeface="Microsoft YaHei"/>
                <a:ea typeface="Microsoft YaHei"/>
                <a:cs typeface="Microsoft YaHei"/>
              </a:rPr>
              <a:t>34.15秒</a:t>
            </a:r>
          </a:p>
        </p:txBody>
      </p:sp>
      <p:sp>
        <p:nvSpPr>
          <p:cNvPr id="12" name="refined-55">
            <a:extLst xmlns:a="http://schemas.openxmlformats.org/drawingml/2006/main">
              <a:ext uri="{FF2B5EF4-FFF2-40B4-BE49-F238E27FC236}">
                <a16:creationId xmlns:a16="http://schemas.microsoft.com/office/drawing/2014/main" id="{93E7FAC3-C793-436C-8228-41A87BB3C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626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单次端到端问答</a:t>
            </a:r>
          </a:p>
        </p:txBody>
      </p:sp>
    </p:spTree>
    <p:extLst>
      <p:ext uri="{BB962C8B-B14F-4D97-AF65-F5344CB8AC3E}">
        <p14:creationId xmlns:p14="http://schemas.microsoft.com/office/powerpoint/2010/main" val="11296381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6">
            <a:extLst xmlns:a="http://schemas.openxmlformats.org/drawingml/2006/main">
              <a:ext uri="{FF2B5EF4-FFF2-40B4-BE49-F238E27FC236}">
                <a16:creationId xmlns:a16="http://schemas.microsoft.com/office/drawing/2014/main" id="{51778445-DB80-4FF8-AF9E-5181D453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加分设计：版本感知记录与工程交付</a:t>
            </a:r>
          </a:p>
        </p:txBody>
      </p:sp>
      <p:sp>
        <p:nvSpPr>
          <p:cNvPr id="2" name="text-177">
            <a:extLst xmlns:a="http://schemas.openxmlformats.org/drawingml/2006/main">
              <a:ext uri="{FF2B5EF4-FFF2-40B4-BE49-F238E27FC236}">
                <a16:creationId xmlns:a16="http://schemas.microsoft.com/office/drawing/2014/main" id="{61EB4BA1-E7F5-4493-BFC6-E06152EB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保存语料、索引、模型及配置指纹，使结果能够对应到实际运行条件</a:t>
            </a:r>
          </a:p>
        </p:txBody>
      </p:sp>
      <p:sp>
        <p:nvSpPr>
          <p:cNvPr id="3" name="text-178">
            <a:extLst xmlns:a="http://schemas.openxmlformats.org/drawingml/2006/main">
              <a:ext uri="{FF2B5EF4-FFF2-40B4-BE49-F238E27FC236}">
                <a16:creationId xmlns:a16="http://schemas.microsoft.com/office/drawing/2014/main" id="{3CF56835-BA65-4C7E-A8F1-BFDDF7A0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最新云端回归：185项通过、4项跳过，2026-10-17。跳过项不计为通过。</a:t>
            </a:r>
          </a:p>
        </p:txBody>
      </p:sp>
      <p:sp>
        <p:nvSpPr>
          <p:cNvPr id="4" name="text-179">
            <a:extLst xmlns:a="http://schemas.openxmlformats.org/drawingml/2006/main">
              <a:ext uri="{FF2B5EF4-FFF2-40B4-BE49-F238E27FC236}">
                <a16:creationId xmlns:a16="http://schemas.microsoft.com/office/drawing/2014/main" id="{98BB651D-2B81-4B7F-9719-C07A4E50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FC0FE6-946E-4BF4-8CA2-D966FAE72270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10820400" cy="2581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8629650"/>
              </a:tblGrid>
              <a:tr h="51625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交付层面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现有证据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多格式处理、混合检索、八工具、来源回查与运行记录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评测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开发与测试划分、同题配对比较、参数研究、Bad Case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47页课程报告、26幅图、29张表及原始实验记录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625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模型与语料清单、配置指纹、本地启动与验收记录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EEE75FE0-B5FD-4851-87AD-C33F87AA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2286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仍需完成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5EBBA2AB-6FC5-4621-903E-165AA7EA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独立人工复核、最新版统一端到端复测、跨专题评价。Docker配置保留，未作实际验收。</a:t>
            </a:r>
          </a:p>
        </p:txBody>
      </p:sp>
    </p:spTree>
    <p:extLst>
      <p:ext uri="{BB962C8B-B14F-4D97-AF65-F5344CB8AC3E}">
        <p14:creationId xmlns:p14="http://schemas.microsoft.com/office/powerpoint/2010/main" val="34917833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93A5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82">
            <a:extLst xmlns:a="http://schemas.openxmlformats.org/drawingml/2006/main">
              <a:ext uri="{FF2B5EF4-FFF2-40B4-BE49-F238E27FC236}">
                <a16:creationId xmlns:a16="http://schemas.microsoft.com/office/drawing/2014/main" id="{7ED42A5A-C2BD-43A8-8F96-E585D030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2" name="text-183">
            <a:extLst xmlns:a="http://schemas.openxmlformats.org/drawingml/2006/main">
              <a:ext uri="{FF2B5EF4-FFF2-40B4-BE49-F238E27FC236}">
                <a16:creationId xmlns:a16="http://schemas.microsoft.com/office/drawing/2014/main" id="{0B988706-D92F-45CB-B6AF-0B8A8780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A8D8D2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3" name="text-184">
            <a:extLst xmlns:a="http://schemas.openxmlformats.org/drawingml/2006/main">
              <a:ext uri="{FF2B5EF4-FFF2-40B4-BE49-F238E27FC236}">
                <a16:creationId xmlns:a16="http://schemas.microsoft.com/office/drawing/2014/main" id="{7DE938CC-1601-4FB5-A462-4E793EF4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8204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构建可回查证据的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论文知识库问答系统</a:t>
            </a:r>
          </a:p>
        </p:txBody>
      </p:sp>
      <p:sp>
        <p:nvSpPr>
          <p:cNvPr id="4" name="text-185">
            <a:extLst xmlns:a="http://schemas.openxmlformats.org/drawingml/2006/main">
              <a:ext uri="{FF2B5EF4-FFF2-40B4-BE49-F238E27FC236}">
                <a16:creationId xmlns:a16="http://schemas.microsoft.com/office/drawing/2014/main" id="{D985E8F1-1164-4CCC-98FC-C168D5BA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1071562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完成文档处理、RAG问答、工具协作与本地运行闭环。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C6D8E4"/>
                </a:solidFill>
                <a:latin typeface="Microsoft YaHei"/>
                <a:ea typeface="Microsoft YaHei"/>
                <a:cs typeface="Microsoft YaHei"/>
              </a:rPr>
              <a:t>实验显示重排的覆盖收益，也暴露时延与回答质量的短板。</a:t>
            </a:r>
          </a:p>
        </p:txBody>
      </p:sp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42074A09-AA2C-4324-9C68-8930B57C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请各位老师批评指正</a:t>
            </a:r>
          </a:p>
        </p:txBody>
      </p:sp>
    </p:spTree>
    <p:extLst>
      <p:ext uri="{BB962C8B-B14F-4D97-AF65-F5344CB8AC3E}">
        <p14:creationId xmlns:p14="http://schemas.microsoft.com/office/powerpoint/2010/main" val="26783454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56">
            <a:extLst xmlns:a="http://schemas.openxmlformats.org/drawingml/2006/main">
              <a:ext uri="{FF2B5EF4-FFF2-40B4-BE49-F238E27FC236}">
                <a16:creationId xmlns:a16="http://schemas.microsoft.com/office/drawing/2014/main" id="{CFD1DAAB-4468-4818-B8C7-9C960E9A3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备答：切分策略与索引规模</a:t>
            </a:r>
          </a:p>
        </p:txBody>
      </p:sp>
      <p:sp>
        <p:nvSpPr>
          <p:cNvPr id="2" name="refined-57">
            <a:extLst xmlns:a="http://schemas.openxmlformats.org/drawingml/2006/main">
              <a:ext uri="{FF2B5EF4-FFF2-40B4-BE49-F238E27FC236}">
                <a16:creationId xmlns:a16="http://schemas.microsoft.com/office/drawing/2014/main" id="{F5EC0E89-D777-4721-8A34-8091BF0F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m3e-base，同一语料、20道开发题，多指标对照</a:t>
            </a:r>
          </a:p>
        </p:txBody>
      </p:sp>
      <p:sp>
        <p:nvSpPr>
          <p:cNvPr id="3" name="refined-58">
            <a:extLst xmlns:a="http://schemas.openxmlformats.org/drawingml/2006/main">
              <a:ext uri="{FF2B5EF4-FFF2-40B4-BE49-F238E27FC236}">
                <a16:creationId xmlns:a16="http://schemas.microsoft.com/office/drawing/2014/main" id="{9CC8D874-0C3E-4E69-8638-89766BA92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来源：报告fig04。切分大小为项目文本计数单位，不直接等同供应商token。</a:t>
            </a:r>
          </a:p>
        </p:txBody>
      </p:sp>
      <p:sp>
        <p:nvSpPr>
          <p:cNvPr id="4" name="refined-59">
            <a:extLst xmlns:a="http://schemas.openxmlformats.org/drawingml/2006/main">
              <a:ext uri="{FF2B5EF4-FFF2-40B4-BE49-F238E27FC236}">
                <a16:creationId xmlns:a16="http://schemas.microsoft.com/office/drawing/2014/main" id="{BFB02014-6FBE-44E7-AEE3-276E9A52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6A625-A450-4D00-8E16-F6194AC743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2ed7acaae4cbb"/>
          <a:srcRect xmlns:a="http://schemas.openxmlformats.org/drawingml/2006/main" l="1200" t="15000" r="800" b="10000"/>
          <a:stretch xmlns:a="http://schemas.openxmlformats.org/drawingml/2006/main"/>
        </p:blipFill>
        <p:spPr>
          <a:xfrm xmlns:a="http://schemas.openxmlformats.org/drawingml/2006/main">
            <a:off x="1074052" y="1771650"/>
            <a:ext cx="10034370" cy="4076700"/>
          </a:xfrm>
          <a:prstGeom xmlns:a="http://schemas.openxmlformats.org/drawingml/2006/main" prst="rect">
            <a:avLst/>
          </a:prstGeom>
        </p:spPr>
      </p:pic>
      <p:sp>
        <p:nvSpPr>
          <p:cNvPr id="6" name="refined-60">
            <a:extLst xmlns:a="http://schemas.openxmlformats.org/drawingml/2006/main">
              <a:ext uri="{FF2B5EF4-FFF2-40B4-BE49-F238E27FC236}">
                <a16:creationId xmlns:a16="http://schemas.microsoft.com/office/drawing/2014/main" id="{B9CCD697-6A7C-4B7B-877A-E3F9316C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53125"/>
            <a:ext cx="1102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固定1024的Hit@5为0.50；默认配置还需权衡片段数量与检索成本。</a:t>
            </a:r>
          </a:p>
        </p:txBody>
      </p:sp>
    </p:spTree>
    <p:extLst>
      <p:ext uri="{BB962C8B-B14F-4D97-AF65-F5344CB8AC3E}">
        <p14:creationId xmlns:p14="http://schemas.microsoft.com/office/powerpoint/2010/main" val="134886440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fined-61">
            <a:extLst xmlns:a="http://schemas.openxmlformats.org/drawingml/2006/main">
              <a:ext uri="{FF2B5EF4-FFF2-40B4-BE49-F238E27FC236}">
                <a16:creationId xmlns:a16="http://schemas.microsoft.com/office/drawing/2014/main" id="{21CDB4A0-559D-4967-960C-9CBBF324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备答：参数变化的质量与生成成本</a:t>
            </a:r>
          </a:p>
        </p:txBody>
      </p:sp>
      <p:sp>
        <p:nvSpPr>
          <p:cNvPr id="2" name="refined-62">
            <a:extLst xmlns:a="http://schemas.openxmlformats.org/drawingml/2006/main">
              <a:ext uri="{FF2B5EF4-FFF2-40B4-BE49-F238E27FC236}">
                <a16:creationId xmlns:a16="http://schemas.microsoft.com/office/drawing/2014/main" id="{1F55AC7E-8F71-431C-BD6C-384B6F78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每条件4道开发题、每题单次，未固定采样种子</a:t>
            </a:r>
          </a:p>
        </p:txBody>
      </p:sp>
      <p:sp>
        <p:nvSpPr>
          <p:cNvPr id="3" name="refined-63">
            <a:extLst xmlns:a="http://schemas.openxmlformats.org/drawingml/2006/main">
              <a:ext uri="{FF2B5EF4-FFF2-40B4-BE49-F238E27FC236}">
                <a16:creationId xmlns:a16="http://schemas.microsoft.com/office/drawing/2014/main" id="{75BD61C0-8F43-4142-83B4-C1E18974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来源：报告fig12。AI辅助评分；耗时受输出长度、热身和条件执行顺序混杂。</a:t>
            </a:r>
          </a:p>
        </p:txBody>
      </p:sp>
      <p:sp>
        <p:nvSpPr>
          <p:cNvPr id="4" name="refined-64">
            <a:extLst xmlns:a="http://schemas.openxmlformats.org/drawingml/2006/main">
              <a:ext uri="{FF2B5EF4-FFF2-40B4-BE49-F238E27FC236}">
                <a16:creationId xmlns:a16="http://schemas.microsoft.com/office/drawing/2014/main" id="{BEE521D7-DA19-4C34-80A7-FD2EE4121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05AF2-82DA-4368-935C-5D23140E97D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c650ca6ed4cfd"/>
          <a:srcRect xmlns:a="http://schemas.openxmlformats.org/drawingml/2006/main" l="1200" t="21500" r="800" b="17000"/>
          <a:stretch xmlns:a="http://schemas.openxmlformats.org/drawingml/2006/main"/>
        </p:blipFill>
        <p:spPr>
          <a:xfrm xmlns:a="http://schemas.openxmlformats.org/drawingml/2006/main">
            <a:off x="485775" y="1871700"/>
            <a:ext cx="11210925" cy="3647999"/>
          </a:xfrm>
          <a:prstGeom xmlns:a="http://schemas.openxmlformats.org/drawingml/2006/main" prst="rect">
            <a:avLst/>
          </a:prstGeom>
        </p:spPr>
      </p:pic>
      <p:sp>
        <p:nvSpPr>
          <p:cNvPr id="6" name="refined-65">
            <a:extLst xmlns:a="http://schemas.openxmlformats.org/drawingml/2006/main">
              <a:ext uri="{FF2B5EF4-FFF2-40B4-BE49-F238E27FC236}">
                <a16:creationId xmlns:a16="http://schemas.microsoft.com/office/drawing/2014/main" id="{806CBA37-D1C8-4192-819E-FBD55787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715000"/>
            <a:ext cx="11001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五条件平均生成时间 / s：3.255，2.503，1.415，1.705，1.885</a:t>
            </a:r>
          </a:p>
        </p:txBody>
      </p:sp>
      <p:sp>
        <p:nvSpPr>
          <p:cNvPr id="7" name="refined-66">
            <a:extLst xmlns:a="http://schemas.openxmlformats.org/drawingml/2006/main">
              <a:ext uri="{FF2B5EF4-FFF2-40B4-BE49-F238E27FC236}">
                <a16:creationId xmlns:a16="http://schemas.microsoft.com/office/drawing/2014/main" id="{82021534-8FF1-48AB-8993-FD3A54A2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019800"/>
            <a:ext cx="11001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对应平均输出Token / 条：84.25，115.00，59.50，73.25，84.25</a:t>
            </a:r>
          </a:p>
        </p:txBody>
      </p:sp>
    </p:spTree>
    <p:extLst>
      <p:ext uri="{BB962C8B-B14F-4D97-AF65-F5344CB8AC3E}">
        <p14:creationId xmlns:p14="http://schemas.microsoft.com/office/powerpoint/2010/main" val="19081570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67">
            <a:extLst xmlns:a="http://schemas.openxmlformats.org/drawingml/2006/main">
              <a:ext uri="{FF2B5EF4-FFF2-40B4-BE49-F238E27FC236}">
                <a16:creationId xmlns:a16="http://schemas.microsoft.com/office/drawing/2014/main" id="{0029184B-8FCA-48D5-BC9A-44E51E3A6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备答：不同题型的检索覆盖</a:t>
            </a:r>
          </a:p>
        </p:txBody>
      </p:sp>
      <p:sp>
        <p:nvSpPr>
          <p:cNvPr id="2" name="refined-68">
            <a:extLst xmlns:a="http://schemas.openxmlformats.org/drawingml/2006/main">
              <a:ext uri="{FF2B5EF4-FFF2-40B4-BE49-F238E27FC236}">
                <a16:creationId xmlns:a16="http://schemas.microsoft.com/office/drawing/2014/main" id="{1B6A0D78-292D-47D6-9D48-276D174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同60道测试题，按事实、比较、综合和推理分层</a:t>
            </a:r>
          </a:p>
        </p:txBody>
      </p:sp>
      <p:sp>
        <p:nvSpPr>
          <p:cNvPr id="3" name="refined-69">
            <a:extLst xmlns:a="http://schemas.openxmlformats.org/drawingml/2006/main">
              <a:ext uri="{FF2B5EF4-FFF2-40B4-BE49-F238E27FC236}">
                <a16:creationId xmlns:a16="http://schemas.microsoft.com/office/drawing/2014/main" id="{FC5844B7-C9E3-4947-8AEC-10D861B4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来源：报告fig09。题型样本量不同，不能由均值差异直接判断任务固有难度或显著性。</a:t>
            </a:r>
          </a:p>
        </p:txBody>
      </p:sp>
      <p:sp>
        <p:nvSpPr>
          <p:cNvPr id="4" name="refined-70">
            <a:extLst xmlns:a="http://schemas.openxmlformats.org/drawingml/2006/main">
              <a:ext uri="{FF2B5EF4-FFF2-40B4-BE49-F238E27FC236}">
                <a16:creationId xmlns:a16="http://schemas.microsoft.com/office/drawing/2014/main" id="{BB129064-7B66-4B21-B11F-F22E50F9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E5513B-CEB1-433F-80D5-5C3AA1897F9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7f3d123e1a49ef"/>
          <a:srcRect xmlns:a="http://schemas.openxmlformats.org/drawingml/2006/main" l="1200" t="16000" r="1000" b="6500"/>
          <a:stretch xmlns:a="http://schemas.openxmlformats.org/drawingml/2006/main"/>
        </p:blipFill>
        <p:spPr>
          <a:xfrm xmlns:a="http://schemas.openxmlformats.org/drawingml/2006/main">
            <a:off x="731594" y="1752600"/>
            <a:ext cx="10709763" cy="4086225"/>
          </a:xfrm>
          <a:prstGeom xmlns:a="http://schemas.openxmlformats.org/drawingml/2006/main" prst="rect">
            <a:avLst/>
          </a:prstGeom>
        </p:spPr>
      </p:pic>
      <p:sp>
        <p:nvSpPr>
          <p:cNvPr id="6" name="refined-71">
            <a:extLst xmlns:a="http://schemas.openxmlformats.org/drawingml/2006/main">
              <a:ext uri="{FF2B5EF4-FFF2-40B4-BE49-F238E27FC236}">
                <a16:creationId xmlns:a16="http://schemas.microsoft.com/office/drawing/2014/main" id="{ADEDAD5D-163A-4C63-872F-06C51D46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62650"/>
            <a:ext cx="110204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85B61"/>
                </a:solidFill>
                <a:latin typeface="Microsoft YaHei"/>
                <a:ea typeface="Microsoft YaHei"/>
                <a:cs typeface="Microsoft YaHei"/>
              </a:rPr>
              <a:t>推理题重排后Hit@5仍为45.5%，提示证据覆盖还有明显短板。</a:t>
            </a:r>
          </a:p>
        </p:txBody>
      </p:sp>
    </p:spTree>
    <p:extLst>
      <p:ext uri="{BB962C8B-B14F-4D97-AF65-F5344CB8AC3E}">
        <p14:creationId xmlns:p14="http://schemas.microsoft.com/office/powerpoint/2010/main" val="20458121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fined-72">
            <a:extLst xmlns:a="http://schemas.openxmlformats.org/drawingml/2006/main">
              <a:ext uri="{FF2B5EF4-FFF2-40B4-BE49-F238E27FC236}">
                <a16:creationId xmlns:a16="http://schemas.microsoft.com/office/drawing/2014/main" id="{52A05F64-35CC-4A17-A0A9-82387F34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104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备答：综合与推理题的逐题证据排名</a:t>
            </a:r>
          </a:p>
        </p:txBody>
      </p:sp>
      <p:sp>
        <p:nvSpPr>
          <p:cNvPr id="2" name="refined-73">
            <a:extLst xmlns:a="http://schemas.openxmlformats.org/drawingml/2006/main">
              <a:ext uri="{FF2B5EF4-FFF2-40B4-BE49-F238E27FC236}">
                <a16:creationId xmlns:a16="http://schemas.microsoft.com/office/drawing/2014/main" id="{790C2F2F-82B5-45BB-9CB2-A70D09C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14425"/>
            <a:ext cx="11029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两类任务各11道测试题；保留Dense、Hybrid与Rerank的实际名次</a:t>
            </a:r>
          </a:p>
        </p:txBody>
      </p:sp>
      <p:sp>
        <p:nvSpPr>
          <p:cNvPr id="3" name="refined-74">
            <a:extLst xmlns:a="http://schemas.openxmlformats.org/drawingml/2006/main">
              <a:ext uri="{FF2B5EF4-FFF2-40B4-BE49-F238E27FC236}">
                <a16:creationId xmlns:a16="http://schemas.microsoft.com/office/drawing/2014/main" id="{7B9DEE9A-CA30-4399-B8C6-BBD5DAD5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Source figure (non-editable) · 来源：报告fig19-C/D。短横线表示Top20内未找到相关项，不代表名次0。完整60题图谱见报告。</a:t>
            </a:r>
          </a:p>
        </p:txBody>
      </p:sp>
      <p:sp>
        <p:nvSpPr>
          <p:cNvPr id="4" name="refined-75">
            <a:extLst xmlns:a="http://schemas.openxmlformats.org/drawingml/2006/main">
              <a:ext uri="{FF2B5EF4-FFF2-40B4-BE49-F238E27FC236}">
                <a16:creationId xmlns:a16="http://schemas.microsoft.com/office/drawing/2014/main" id="{A383B185-E0E1-416C-AE8F-5321117F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3412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F279C9-8423-4AB3-8A68-D010DC7D8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1d421208a4bc8"/>
          <a:srcRect xmlns:a="http://schemas.openxmlformats.org/drawingml/2006/main" l="1200" t="51000" r="800" b="6000"/>
          <a:stretch xmlns:a="http://schemas.openxmlformats.org/drawingml/2006/main"/>
        </p:blipFill>
        <p:spPr>
          <a:xfrm xmlns:a="http://schemas.openxmlformats.org/drawingml/2006/main">
            <a:off x="447675" y="2202795"/>
            <a:ext cx="11287125" cy="3423960"/>
          </a:xfrm>
          <a:prstGeom xmlns:a="http://schemas.openxmlformats.org/drawingml/2006/main" prst="rect">
            <a:avLst/>
          </a:prstGeom>
        </p:spPr>
      </p:pic>
      <p:sp>
        <p:nvSpPr>
          <p:cNvPr id="6" name="refined-76">
            <a:extLst xmlns:a="http://schemas.openxmlformats.org/drawingml/2006/main">
              <a:ext uri="{FF2B5EF4-FFF2-40B4-BE49-F238E27FC236}">
                <a16:creationId xmlns:a16="http://schemas.microsoft.com/office/drawing/2014/main" id="{38B36772-A8FB-424F-B032-82D93FC3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981700"/>
            <a:ext cx="1102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68980"/>
                </a:solidFill>
                <a:latin typeface="Microsoft YaHei"/>
                <a:ea typeface="Microsoft YaHei"/>
                <a:cs typeface="Microsoft YaHei"/>
              </a:rPr>
              <a:t>逐题变化可以区分证据救回、排名改善和持续漏召回。</a:t>
            </a:r>
          </a:p>
        </p:txBody>
      </p:sp>
    </p:spTree>
    <p:extLst>
      <p:ext uri="{BB962C8B-B14F-4D97-AF65-F5344CB8AC3E}">
        <p14:creationId xmlns:p14="http://schemas.microsoft.com/office/powerpoint/2010/main" val="7923823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97">
            <a:extLst xmlns:a="http://schemas.openxmlformats.org/drawingml/2006/main">
              <a:ext uri="{FF2B5EF4-FFF2-40B4-BE49-F238E27FC236}">
                <a16:creationId xmlns:a16="http://schemas.microsoft.com/office/drawing/2014/main" id="{87B56419-05EF-476F-95CA-399B3340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备答：复现环境与团队</a:t>
            </a:r>
          </a:p>
        </p:txBody>
      </p:sp>
      <p:sp>
        <p:nvSpPr>
          <p:cNvPr id="2" name="text-198">
            <a:extLst xmlns:a="http://schemas.openxmlformats.org/drawingml/2006/main">
              <a:ext uri="{FF2B5EF4-FFF2-40B4-BE49-F238E27FC236}">
                <a16:creationId xmlns:a16="http://schemas.microsoft.com/office/drawing/2014/main" id="{83BBC6DF-AC8B-4F5F-87FE-4B3E48B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本地推理无需云端API Key，云端兼容接口可按配置切换</a:t>
            </a:r>
          </a:p>
        </p:txBody>
      </p:sp>
      <p:sp>
        <p:nvSpPr>
          <p:cNvPr id="3" name="text-199">
            <a:extLst xmlns:a="http://schemas.openxmlformats.org/drawingml/2006/main">
              <a:ext uri="{FF2B5EF4-FFF2-40B4-BE49-F238E27FC236}">
                <a16:creationId xmlns:a16="http://schemas.microsoft.com/office/drawing/2014/main" id="{943F0B2A-3CE7-4A7E-AB87-69021ED7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0555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贡献比例按成员提供的信息填写。具体职责安排由成员确认。</a:t>
            </a:r>
          </a:p>
        </p:txBody>
      </p:sp>
      <p:sp>
        <p:nvSpPr>
          <p:cNvPr id="4" name="text-200">
            <a:extLst xmlns:a="http://schemas.openxmlformats.org/drawingml/2006/main">
              <a:ext uri="{FF2B5EF4-FFF2-40B4-BE49-F238E27FC236}">
                <a16:creationId xmlns:a16="http://schemas.microsoft.com/office/drawing/2014/main" id="{69534B16-5A57-43F1-812C-86E94A8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417C77-C719-4CCB-81CE-D57712EF9C9D}"/>
              </a:ext>
            </a:extLst>
          </p:cNvPr>
          <p:cNvGraphicFramePr/>
          <p:nvPr/>
        </p:nvGraphicFramePr>
        <p:xfrm>
          <a:off xmlns:a="http://schemas.openxmlformats.org/drawingml/2006/main" x="685800" y="1819275"/>
          <a:ext xmlns:a="http://schemas.openxmlformats.org/drawingml/2006/main" cx="108204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8534400"/>
              </a:tblGrid>
              <a:tr h="4833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组件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实际本地配置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Ollama，research-qwen:7b，Q4_K_M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BGE-M3 + bge-reranker-base，CPU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存储与界面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Chroma，FastAPI，Streamlit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869EE9-CF06-4D69-B1A8-5959A0C6806D}"/>
              </a:ext>
            </a:extLst>
          </p:cNvPr>
          <p:cNvGraphicFramePr/>
          <p:nvPr/>
        </p:nvGraphicFramePr>
        <p:xfrm>
          <a:off xmlns:a="http://schemas.openxmlformats.org/drawingml/2006/main" x="685800" y="4124325"/>
          <a:ext xmlns:a="http://schemas.openxmlformats.org/drawingml/2006/main" cx="10820400" cy="1933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71700"/>
                <a:gridCol w="3143250"/>
                <a:gridCol w="3333750"/>
                <a:gridCol w="2171700"/>
              </a:tblGrid>
              <a:tr h="4833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成员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班级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学号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T w="6191">
                      <a:solidFill>
                        <a:srgbClr val="DEE7ED"/>
                      </a:solidFill>
                      <a:prstDash val="solid"/>
                    </a:lnT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193A56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赵志国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11523122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林骋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11523121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483394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林弟伟</a:t>
                      </a:r>
                    </a:p>
                  </a:txBody>
                  <a:tcPr marL="133350" marR="114300" marT="95250" marB="76200" anchor="ctr">
                    <a:lnL w="6191">
                      <a:solidFill>
                        <a:srgbClr val="DEE7ED"/>
                      </a:solidFill>
                      <a:prstDash val="solid"/>
                    </a:lnL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人工智能232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11523120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73F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133350" marR="114300" marT="95250" marB="76200" anchor="ctr">
                    <a:lnR w="6191">
                      <a:solidFill>
                        <a:srgbClr val="DEE7ED"/>
                      </a:solidFill>
                      <a:prstDash val="solid"/>
                    </a:lnR>
                    <a:lnB w="6191">
                      <a:solidFill>
                        <a:srgbClr val="DEE7E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59009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201">
            <a:extLst xmlns:a="http://schemas.openxmlformats.org/drawingml/2006/main">
              <a:ext uri="{FF2B5EF4-FFF2-40B4-BE49-F238E27FC236}">
                <a16:creationId xmlns:a16="http://schemas.microsoft.com/office/drawing/2014/main" id="{815BD32D-8AEE-4F7E-AEBE-831B9A8C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备答：常见问题</a:t>
            </a:r>
          </a:p>
        </p:txBody>
      </p:sp>
      <p:sp>
        <p:nvSpPr>
          <p:cNvPr id="2" name="text-202">
            <a:extLst xmlns:a="http://schemas.openxmlformats.org/drawingml/2006/main">
              <a:ext uri="{FF2B5EF4-FFF2-40B4-BE49-F238E27FC236}">
                <a16:creationId xmlns:a16="http://schemas.microsoft.com/office/drawing/2014/main" id="{E4FC2DB8-BD94-42BE-AE63-711FA15D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回答范围以现有代码、真实实验与实际验收证据为准</a:t>
            </a:r>
          </a:p>
        </p:txBody>
      </p:sp>
      <p:sp>
        <p:nvSpPr>
          <p:cNvPr id="3" name="text-203">
            <a:extLst xmlns:a="http://schemas.openxmlformats.org/drawingml/2006/main">
              <a:ext uri="{FF2B5EF4-FFF2-40B4-BE49-F238E27FC236}">
                <a16:creationId xmlns:a16="http://schemas.microsoft.com/office/drawing/2014/main" id="{3D0FE807-7DA6-4E9F-91F6-5D05B42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246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18000"/>
              </a:lnSpc>
              <a:buNone/>
              <a:def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808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4" name="text-204">
            <a:extLst xmlns:a="http://schemas.openxmlformats.org/drawingml/2006/main">
              <a:ext uri="{FF2B5EF4-FFF2-40B4-BE49-F238E27FC236}">
                <a16:creationId xmlns:a16="http://schemas.microsoft.com/office/drawing/2014/main" id="{4E8B724F-8937-484A-8BDC-BFB81909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为何需要Agent？</a:t>
            </a:r>
          </a:p>
        </p:txBody>
      </p:sp>
      <p:sp>
        <p:nvSpPr>
          <p:cNvPr id="5" name="text-205">
            <a:extLst xmlns:a="http://schemas.openxmlformats.org/drawingml/2006/main">
              <a:ext uri="{FF2B5EF4-FFF2-40B4-BE49-F238E27FC236}">
                <a16:creationId xmlns:a16="http://schemas.microsoft.com/office/drawing/2014/main" id="{E1CD1A4B-9BAF-4C73-A0EC-37C4175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RAG处理证据问答，计算、信息读取和论文比较需要不同工具。</a:t>
            </a:r>
          </a:p>
        </p:txBody>
      </p:sp>
      <p:sp>
        <p:nvSpPr>
          <p:cNvPr id="6" name="text-206">
            <a:extLst xmlns:a="http://schemas.openxmlformats.org/drawingml/2006/main">
              <a:ext uri="{FF2B5EF4-FFF2-40B4-BE49-F238E27FC236}">
                <a16:creationId xmlns:a16="http://schemas.microsoft.com/office/drawing/2014/main" id="{5C64BF5F-9817-45FC-9345-E36F1F26D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引用是否保证正确？</a:t>
            </a:r>
          </a:p>
        </p:txBody>
      </p:sp>
      <p:sp>
        <p:nvSpPr>
          <p:cNvPr id="7" name="text-207">
            <a:extLst xmlns:a="http://schemas.openxmlformats.org/drawingml/2006/main">
              <a:ext uri="{FF2B5EF4-FFF2-40B4-BE49-F238E27FC236}">
                <a16:creationId xmlns:a16="http://schemas.microsoft.com/office/drawing/2014/main" id="{5CD81CC9-1DC8-408F-8008-8C8AF39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文档与物理页可回查，但来源存在不保证论断被充分支持。</a:t>
            </a:r>
          </a:p>
        </p:txBody>
      </p:sp>
      <p:sp>
        <p:nvSpPr>
          <p:cNvPr id="8" name="text-208">
            <a:extLst xmlns:a="http://schemas.openxmlformats.org/drawingml/2006/main">
              <a:ext uri="{FF2B5EF4-FFF2-40B4-BE49-F238E27FC236}">
                <a16:creationId xmlns:a16="http://schemas.microsoft.com/office/drawing/2014/main" id="{0D6E740F-8502-4F2E-B62B-98268086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为何保留较慢的重排？</a:t>
            </a:r>
          </a:p>
        </p:txBody>
      </p:sp>
      <p:sp>
        <p:nvSpPr>
          <p:cNvPr id="9" name="text-209">
            <a:extLst xmlns:a="http://schemas.openxmlformats.org/drawingml/2006/main">
              <a:ext uri="{FF2B5EF4-FFF2-40B4-BE49-F238E27FC236}">
                <a16:creationId xmlns:a16="http://schemas.microsoft.com/office/drawing/2014/main" id="{C5FC19DF-F588-4E2B-B92E-AFE04FA2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本题集覆盖改善明显，系统保留模式选择，按任务权衡时延。</a:t>
            </a:r>
          </a:p>
        </p:txBody>
      </p:sp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96E1E5CC-341F-48F8-AB92-BE2F7778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93A56"/>
                </a:solidFill>
                <a:latin typeface="Microsoft YaHei"/>
                <a:ea typeface="Microsoft YaHei"/>
                <a:cs typeface="Microsoft YaHei"/>
              </a:rPr>
              <a:t>AI评分能证明质量吗？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6C292170-A03F-40D9-A2CC-918C708E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18000"/>
              </a:lnSpc>
              <a:buNone/>
              <a:def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3F50"/>
                </a:solidFill>
                <a:latin typeface="Microsoft YaHei"/>
                <a:ea typeface="Microsoft YaHei"/>
                <a:cs typeface="Microsoft YaHei"/>
              </a:rPr>
              <a:t>只能提供探索性评价，仍需独立人工复核和一致性分析。</a:t>
            </a:r>
          </a:p>
        </p:txBody>
      </p:sp>
    </p:spTree>
    <p:extLst>
      <p:ext uri="{BB962C8B-B14F-4D97-AF65-F5344CB8AC3E}">
        <p14:creationId xmlns:p14="http://schemas.microsoft.com/office/powerpoint/2010/main" val="18624507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2026-10-18T04:21:37.0240000Z</dcterms:created>
  <dcterms:modified xsi:type="dcterms:W3CDTF">2026-10-18T04:21:37.0240000Z</dcterms:modified>
</coreProperties>
</file>